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8288000" cy="10287000"/>
  <p:notesSz cx="6858000" cy="9144000"/>
  <p:embeddedFontLst>
    <p:embeddedFont>
      <p:font typeface="Arial Bold" panose="020B0704020202020204" pitchFamily="34" charset="0"/>
      <p:regular r:id="rId37"/>
      <p:bold r:id="rId38"/>
    </p:embeddedFont>
    <p:embeddedFont>
      <p:font typeface="Bukhari Script" panose="020B0604020202020204" charset="0"/>
      <p:regular r:id="rId39"/>
    </p:embeddedFont>
    <p:embeddedFont>
      <p:font typeface="Times New Roman Bold" panose="02020803070505020304" pitchFamily="18" charset="0"/>
      <p:regular r:id="rId40"/>
      <p:bold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24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20" Type="http://schemas.openxmlformats.org/officeDocument/2006/relationships/slide" Target="slides/slide19.xml"/><Relationship Id="rId41" Type="http://schemas.openxmlformats.org/officeDocument/2006/relationships/font" Target="fonts/font5.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2.png"/><Relationship Id="rId7" Type="http://schemas.openxmlformats.org/officeDocument/2006/relationships/image" Target="../media/image8.svg"/><Relationship Id="rId12" Type="http://schemas.openxmlformats.org/officeDocument/2006/relationships/image" Target="../media/image13.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6.jpeg"/><Relationship Id="rId11" Type="http://schemas.openxmlformats.org/officeDocument/2006/relationships/image" Target="../media/image12.svg"/><Relationship Id="rId5" Type="http://schemas.openxmlformats.org/officeDocument/2006/relationships/image" Target="../media/image5.jpeg"/><Relationship Id="rId10" Type="http://schemas.openxmlformats.org/officeDocument/2006/relationships/image" Target="../media/image11.svg"/><Relationship Id="rId4" Type="http://schemas.openxmlformats.org/officeDocument/2006/relationships/image" Target="../media/image3.png"/><Relationship Id="rId9" Type="http://schemas.openxmlformats.org/officeDocument/2006/relationships/image" Target="../media/image10.sv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15.jpe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15.jpe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15.jpe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6.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6.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9.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0.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2.png"/><Relationship Id="rId7" Type="http://schemas.openxmlformats.org/officeDocument/2006/relationships/image" Target="../media/image21.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png"/><Relationship Id="rId7" Type="http://schemas.openxmlformats.org/officeDocument/2006/relationships/image" Target="../media/image22.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15.jpe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4.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15.jpe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png"/><Relationship Id="rId7" Type="http://schemas.openxmlformats.org/officeDocument/2006/relationships/image" Target="../media/image25.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png"/><Relationship Id="rId7" Type="http://schemas.openxmlformats.org/officeDocument/2006/relationships/image" Target="../media/image27.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15.jpe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9.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0.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png"/><Relationship Id="rId7" Type="http://schemas.openxmlformats.org/officeDocument/2006/relationships/image" Target="../media/image31.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3.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15.jpe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15.jpe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15.jpe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124"/>
            <a:ext cx="18291715" cy="10295477"/>
            <a:chOff x="0" y="0"/>
            <a:chExt cx="24388953" cy="13727303"/>
          </a:xfrm>
        </p:grpSpPr>
        <p:sp>
          <p:nvSpPr>
            <p:cNvPr id="3" name="Freeform 3"/>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4" name="Group 4"/>
          <p:cNvGrpSpPr/>
          <p:nvPr/>
        </p:nvGrpSpPr>
        <p:grpSpPr>
          <a:xfrm>
            <a:off x="0" y="2124"/>
            <a:ext cx="18291715" cy="10295477"/>
            <a:chOff x="0" y="0"/>
            <a:chExt cx="24388953" cy="13727303"/>
          </a:xfrm>
        </p:grpSpPr>
        <p:sp>
          <p:nvSpPr>
            <p:cNvPr id="5" name="Freeform 5"/>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6" name="Group 6"/>
          <p:cNvGrpSpPr/>
          <p:nvPr/>
        </p:nvGrpSpPr>
        <p:grpSpPr>
          <a:xfrm>
            <a:off x="-36214" y="0"/>
            <a:ext cx="950595" cy="10287000"/>
            <a:chOff x="0" y="0"/>
            <a:chExt cx="1267460" cy="13716000"/>
          </a:xfrm>
        </p:grpSpPr>
        <p:sp>
          <p:nvSpPr>
            <p:cNvPr id="7" name="Freeform 7"/>
            <p:cNvSpPr/>
            <p:nvPr/>
          </p:nvSpPr>
          <p:spPr>
            <a:xfrm>
              <a:off x="0" y="0"/>
              <a:ext cx="1267460" cy="13716000"/>
            </a:xfrm>
            <a:custGeom>
              <a:avLst/>
              <a:gdLst/>
              <a:ahLst/>
              <a:cxnLst/>
              <a:rect l="l" t="t" r="r" b="b"/>
              <a:pathLst>
                <a:path w="1267460" h="13716000">
                  <a:moveTo>
                    <a:pt x="0" y="0"/>
                  </a:moveTo>
                  <a:lnTo>
                    <a:pt x="1267460" y="0"/>
                  </a:lnTo>
                  <a:lnTo>
                    <a:pt x="1267460" y="13716000"/>
                  </a:lnTo>
                  <a:lnTo>
                    <a:pt x="0" y="13716000"/>
                  </a:lnTo>
                  <a:close/>
                </a:path>
              </a:pathLst>
            </a:custGeom>
            <a:gradFill rotWithShape="1">
              <a:gsLst>
                <a:gs pos="0">
                  <a:srgbClr val="10CC57">
                    <a:alpha val="100000"/>
                  </a:srgbClr>
                </a:gs>
                <a:gs pos="100000">
                  <a:srgbClr val="017058">
                    <a:alpha val="100000"/>
                  </a:srgbClr>
                </a:gs>
              </a:gsLst>
              <a:lin ang="5400000"/>
            </a:gradFill>
          </p:spPr>
          <p:txBody>
            <a:bodyPr/>
            <a:lstStyle/>
            <a:p>
              <a:endParaRPr lang="en-US"/>
            </a:p>
          </p:txBody>
        </p:sp>
      </p:grpSp>
      <p:grpSp>
        <p:nvGrpSpPr>
          <p:cNvPr id="8" name="Group 8"/>
          <p:cNvGrpSpPr/>
          <p:nvPr/>
        </p:nvGrpSpPr>
        <p:grpSpPr>
          <a:xfrm rot="-10800000">
            <a:off x="-46853" y="0"/>
            <a:ext cx="950595" cy="10287000"/>
            <a:chOff x="0" y="0"/>
            <a:chExt cx="1267460" cy="13716000"/>
          </a:xfrm>
        </p:grpSpPr>
        <p:sp>
          <p:nvSpPr>
            <p:cNvPr id="9" name="Freeform 9"/>
            <p:cNvSpPr/>
            <p:nvPr/>
          </p:nvSpPr>
          <p:spPr>
            <a:xfrm flipH="1">
              <a:off x="0" y="0"/>
              <a:ext cx="1267460" cy="13716000"/>
            </a:xfrm>
            <a:custGeom>
              <a:avLst/>
              <a:gdLst/>
              <a:ahLst/>
              <a:cxnLst/>
              <a:rect l="l" t="t" r="r" b="b"/>
              <a:pathLst>
                <a:path w="1267460" h="13716000">
                  <a:moveTo>
                    <a:pt x="0" y="0"/>
                  </a:moveTo>
                  <a:lnTo>
                    <a:pt x="1267460" y="0"/>
                  </a:lnTo>
                  <a:lnTo>
                    <a:pt x="1267460" y="13716000"/>
                  </a:lnTo>
                  <a:lnTo>
                    <a:pt x="0" y="13716000"/>
                  </a:lnTo>
                  <a:close/>
                </a:path>
              </a:pathLst>
            </a:custGeom>
            <a:blipFill>
              <a:blip r:embed="rId2"/>
              <a:stretch>
                <a:fillRect l="-2952" r="-2952"/>
              </a:stretch>
            </a:blipFill>
          </p:spPr>
          <p:txBody>
            <a:bodyPr/>
            <a:lstStyle/>
            <a:p>
              <a:endParaRPr lang="en-US"/>
            </a:p>
          </p:txBody>
        </p:sp>
      </p:grpSp>
      <p:sp>
        <p:nvSpPr>
          <p:cNvPr id="10" name="TextBox 10"/>
          <p:cNvSpPr txBox="1"/>
          <p:nvPr/>
        </p:nvSpPr>
        <p:spPr>
          <a:xfrm rot="-5400000">
            <a:off x="-2642312" y="6723250"/>
            <a:ext cx="6122451" cy="458333"/>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11" name="Group 11"/>
          <p:cNvGrpSpPr/>
          <p:nvPr/>
        </p:nvGrpSpPr>
        <p:grpSpPr>
          <a:xfrm>
            <a:off x="17262338" y="364607"/>
            <a:ext cx="819150" cy="819150"/>
            <a:chOff x="0" y="0"/>
            <a:chExt cx="1092200" cy="1092200"/>
          </a:xfrm>
        </p:grpSpPr>
        <p:sp>
          <p:nvSpPr>
            <p:cNvPr id="12" name="Freeform 12"/>
            <p:cNvSpPr/>
            <p:nvPr/>
          </p:nvSpPr>
          <p:spPr>
            <a:xfrm>
              <a:off x="0" y="0"/>
              <a:ext cx="1092200" cy="1092200"/>
            </a:xfrm>
            <a:custGeom>
              <a:avLst/>
              <a:gdLst/>
              <a:ahLst/>
              <a:cxnLst/>
              <a:rect l="l" t="t" r="r" b="b"/>
              <a:pathLst>
                <a:path w="1092200" h="1092200">
                  <a:moveTo>
                    <a:pt x="0" y="546100"/>
                  </a:moveTo>
                  <a:cubicBezTo>
                    <a:pt x="0" y="244475"/>
                    <a:pt x="244475" y="0"/>
                    <a:pt x="546100" y="0"/>
                  </a:cubicBezTo>
                  <a:cubicBezTo>
                    <a:pt x="847725" y="0"/>
                    <a:pt x="1092200" y="244475"/>
                    <a:pt x="1092200" y="546100"/>
                  </a:cubicBezTo>
                  <a:cubicBezTo>
                    <a:pt x="1092200" y="847725"/>
                    <a:pt x="847725" y="1092200"/>
                    <a:pt x="546100" y="1092200"/>
                  </a:cubicBezTo>
                  <a:cubicBezTo>
                    <a:pt x="244475" y="1092200"/>
                    <a:pt x="0" y="847725"/>
                    <a:pt x="0" y="546100"/>
                  </a:cubicBezTo>
                  <a:close/>
                </a:path>
              </a:pathLst>
            </a:custGeom>
            <a:gradFill rotWithShape="1">
              <a:gsLst>
                <a:gs pos="0">
                  <a:srgbClr val="38EF7D">
                    <a:alpha val="65098"/>
                  </a:srgbClr>
                </a:gs>
                <a:gs pos="100000">
                  <a:srgbClr val="11998E">
                    <a:alpha val="64705"/>
                  </a:srgbClr>
                </a:gs>
              </a:gsLst>
              <a:lin ang="2700000"/>
            </a:gradFill>
          </p:spPr>
          <p:txBody>
            <a:bodyPr/>
            <a:lstStyle/>
            <a:p>
              <a:endParaRPr lang="en-US"/>
            </a:p>
          </p:txBody>
        </p:sp>
      </p:grpSp>
      <p:grpSp>
        <p:nvGrpSpPr>
          <p:cNvPr id="13" name="Group 13"/>
          <p:cNvGrpSpPr/>
          <p:nvPr/>
        </p:nvGrpSpPr>
        <p:grpSpPr>
          <a:xfrm>
            <a:off x="17486462" y="588731"/>
            <a:ext cx="370999" cy="370999"/>
            <a:chOff x="0" y="0"/>
            <a:chExt cx="494665" cy="494665"/>
          </a:xfrm>
        </p:grpSpPr>
        <p:sp>
          <p:nvSpPr>
            <p:cNvPr id="14" name="Freeform 14"/>
            <p:cNvSpPr/>
            <p:nvPr/>
          </p:nvSpPr>
          <p:spPr>
            <a:xfrm>
              <a:off x="0" y="0"/>
              <a:ext cx="494665" cy="494665"/>
            </a:xfrm>
            <a:custGeom>
              <a:avLst/>
              <a:gdLst/>
              <a:ahLst/>
              <a:cxnLst/>
              <a:rect l="l" t="t" r="r" b="b"/>
              <a:pathLst>
                <a:path w="494665" h="494665">
                  <a:moveTo>
                    <a:pt x="0" y="247269"/>
                  </a:moveTo>
                  <a:cubicBezTo>
                    <a:pt x="0" y="110744"/>
                    <a:pt x="110744" y="0"/>
                    <a:pt x="247269" y="0"/>
                  </a:cubicBezTo>
                  <a:cubicBezTo>
                    <a:pt x="383794" y="0"/>
                    <a:pt x="494665" y="110744"/>
                    <a:pt x="494665" y="247269"/>
                  </a:cubicBezTo>
                  <a:cubicBezTo>
                    <a:pt x="494665" y="383794"/>
                    <a:pt x="383921" y="494665"/>
                    <a:pt x="247269" y="494665"/>
                  </a:cubicBezTo>
                  <a:cubicBezTo>
                    <a:pt x="110617" y="494665"/>
                    <a:pt x="0" y="383921"/>
                    <a:pt x="0" y="247269"/>
                  </a:cubicBezTo>
                  <a:close/>
                </a:path>
              </a:pathLst>
            </a:custGeom>
            <a:gradFill rotWithShape="1">
              <a:gsLst>
                <a:gs pos="0">
                  <a:srgbClr val="38EF7D">
                    <a:alpha val="65098"/>
                  </a:srgbClr>
                </a:gs>
                <a:gs pos="100000">
                  <a:srgbClr val="11998E">
                    <a:alpha val="64705"/>
                  </a:srgbClr>
                </a:gs>
              </a:gsLst>
              <a:lin ang="2700000"/>
            </a:gradFill>
          </p:spPr>
          <p:txBody>
            <a:bodyPr/>
            <a:lstStyle/>
            <a:p>
              <a:endParaRPr lang="en-US"/>
            </a:p>
          </p:txBody>
        </p:sp>
      </p:grpSp>
      <p:grpSp>
        <p:nvGrpSpPr>
          <p:cNvPr id="15" name="Group 15"/>
          <p:cNvGrpSpPr/>
          <p:nvPr/>
        </p:nvGrpSpPr>
        <p:grpSpPr>
          <a:xfrm>
            <a:off x="6719983" y="293303"/>
            <a:ext cx="4848130" cy="958024"/>
            <a:chOff x="0" y="0"/>
            <a:chExt cx="6464173" cy="1277366"/>
          </a:xfrm>
        </p:grpSpPr>
        <p:sp>
          <p:nvSpPr>
            <p:cNvPr id="16" name="Freeform 16"/>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2700000"/>
            </a:gradFill>
          </p:spPr>
          <p:txBody>
            <a:bodyPr/>
            <a:lstStyle/>
            <a:p>
              <a:endParaRPr lang="en-US"/>
            </a:p>
          </p:txBody>
        </p:sp>
      </p:grpSp>
      <p:grpSp>
        <p:nvGrpSpPr>
          <p:cNvPr id="17" name="Group 17"/>
          <p:cNvGrpSpPr/>
          <p:nvPr/>
        </p:nvGrpSpPr>
        <p:grpSpPr>
          <a:xfrm>
            <a:off x="6807460" y="371332"/>
            <a:ext cx="4673060" cy="801815"/>
            <a:chOff x="0" y="0"/>
            <a:chExt cx="6230747" cy="1069086"/>
          </a:xfrm>
        </p:grpSpPr>
        <p:sp>
          <p:nvSpPr>
            <p:cNvPr id="18" name="Freeform 18"/>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en-US"/>
            </a:p>
          </p:txBody>
        </p:sp>
      </p:grpSp>
      <p:grpSp>
        <p:nvGrpSpPr>
          <p:cNvPr id="19" name="Group 19"/>
          <p:cNvGrpSpPr/>
          <p:nvPr/>
        </p:nvGrpSpPr>
        <p:grpSpPr>
          <a:xfrm>
            <a:off x="9436446" y="197910"/>
            <a:ext cx="1163288" cy="1152620"/>
            <a:chOff x="0" y="0"/>
            <a:chExt cx="1551051" cy="1536827"/>
          </a:xfrm>
        </p:grpSpPr>
        <p:sp>
          <p:nvSpPr>
            <p:cNvPr id="20" name="Freeform 20"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211" r="-210"/>
              </a:stretch>
            </a:blipFill>
          </p:spPr>
          <p:txBody>
            <a:bodyPr/>
            <a:lstStyle/>
            <a:p>
              <a:endParaRPr lang="en-US"/>
            </a:p>
          </p:txBody>
        </p:sp>
      </p:grpSp>
      <p:grpSp>
        <p:nvGrpSpPr>
          <p:cNvPr id="21" name="Group 21"/>
          <p:cNvGrpSpPr/>
          <p:nvPr/>
        </p:nvGrpSpPr>
        <p:grpSpPr>
          <a:xfrm>
            <a:off x="7688247" y="233439"/>
            <a:ext cx="1307497" cy="1081564"/>
            <a:chOff x="0" y="0"/>
            <a:chExt cx="1743329" cy="1442085"/>
          </a:xfrm>
        </p:grpSpPr>
        <p:sp>
          <p:nvSpPr>
            <p:cNvPr id="22" name="Freeform 22"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l="-38" r="-37"/>
              </a:stretch>
            </a:blipFill>
          </p:spPr>
          <p:txBody>
            <a:bodyPr/>
            <a:lstStyle/>
            <a:p>
              <a:endParaRPr lang="en-US"/>
            </a:p>
          </p:txBody>
        </p:sp>
      </p:grpSp>
      <p:sp>
        <p:nvSpPr>
          <p:cNvPr id="23" name="Freeform 23"/>
          <p:cNvSpPr/>
          <p:nvPr/>
        </p:nvSpPr>
        <p:spPr>
          <a:xfrm>
            <a:off x="2064696" y="2962427"/>
            <a:ext cx="14157103" cy="2819400"/>
          </a:xfrm>
          <a:custGeom>
            <a:avLst/>
            <a:gdLst/>
            <a:ahLst/>
            <a:cxnLst/>
            <a:rect l="l" t="t" r="r" b="b"/>
            <a:pathLst>
              <a:path w="14157103" h="2819400">
                <a:moveTo>
                  <a:pt x="0" y="0"/>
                </a:moveTo>
                <a:lnTo>
                  <a:pt x="14157103" y="0"/>
                </a:lnTo>
                <a:lnTo>
                  <a:pt x="14157103" y="2819400"/>
                </a:lnTo>
                <a:lnTo>
                  <a:pt x="0" y="28194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24" name="Group 24"/>
          <p:cNvGrpSpPr/>
          <p:nvPr/>
        </p:nvGrpSpPr>
        <p:grpSpPr>
          <a:xfrm>
            <a:off x="2064696" y="2962427"/>
            <a:ext cx="14158598" cy="2807799"/>
            <a:chOff x="0" y="0"/>
            <a:chExt cx="18878131" cy="3743731"/>
          </a:xfrm>
        </p:grpSpPr>
        <p:sp>
          <p:nvSpPr>
            <p:cNvPr id="25" name="Freeform 25"/>
            <p:cNvSpPr/>
            <p:nvPr/>
          </p:nvSpPr>
          <p:spPr>
            <a:xfrm>
              <a:off x="0" y="0"/>
              <a:ext cx="18878169" cy="3743706"/>
            </a:xfrm>
            <a:custGeom>
              <a:avLst/>
              <a:gdLst/>
              <a:ahLst/>
              <a:cxnLst/>
              <a:rect l="l" t="t" r="r" b="b"/>
              <a:pathLst>
                <a:path w="18878169" h="3743706">
                  <a:moveTo>
                    <a:pt x="0" y="0"/>
                  </a:moveTo>
                  <a:lnTo>
                    <a:pt x="18878169" y="0"/>
                  </a:lnTo>
                  <a:lnTo>
                    <a:pt x="18878169" y="3743706"/>
                  </a:lnTo>
                  <a:lnTo>
                    <a:pt x="0" y="3743706"/>
                  </a:lnTo>
                  <a:close/>
                </a:path>
              </a:pathLst>
            </a:custGeom>
            <a:blipFill>
              <a:blip r:embed="rId6">
                <a:alphaModFix amt="0"/>
              </a:blip>
              <a:stretch>
                <a:fillRect t="-48187" b="-48188"/>
              </a:stretch>
            </a:blipFill>
          </p:spPr>
          <p:txBody>
            <a:bodyPr/>
            <a:lstStyle/>
            <a:p>
              <a:endParaRPr lang="en-US"/>
            </a:p>
          </p:txBody>
        </p:sp>
      </p:grpSp>
      <p:grpSp>
        <p:nvGrpSpPr>
          <p:cNvPr id="26" name="Group 26"/>
          <p:cNvGrpSpPr/>
          <p:nvPr/>
        </p:nvGrpSpPr>
        <p:grpSpPr>
          <a:xfrm>
            <a:off x="2064696" y="2998146"/>
            <a:ext cx="14158598" cy="2772080"/>
            <a:chOff x="0" y="0"/>
            <a:chExt cx="18878131" cy="3696106"/>
          </a:xfrm>
        </p:grpSpPr>
        <p:sp>
          <p:nvSpPr>
            <p:cNvPr id="27" name="Freeform 27"/>
            <p:cNvSpPr/>
            <p:nvPr/>
          </p:nvSpPr>
          <p:spPr>
            <a:xfrm>
              <a:off x="0" y="0"/>
              <a:ext cx="18878131" cy="3696109"/>
            </a:xfrm>
            <a:custGeom>
              <a:avLst/>
              <a:gdLst/>
              <a:ahLst/>
              <a:cxnLst/>
              <a:rect l="l" t="t" r="r" b="b"/>
              <a:pathLst>
                <a:path w="18878131" h="3696109">
                  <a:moveTo>
                    <a:pt x="0" y="0"/>
                  </a:moveTo>
                  <a:lnTo>
                    <a:pt x="18878131" y="0"/>
                  </a:lnTo>
                  <a:lnTo>
                    <a:pt x="18878131" y="3696109"/>
                  </a:lnTo>
                  <a:lnTo>
                    <a:pt x="0" y="3696109"/>
                  </a:lnTo>
                  <a:close/>
                </a:path>
              </a:pathLst>
            </a:custGeom>
            <a:blipFill>
              <a:blip r:embed="rId7">
                <a:alphaModFix amt="0"/>
              </a:blip>
              <a:stretch>
                <a:fillRect t="-49521" b="-49521"/>
              </a:stretch>
            </a:blipFill>
          </p:spPr>
          <p:txBody>
            <a:bodyPr/>
            <a:lstStyle/>
            <a:p>
              <a:endParaRPr lang="en-US"/>
            </a:p>
          </p:txBody>
        </p:sp>
        <p:sp>
          <p:nvSpPr>
            <p:cNvPr id="28" name="TextBox 28"/>
            <p:cNvSpPr txBox="1"/>
            <p:nvPr/>
          </p:nvSpPr>
          <p:spPr>
            <a:xfrm>
              <a:off x="0" y="47625"/>
              <a:ext cx="18878131" cy="3648481"/>
            </a:xfrm>
            <a:prstGeom prst="rect">
              <a:avLst/>
            </a:prstGeom>
          </p:spPr>
          <p:txBody>
            <a:bodyPr lIns="0" tIns="0" rIns="0" bIns="0" rtlCol="0" anchor="ctr"/>
            <a:lstStyle/>
            <a:p>
              <a:pPr algn="ctr">
                <a:lnSpc>
                  <a:spcPts val="6998"/>
                </a:lnSpc>
              </a:pPr>
              <a:r>
                <a:rPr lang="en-US" sz="6480" b="1">
                  <a:solidFill>
                    <a:srgbClr val="11998E"/>
                  </a:solidFill>
                  <a:latin typeface="Times New Roman Bold"/>
                  <a:ea typeface="Times New Roman Bold"/>
                  <a:cs typeface="Times New Roman Bold"/>
                  <a:sym typeface="Times New Roman Bold"/>
                </a:rPr>
                <a:t>Thiết kế IP RSA trên hệ thống SoC</a:t>
              </a:r>
            </a:p>
          </p:txBody>
        </p:sp>
      </p:grpSp>
      <p:grpSp>
        <p:nvGrpSpPr>
          <p:cNvPr id="29" name="Group 29"/>
          <p:cNvGrpSpPr/>
          <p:nvPr/>
        </p:nvGrpSpPr>
        <p:grpSpPr>
          <a:xfrm>
            <a:off x="2269731" y="1749362"/>
            <a:ext cx="13716000" cy="823408"/>
            <a:chOff x="0" y="0"/>
            <a:chExt cx="18288000" cy="1097877"/>
          </a:xfrm>
        </p:grpSpPr>
        <p:sp>
          <p:nvSpPr>
            <p:cNvPr id="30" name="Freeform 30"/>
            <p:cNvSpPr/>
            <p:nvPr/>
          </p:nvSpPr>
          <p:spPr>
            <a:xfrm>
              <a:off x="0" y="0"/>
              <a:ext cx="18288000" cy="1097915"/>
            </a:xfrm>
            <a:custGeom>
              <a:avLst/>
              <a:gdLst/>
              <a:ahLst/>
              <a:cxnLst/>
              <a:rect l="l" t="t" r="r" b="b"/>
              <a:pathLst>
                <a:path w="18288000" h="1097915">
                  <a:moveTo>
                    <a:pt x="0" y="0"/>
                  </a:moveTo>
                  <a:lnTo>
                    <a:pt x="18288000" y="0"/>
                  </a:lnTo>
                  <a:lnTo>
                    <a:pt x="18288000" y="1097915"/>
                  </a:lnTo>
                  <a:lnTo>
                    <a:pt x="0" y="1097915"/>
                  </a:lnTo>
                  <a:close/>
                </a:path>
              </a:pathLst>
            </a:custGeom>
            <a:blipFill>
              <a:blip r:embed="rId6">
                <a:alphaModFix amt="0"/>
              </a:blip>
              <a:stretch>
                <a:fillRect t="-274338" b="-274335"/>
              </a:stretch>
            </a:blipFill>
          </p:spPr>
          <p:txBody>
            <a:bodyPr/>
            <a:lstStyle/>
            <a:p>
              <a:endParaRPr lang="en-US"/>
            </a:p>
          </p:txBody>
        </p:sp>
      </p:grpSp>
      <p:grpSp>
        <p:nvGrpSpPr>
          <p:cNvPr id="31" name="Group 31"/>
          <p:cNvGrpSpPr/>
          <p:nvPr/>
        </p:nvGrpSpPr>
        <p:grpSpPr>
          <a:xfrm>
            <a:off x="2269731" y="1770793"/>
            <a:ext cx="13716000" cy="801976"/>
            <a:chOff x="0" y="0"/>
            <a:chExt cx="18288000" cy="1069302"/>
          </a:xfrm>
        </p:grpSpPr>
        <p:sp>
          <p:nvSpPr>
            <p:cNvPr id="32" name="Freeform 32"/>
            <p:cNvSpPr/>
            <p:nvPr/>
          </p:nvSpPr>
          <p:spPr>
            <a:xfrm>
              <a:off x="0" y="0"/>
              <a:ext cx="18288000" cy="1069300"/>
            </a:xfrm>
            <a:custGeom>
              <a:avLst/>
              <a:gdLst/>
              <a:ahLst/>
              <a:cxnLst/>
              <a:rect l="l" t="t" r="r" b="b"/>
              <a:pathLst>
                <a:path w="18288000" h="1069300">
                  <a:moveTo>
                    <a:pt x="0" y="0"/>
                  </a:moveTo>
                  <a:lnTo>
                    <a:pt x="18288000" y="0"/>
                  </a:lnTo>
                  <a:lnTo>
                    <a:pt x="18288000" y="1069300"/>
                  </a:lnTo>
                  <a:lnTo>
                    <a:pt x="0" y="1069300"/>
                  </a:lnTo>
                  <a:close/>
                </a:path>
              </a:pathLst>
            </a:custGeom>
            <a:blipFill>
              <a:blip r:embed="rId7">
                <a:alphaModFix amt="0"/>
              </a:blip>
              <a:stretch>
                <a:fillRect t="-283248" b="-283248"/>
              </a:stretch>
            </a:blipFill>
          </p:spPr>
          <p:txBody>
            <a:bodyPr/>
            <a:lstStyle/>
            <a:p>
              <a:endParaRPr lang="en-US"/>
            </a:p>
          </p:txBody>
        </p:sp>
        <p:sp>
          <p:nvSpPr>
            <p:cNvPr id="33" name="TextBox 33"/>
            <p:cNvSpPr txBox="1"/>
            <p:nvPr/>
          </p:nvSpPr>
          <p:spPr>
            <a:xfrm>
              <a:off x="0" y="28575"/>
              <a:ext cx="18288000" cy="1040727"/>
            </a:xfrm>
            <a:prstGeom prst="rect">
              <a:avLst/>
            </a:prstGeom>
          </p:spPr>
          <p:txBody>
            <a:bodyPr lIns="0" tIns="0" rIns="0" bIns="0" rtlCol="0" anchor="ctr"/>
            <a:lstStyle/>
            <a:p>
              <a:pPr algn="ctr">
                <a:lnSpc>
                  <a:spcPts val="4319"/>
                </a:lnSpc>
              </a:pPr>
              <a:r>
                <a:rPr lang="en-US" sz="3999" b="1">
                  <a:solidFill>
                    <a:srgbClr val="11998E"/>
                  </a:solidFill>
                  <a:latin typeface="Arial Bold"/>
                  <a:ea typeface="Arial Bold"/>
                  <a:cs typeface="Arial Bold"/>
                  <a:sym typeface="Arial Bold"/>
                </a:rPr>
                <a:t>BÁO CÁO ĐỒ ÁN </a:t>
              </a:r>
            </a:p>
          </p:txBody>
        </p:sp>
      </p:grpSp>
      <p:sp>
        <p:nvSpPr>
          <p:cNvPr id="34" name="TextBox 34"/>
          <p:cNvSpPr txBox="1"/>
          <p:nvPr/>
        </p:nvSpPr>
        <p:spPr>
          <a:xfrm>
            <a:off x="68570" y="-2318490"/>
            <a:ext cx="18150850" cy="569719"/>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sp>
        <p:nvSpPr>
          <p:cNvPr id="35" name="TextBox 35"/>
          <p:cNvSpPr txBox="1"/>
          <p:nvPr/>
        </p:nvSpPr>
        <p:spPr>
          <a:xfrm>
            <a:off x="2269731" y="6298692"/>
            <a:ext cx="13752252" cy="2807208"/>
          </a:xfrm>
          <a:prstGeom prst="rect">
            <a:avLst/>
          </a:prstGeom>
        </p:spPr>
        <p:txBody>
          <a:bodyPr lIns="0" tIns="0" rIns="0" bIns="0" rtlCol="0" anchor="t">
            <a:spAutoFit/>
          </a:bodyPr>
          <a:lstStyle/>
          <a:p>
            <a:pPr algn="l">
              <a:lnSpc>
                <a:spcPts val="5616"/>
              </a:lnSpc>
            </a:pPr>
            <a:r>
              <a:rPr lang="en-US" sz="3600" b="1">
                <a:solidFill>
                  <a:srgbClr val="029676"/>
                </a:solidFill>
                <a:latin typeface="Arial Bold"/>
                <a:ea typeface="Arial Bold"/>
                <a:cs typeface="Arial Bold"/>
                <a:sym typeface="Arial Bold"/>
              </a:rPr>
              <a:t>GVHD: Ts. Trần Thị Điểm</a:t>
            </a:r>
          </a:p>
          <a:p>
            <a:pPr algn="l">
              <a:lnSpc>
                <a:spcPts val="5616"/>
              </a:lnSpc>
            </a:pPr>
            <a:r>
              <a:rPr lang="en-US" sz="3600" b="1">
                <a:solidFill>
                  <a:srgbClr val="029676"/>
                </a:solidFill>
                <a:latin typeface="Arial Bold"/>
                <a:ea typeface="Arial Bold"/>
                <a:cs typeface="Arial Bold"/>
                <a:sym typeface="Arial Bold"/>
              </a:rPr>
              <a:t>Sinh viên thực hiện:</a:t>
            </a:r>
          </a:p>
          <a:p>
            <a:pPr marL="822960" lvl="2" indent="-274320" algn="l">
              <a:lnSpc>
                <a:spcPts val="5616"/>
              </a:lnSpc>
              <a:buFont typeface="Arial"/>
              <a:buChar char="⚬"/>
            </a:pPr>
            <a:r>
              <a:rPr lang="en-US" sz="3600" b="1">
                <a:solidFill>
                  <a:srgbClr val="000000"/>
                </a:solidFill>
                <a:latin typeface="Arial Bold"/>
                <a:ea typeface="Arial Bold"/>
                <a:cs typeface="Arial Bold"/>
                <a:sym typeface="Arial Bold"/>
              </a:rPr>
              <a:t>Nguyễn Đình Huy - 2320624</a:t>
            </a:r>
          </a:p>
          <a:p>
            <a:pPr marL="822960" lvl="2" indent="-274320" algn="l">
              <a:lnSpc>
                <a:spcPts val="5616"/>
              </a:lnSpc>
            </a:pPr>
            <a:endParaRPr lang="en-US" sz="3600" b="1">
              <a:solidFill>
                <a:srgbClr val="000000"/>
              </a:solidFill>
              <a:latin typeface="Arial Bold"/>
              <a:ea typeface="Arial Bold"/>
              <a:cs typeface="Arial Bold"/>
              <a:sym typeface="Arial Bold"/>
            </a:endParaRPr>
          </a:p>
        </p:txBody>
      </p:sp>
      <p:sp>
        <p:nvSpPr>
          <p:cNvPr id="36" name="TextBox 36"/>
          <p:cNvSpPr txBox="1"/>
          <p:nvPr/>
        </p:nvSpPr>
        <p:spPr>
          <a:xfrm>
            <a:off x="17544783" y="9154620"/>
            <a:ext cx="254317" cy="1143000"/>
          </a:xfrm>
          <a:prstGeom prst="rect">
            <a:avLst/>
          </a:prstGeom>
        </p:spPr>
        <p:txBody>
          <a:bodyPr lIns="0" tIns="0" rIns="0" bIns="0" rtlCol="0" anchor="t">
            <a:spAutoFit/>
          </a:bodyPr>
          <a:lstStyle/>
          <a:p>
            <a:pPr algn="ctr">
              <a:lnSpc>
                <a:spcPts val="4320"/>
              </a:lnSpc>
            </a:pPr>
            <a:r>
              <a:rPr lang="en-US" sz="3600">
                <a:solidFill>
                  <a:srgbClr val="000000"/>
                </a:solidFill>
                <a:latin typeface="Arial"/>
                <a:ea typeface="Arial"/>
                <a:cs typeface="Arial"/>
                <a:sym typeface="Arial"/>
              </a:rPr>
              <a:t>1</a:t>
            </a:r>
          </a:p>
          <a:p>
            <a:pPr algn="ctr">
              <a:lnSpc>
                <a:spcPts val="4320"/>
              </a:lnSpc>
            </a:pPr>
            <a:endParaRPr lang="en-US" sz="360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70" y="-2318490"/>
            <a:ext cx="18150850" cy="569719"/>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grpSp>
        <p:nvGrpSpPr>
          <p:cNvPr id="3" name="Group 3"/>
          <p:cNvGrpSpPr/>
          <p:nvPr/>
        </p:nvGrpSpPr>
        <p:grpSpPr>
          <a:xfrm>
            <a:off x="0" y="-9087"/>
            <a:ext cx="18291715" cy="10295477"/>
            <a:chOff x="0" y="0"/>
            <a:chExt cx="24388953" cy="13727303"/>
          </a:xfrm>
        </p:grpSpPr>
        <p:sp>
          <p:nvSpPr>
            <p:cNvPr id="4" name="Freeform 4"/>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5" name="Group 5"/>
          <p:cNvGrpSpPr/>
          <p:nvPr/>
        </p:nvGrpSpPr>
        <p:grpSpPr>
          <a:xfrm rot="5400000">
            <a:off x="8668464" y="-8670055"/>
            <a:ext cx="947356" cy="18291715"/>
            <a:chOff x="0" y="0"/>
            <a:chExt cx="1263142" cy="24388953"/>
          </a:xfrm>
        </p:grpSpPr>
        <p:sp>
          <p:nvSpPr>
            <p:cNvPr id="6" name="Freeform 6"/>
            <p:cNvSpPr/>
            <p:nvPr/>
          </p:nvSpPr>
          <p:spPr>
            <a:xfrm>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gradFill rotWithShape="1">
              <a:gsLst>
                <a:gs pos="0">
                  <a:srgbClr val="10CC57">
                    <a:alpha val="100000"/>
                  </a:srgbClr>
                </a:gs>
                <a:gs pos="100000">
                  <a:srgbClr val="017058">
                    <a:alpha val="100000"/>
                  </a:srgbClr>
                </a:gs>
              </a:gsLst>
              <a:lin ang="0"/>
            </a:gradFill>
          </p:spPr>
          <p:txBody>
            <a:bodyPr/>
            <a:lstStyle/>
            <a:p>
              <a:endParaRPr lang="en-US"/>
            </a:p>
          </p:txBody>
        </p:sp>
      </p:grpSp>
      <p:grpSp>
        <p:nvGrpSpPr>
          <p:cNvPr id="7" name="Group 7"/>
          <p:cNvGrpSpPr/>
          <p:nvPr/>
        </p:nvGrpSpPr>
        <p:grpSpPr>
          <a:xfrm rot="-5400000">
            <a:off x="8670312" y="-8672208"/>
            <a:ext cx="947356" cy="18291715"/>
            <a:chOff x="0" y="0"/>
            <a:chExt cx="1263142" cy="24388953"/>
          </a:xfrm>
        </p:grpSpPr>
        <p:sp>
          <p:nvSpPr>
            <p:cNvPr id="8" name="Freeform 8"/>
            <p:cNvSpPr/>
            <p:nvPr/>
          </p:nvSpPr>
          <p:spPr>
            <a:xfrm flipH="1">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blipFill>
              <a:blip r:embed="rId2"/>
              <a:stretch>
                <a:fillRect l="-35092" r="-35091"/>
              </a:stretch>
            </a:blipFill>
          </p:spPr>
          <p:txBody>
            <a:bodyPr/>
            <a:lstStyle/>
            <a:p>
              <a:endParaRPr lang="en-US"/>
            </a:p>
          </p:txBody>
        </p:sp>
      </p:grpSp>
      <p:sp>
        <p:nvSpPr>
          <p:cNvPr id="9" name="TextBox 9"/>
          <p:cNvSpPr txBox="1"/>
          <p:nvPr/>
        </p:nvSpPr>
        <p:spPr>
          <a:xfrm>
            <a:off x="428996" y="227362"/>
            <a:ext cx="10993288" cy="456571"/>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10" name="Group 10"/>
          <p:cNvGrpSpPr/>
          <p:nvPr/>
        </p:nvGrpSpPr>
        <p:grpSpPr>
          <a:xfrm>
            <a:off x="6719983" y="457933"/>
            <a:ext cx="4848130" cy="958024"/>
            <a:chOff x="0" y="0"/>
            <a:chExt cx="6464173" cy="1277366"/>
          </a:xfrm>
        </p:grpSpPr>
        <p:sp>
          <p:nvSpPr>
            <p:cNvPr id="11" name="Freeform 11"/>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2700000"/>
            </a:gradFill>
          </p:spPr>
          <p:txBody>
            <a:bodyPr/>
            <a:lstStyle/>
            <a:p>
              <a:endParaRPr lang="en-US"/>
            </a:p>
          </p:txBody>
        </p:sp>
      </p:grpSp>
      <p:grpSp>
        <p:nvGrpSpPr>
          <p:cNvPr id="12" name="Group 12"/>
          <p:cNvGrpSpPr/>
          <p:nvPr/>
        </p:nvGrpSpPr>
        <p:grpSpPr>
          <a:xfrm>
            <a:off x="6807460" y="535972"/>
            <a:ext cx="4673060" cy="801815"/>
            <a:chOff x="0" y="0"/>
            <a:chExt cx="6230747" cy="1069086"/>
          </a:xfrm>
        </p:grpSpPr>
        <p:sp>
          <p:nvSpPr>
            <p:cNvPr id="13" name="Freeform 13"/>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en-US"/>
            </a:p>
          </p:txBody>
        </p:sp>
      </p:grpSp>
      <p:grpSp>
        <p:nvGrpSpPr>
          <p:cNvPr id="14" name="Group 14"/>
          <p:cNvGrpSpPr/>
          <p:nvPr/>
        </p:nvGrpSpPr>
        <p:grpSpPr>
          <a:xfrm>
            <a:off x="9436446" y="362541"/>
            <a:ext cx="1163288" cy="1152620"/>
            <a:chOff x="0" y="0"/>
            <a:chExt cx="1551051" cy="1536827"/>
          </a:xfrm>
        </p:grpSpPr>
        <p:sp>
          <p:nvSpPr>
            <p:cNvPr id="15" name="Freeform 15"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211" r="-210"/>
              </a:stretch>
            </a:blipFill>
          </p:spPr>
          <p:txBody>
            <a:bodyPr/>
            <a:lstStyle/>
            <a:p>
              <a:endParaRPr lang="en-US"/>
            </a:p>
          </p:txBody>
        </p:sp>
      </p:grpSp>
      <p:grpSp>
        <p:nvGrpSpPr>
          <p:cNvPr id="16" name="Group 16"/>
          <p:cNvGrpSpPr/>
          <p:nvPr/>
        </p:nvGrpSpPr>
        <p:grpSpPr>
          <a:xfrm>
            <a:off x="7688247" y="398078"/>
            <a:ext cx="1307497" cy="1081564"/>
            <a:chOff x="0" y="0"/>
            <a:chExt cx="1743329" cy="1442085"/>
          </a:xfrm>
        </p:grpSpPr>
        <p:sp>
          <p:nvSpPr>
            <p:cNvPr id="17" name="Freeform 17"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l="-38" r="-37"/>
              </a:stretch>
            </a:blipFill>
          </p:spPr>
          <p:txBody>
            <a:bodyPr/>
            <a:lstStyle/>
            <a:p>
              <a:endParaRPr lang="en-US"/>
            </a:p>
          </p:txBody>
        </p:sp>
      </p:grpSp>
      <p:grpSp>
        <p:nvGrpSpPr>
          <p:cNvPr id="18" name="Group 18"/>
          <p:cNvGrpSpPr/>
          <p:nvPr/>
        </p:nvGrpSpPr>
        <p:grpSpPr>
          <a:xfrm>
            <a:off x="792337" y="1230039"/>
            <a:ext cx="16470001" cy="1335996"/>
            <a:chOff x="0" y="0"/>
            <a:chExt cx="21960002" cy="1781327"/>
          </a:xfrm>
        </p:grpSpPr>
        <p:sp>
          <p:nvSpPr>
            <p:cNvPr id="19" name="Freeform 19"/>
            <p:cNvSpPr/>
            <p:nvPr/>
          </p:nvSpPr>
          <p:spPr>
            <a:xfrm>
              <a:off x="0" y="0"/>
              <a:ext cx="21959951" cy="1781302"/>
            </a:xfrm>
            <a:custGeom>
              <a:avLst/>
              <a:gdLst/>
              <a:ahLst/>
              <a:cxnLst/>
              <a:rect l="l" t="t" r="r" b="b"/>
              <a:pathLst>
                <a:path w="21959951" h="1781302">
                  <a:moveTo>
                    <a:pt x="0" y="0"/>
                  </a:moveTo>
                  <a:lnTo>
                    <a:pt x="21959951" y="0"/>
                  </a:lnTo>
                  <a:lnTo>
                    <a:pt x="21959951" y="1781302"/>
                  </a:lnTo>
                  <a:lnTo>
                    <a:pt x="0" y="1781302"/>
                  </a:lnTo>
                  <a:close/>
                </a:path>
              </a:pathLst>
            </a:custGeom>
            <a:blipFill>
              <a:blip r:embed="rId5">
                <a:alphaModFix amt="0"/>
              </a:blip>
              <a:stretch>
                <a:fillRect t="-190044" b="-190046"/>
              </a:stretch>
            </a:blipFill>
          </p:spPr>
          <p:txBody>
            <a:bodyPr/>
            <a:lstStyle/>
            <a:p>
              <a:endParaRPr lang="en-US"/>
            </a:p>
          </p:txBody>
        </p:sp>
      </p:grpSp>
      <p:grpSp>
        <p:nvGrpSpPr>
          <p:cNvPr id="20" name="Group 20"/>
          <p:cNvGrpSpPr/>
          <p:nvPr/>
        </p:nvGrpSpPr>
        <p:grpSpPr>
          <a:xfrm>
            <a:off x="792337" y="1258614"/>
            <a:ext cx="16470001" cy="1307421"/>
            <a:chOff x="0" y="0"/>
            <a:chExt cx="21960002" cy="1743227"/>
          </a:xfrm>
        </p:grpSpPr>
        <p:sp>
          <p:nvSpPr>
            <p:cNvPr id="21" name="Freeform 21"/>
            <p:cNvSpPr/>
            <p:nvPr/>
          </p:nvSpPr>
          <p:spPr>
            <a:xfrm>
              <a:off x="0" y="0"/>
              <a:ext cx="21960001" cy="1743228"/>
            </a:xfrm>
            <a:custGeom>
              <a:avLst/>
              <a:gdLst/>
              <a:ahLst/>
              <a:cxnLst/>
              <a:rect l="l" t="t" r="r" b="b"/>
              <a:pathLst>
                <a:path w="21960001" h="1743228">
                  <a:moveTo>
                    <a:pt x="0" y="0"/>
                  </a:moveTo>
                  <a:lnTo>
                    <a:pt x="21960001" y="0"/>
                  </a:lnTo>
                  <a:lnTo>
                    <a:pt x="21960001" y="1743228"/>
                  </a:lnTo>
                  <a:lnTo>
                    <a:pt x="0" y="1743228"/>
                  </a:lnTo>
                  <a:close/>
                </a:path>
              </a:pathLst>
            </a:custGeom>
            <a:blipFill>
              <a:blip r:embed="rId6">
                <a:alphaModFix amt="0"/>
              </a:blip>
              <a:stretch>
                <a:fillRect t="-195459" b="-195459"/>
              </a:stretch>
            </a:blipFill>
          </p:spPr>
          <p:txBody>
            <a:bodyPr/>
            <a:lstStyle/>
            <a:p>
              <a:endParaRPr lang="en-US"/>
            </a:p>
          </p:txBody>
        </p:sp>
        <p:sp>
          <p:nvSpPr>
            <p:cNvPr id="22" name="TextBox 22"/>
            <p:cNvSpPr txBox="1"/>
            <p:nvPr/>
          </p:nvSpPr>
          <p:spPr>
            <a:xfrm>
              <a:off x="0" y="38100"/>
              <a:ext cx="21960002" cy="1705127"/>
            </a:xfrm>
            <a:prstGeom prst="rect">
              <a:avLst/>
            </a:prstGeom>
          </p:spPr>
          <p:txBody>
            <a:bodyPr lIns="0" tIns="0" rIns="0" bIns="0" rtlCol="0" anchor="ctr"/>
            <a:lstStyle/>
            <a:p>
              <a:pPr algn="l">
                <a:lnSpc>
                  <a:spcPts val="7128"/>
                </a:lnSpc>
              </a:pPr>
              <a:r>
                <a:rPr lang="en-US" sz="6600" b="1">
                  <a:solidFill>
                    <a:srgbClr val="017058"/>
                  </a:solidFill>
                  <a:latin typeface="Times New Roman Bold"/>
                  <a:ea typeface="Times New Roman Bold"/>
                  <a:cs typeface="Times New Roman Bold"/>
                  <a:sym typeface="Times New Roman Bold"/>
                </a:rPr>
                <a:t>Nội dung báo cáo</a:t>
              </a:r>
            </a:p>
          </p:txBody>
        </p:sp>
      </p:grpSp>
      <p:sp>
        <p:nvSpPr>
          <p:cNvPr id="23" name="Freeform 23"/>
          <p:cNvSpPr/>
          <p:nvPr/>
        </p:nvSpPr>
        <p:spPr>
          <a:xfrm>
            <a:off x="1535459" y="3128010"/>
            <a:ext cx="7261336" cy="1460659"/>
          </a:xfrm>
          <a:custGeom>
            <a:avLst/>
            <a:gdLst/>
            <a:ahLst/>
            <a:cxnLst/>
            <a:rect l="l" t="t" r="r" b="b"/>
            <a:pathLst>
              <a:path w="7261336" h="1460659">
                <a:moveTo>
                  <a:pt x="0" y="0"/>
                </a:moveTo>
                <a:lnTo>
                  <a:pt x="7261336" y="0"/>
                </a:lnTo>
                <a:lnTo>
                  <a:pt x="7261336" y="1460659"/>
                </a:lnTo>
                <a:lnTo>
                  <a:pt x="0" y="1460659"/>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grpSp>
        <p:nvGrpSpPr>
          <p:cNvPr id="24" name="Group 24"/>
          <p:cNvGrpSpPr/>
          <p:nvPr/>
        </p:nvGrpSpPr>
        <p:grpSpPr>
          <a:xfrm>
            <a:off x="1789509" y="3398158"/>
            <a:ext cx="910876" cy="910876"/>
            <a:chOff x="0" y="0"/>
            <a:chExt cx="1214501" cy="1214501"/>
          </a:xfrm>
        </p:grpSpPr>
        <p:sp>
          <p:nvSpPr>
            <p:cNvPr id="25" name="Freeform 25"/>
            <p:cNvSpPr/>
            <p:nvPr/>
          </p:nvSpPr>
          <p:spPr>
            <a:xfrm>
              <a:off x="0" y="0"/>
              <a:ext cx="1214501" cy="1214501"/>
            </a:xfrm>
            <a:custGeom>
              <a:avLst/>
              <a:gdLst/>
              <a:ahLst/>
              <a:cxnLst/>
              <a:rect l="l" t="t" r="r" b="b"/>
              <a:pathLst>
                <a:path w="1214501" h="1214501">
                  <a:moveTo>
                    <a:pt x="0" y="607187"/>
                  </a:moveTo>
                  <a:cubicBezTo>
                    <a:pt x="0" y="271907"/>
                    <a:pt x="271907" y="0"/>
                    <a:pt x="607187" y="0"/>
                  </a:cubicBezTo>
                  <a:cubicBezTo>
                    <a:pt x="942467" y="0"/>
                    <a:pt x="1214501" y="271907"/>
                    <a:pt x="1214501" y="607187"/>
                  </a:cubicBezTo>
                  <a:cubicBezTo>
                    <a:pt x="1214501" y="942467"/>
                    <a:pt x="942594" y="1214501"/>
                    <a:pt x="607187" y="1214501"/>
                  </a:cubicBezTo>
                  <a:cubicBezTo>
                    <a:pt x="271780" y="1214501"/>
                    <a:pt x="0" y="942594"/>
                    <a:pt x="0" y="607187"/>
                  </a:cubicBezTo>
                  <a:close/>
                </a:path>
              </a:pathLst>
            </a:custGeom>
            <a:solidFill>
              <a:srgbClr val="10CC57"/>
            </a:solidFill>
          </p:spPr>
          <p:txBody>
            <a:bodyPr/>
            <a:lstStyle/>
            <a:p>
              <a:endParaRPr lang="en-US"/>
            </a:p>
          </p:txBody>
        </p:sp>
      </p:grpSp>
      <p:grpSp>
        <p:nvGrpSpPr>
          <p:cNvPr id="26" name="Group 26"/>
          <p:cNvGrpSpPr/>
          <p:nvPr/>
        </p:nvGrpSpPr>
        <p:grpSpPr>
          <a:xfrm>
            <a:off x="1789509" y="3383871"/>
            <a:ext cx="910828" cy="925116"/>
            <a:chOff x="0" y="0"/>
            <a:chExt cx="1214438" cy="1233488"/>
          </a:xfrm>
        </p:grpSpPr>
        <p:sp>
          <p:nvSpPr>
            <p:cNvPr id="27" name="Freeform 27"/>
            <p:cNvSpPr/>
            <p:nvPr/>
          </p:nvSpPr>
          <p:spPr>
            <a:xfrm>
              <a:off x="0" y="0"/>
              <a:ext cx="1214437" cy="1233487"/>
            </a:xfrm>
            <a:custGeom>
              <a:avLst/>
              <a:gdLst/>
              <a:ahLst/>
              <a:cxnLst/>
              <a:rect l="l" t="t" r="r" b="b"/>
              <a:pathLst>
                <a:path w="1214437" h="1233487">
                  <a:moveTo>
                    <a:pt x="0" y="0"/>
                  </a:moveTo>
                  <a:lnTo>
                    <a:pt x="1214437" y="0"/>
                  </a:lnTo>
                  <a:lnTo>
                    <a:pt x="1214437" y="1233487"/>
                  </a:lnTo>
                  <a:lnTo>
                    <a:pt x="0" y="1233487"/>
                  </a:lnTo>
                  <a:close/>
                </a:path>
              </a:pathLst>
            </a:custGeom>
            <a:blipFill>
              <a:blip r:embed="rId6">
                <a:alphaModFix amt="0"/>
              </a:blip>
              <a:stretch>
                <a:fillRect l="-80316" r="-80316"/>
              </a:stretch>
            </a:blipFill>
          </p:spPr>
          <p:txBody>
            <a:bodyPr/>
            <a:lstStyle/>
            <a:p>
              <a:endParaRPr lang="en-US"/>
            </a:p>
          </p:txBody>
        </p:sp>
        <p:sp>
          <p:nvSpPr>
            <p:cNvPr id="28" name="TextBox 28"/>
            <p:cNvSpPr txBox="1"/>
            <p:nvPr/>
          </p:nvSpPr>
          <p:spPr>
            <a:xfrm>
              <a:off x="0" y="-19050"/>
              <a:ext cx="1214438" cy="1252538"/>
            </a:xfrm>
            <a:prstGeom prst="rect">
              <a:avLst/>
            </a:prstGeom>
          </p:spPr>
          <p:txBody>
            <a:bodyPr lIns="0" tIns="0" rIns="0" bIns="0" rtlCol="0" anchor="ctr"/>
            <a:lstStyle/>
            <a:p>
              <a:pPr algn="ctr">
                <a:lnSpc>
                  <a:spcPts val="5040"/>
                </a:lnSpc>
              </a:pPr>
              <a:r>
                <a:rPr lang="en-US" sz="4200" b="1">
                  <a:solidFill>
                    <a:srgbClr val="FFFFFF"/>
                  </a:solidFill>
                  <a:latin typeface="Times New Roman Bold"/>
                  <a:ea typeface="Times New Roman Bold"/>
                  <a:cs typeface="Times New Roman Bold"/>
                  <a:sym typeface="Times New Roman Bold"/>
                </a:rPr>
                <a:t>1</a:t>
              </a:r>
            </a:p>
          </p:txBody>
        </p:sp>
      </p:grpSp>
      <p:grpSp>
        <p:nvGrpSpPr>
          <p:cNvPr id="29" name="Group 29"/>
          <p:cNvGrpSpPr/>
          <p:nvPr/>
        </p:nvGrpSpPr>
        <p:grpSpPr>
          <a:xfrm>
            <a:off x="2793597" y="3507324"/>
            <a:ext cx="6202166" cy="740493"/>
            <a:chOff x="0" y="0"/>
            <a:chExt cx="8269554" cy="987323"/>
          </a:xfrm>
        </p:grpSpPr>
        <p:sp>
          <p:nvSpPr>
            <p:cNvPr id="30" name="Freeform 30"/>
            <p:cNvSpPr/>
            <p:nvPr/>
          </p:nvSpPr>
          <p:spPr>
            <a:xfrm>
              <a:off x="0" y="0"/>
              <a:ext cx="8269605" cy="987298"/>
            </a:xfrm>
            <a:custGeom>
              <a:avLst/>
              <a:gdLst/>
              <a:ahLst/>
              <a:cxnLst/>
              <a:rect l="l" t="t" r="r" b="b"/>
              <a:pathLst>
                <a:path w="8269605" h="987298">
                  <a:moveTo>
                    <a:pt x="0" y="0"/>
                  </a:moveTo>
                  <a:lnTo>
                    <a:pt x="8269605" y="0"/>
                  </a:lnTo>
                  <a:lnTo>
                    <a:pt x="8269605" y="987298"/>
                  </a:lnTo>
                  <a:lnTo>
                    <a:pt x="0" y="987298"/>
                  </a:lnTo>
                  <a:close/>
                </a:path>
              </a:pathLst>
            </a:custGeom>
            <a:blipFill>
              <a:blip r:embed="rId5">
                <a:alphaModFix amt="0"/>
              </a:blip>
              <a:stretch>
                <a:fillRect t="-113091" b="-113093"/>
              </a:stretch>
            </a:blipFill>
          </p:spPr>
          <p:txBody>
            <a:bodyPr/>
            <a:lstStyle/>
            <a:p>
              <a:endParaRPr lang="en-US"/>
            </a:p>
          </p:txBody>
        </p:sp>
      </p:grpSp>
      <p:grpSp>
        <p:nvGrpSpPr>
          <p:cNvPr id="31" name="Group 31"/>
          <p:cNvGrpSpPr/>
          <p:nvPr/>
        </p:nvGrpSpPr>
        <p:grpSpPr>
          <a:xfrm>
            <a:off x="2793597" y="3485893"/>
            <a:ext cx="6202166" cy="761924"/>
            <a:chOff x="0" y="0"/>
            <a:chExt cx="8269554" cy="1015898"/>
          </a:xfrm>
        </p:grpSpPr>
        <p:sp>
          <p:nvSpPr>
            <p:cNvPr id="32" name="Freeform 32"/>
            <p:cNvSpPr/>
            <p:nvPr/>
          </p:nvSpPr>
          <p:spPr>
            <a:xfrm>
              <a:off x="0" y="0"/>
              <a:ext cx="8269555" cy="1015900"/>
            </a:xfrm>
            <a:custGeom>
              <a:avLst/>
              <a:gdLst/>
              <a:ahLst/>
              <a:cxnLst/>
              <a:rect l="l" t="t" r="r" b="b"/>
              <a:pathLst>
                <a:path w="8269555" h="1015900">
                  <a:moveTo>
                    <a:pt x="0" y="0"/>
                  </a:moveTo>
                  <a:lnTo>
                    <a:pt x="8269555" y="0"/>
                  </a:lnTo>
                  <a:lnTo>
                    <a:pt x="8269555" y="1015900"/>
                  </a:lnTo>
                  <a:lnTo>
                    <a:pt x="0" y="1015900"/>
                  </a:lnTo>
                  <a:close/>
                </a:path>
              </a:pathLst>
            </a:custGeom>
            <a:blipFill>
              <a:blip r:embed="rId6">
                <a:alphaModFix amt="0"/>
              </a:blip>
              <a:stretch>
                <a:fillRect t="-108610" b="-108610"/>
              </a:stretch>
            </a:blipFill>
          </p:spPr>
          <p:txBody>
            <a:bodyPr/>
            <a:lstStyle/>
            <a:p>
              <a:endParaRPr lang="en-US"/>
            </a:p>
          </p:txBody>
        </p:sp>
        <p:sp>
          <p:nvSpPr>
            <p:cNvPr id="33" name="TextBox 33"/>
            <p:cNvSpPr txBox="1"/>
            <p:nvPr/>
          </p:nvSpPr>
          <p:spPr>
            <a:xfrm>
              <a:off x="0" y="-28575"/>
              <a:ext cx="8269554" cy="1044473"/>
            </a:xfrm>
            <a:prstGeom prst="rect">
              <a:avLst/>
            </a:prstGeom>
          </p:spPr>
          <p:txBody>
            <a:bodyPr lIns="0" tIns="0" rIns="0" bIns="0" rtlCol="0" anchor="ctr"/>
            <a:lstStyle/>
            <a:p>
              <a:pPr algn="l">
                <a:lnSpc>
                  <a:spcPts val="4320"/>
                </a:lnSpc>
              </a:pPr>
              <a:r>
                <a:rPr lang="en-US" sz="3600">
                  <a:solidFill>
                    <a:srgbClr val="000000"/>
                  </a:solidFill>
                  <a:latin typeface="Arial"/>
                  <a:ea typeface="Arial"/>
                  <a:cs typeface="Arial"/>
                  <a:sym typeface="Arial"/>
                </a:rPr>
                <a:t>Giới thiệu về đề tài</a:t>
              </a:r>
            </a:p>
          </p:txBody>
        </p:sp>
      </p:grpSp>
      <p:sp>
        <p:nvSpPr>
          <p:cNvPr id="34" name="Freeform 34"/>
          <p:cNvSpPr/>
          <p:nvPr/>
        </p:nvSpPr>
        <p:spPr>
          <a:xfrm>
            <a:off x="1535459" y="4868504"/>
            <a:ext cx="7261336" cy="1460659"/>
          </a:xfrm>
          <a:custGeom>
            <a:avLst/>
            <a:gdLst/>
            <a:ahLst/>
            <a:cxnLst/>
            <a:rect l="l" t="t" r="r" b="b"/>
            <a:pathLst>
              <a:path w="7261336" h="1460659">
                <a:moveTo>
                  <a:pt x="0" y="0"/>
                </a:moveTo>
                <a:lnTo>
                  <a:pt x="7261336" y="0"/>
                </a:lnTo>
                <a:lnTo>
                  <a:pt x="7261336" y="1460658"/>
                </a:lnTo>
                <a:lnTo>
                  <a:pt x="0" y="1460658"/>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grpSp>
        <p:nvGrpSpPr>
          <p:cNvPr id="35" name="Group 35"/>
          <p:cNvGrpSpPr/>
          <p:nvPr/>
        </p:nvGrpSpPr>
        <p:grpSpPr>
          <a:xfrm>
            <a:off x="1789509" y="5138661"/>
            <a:ext cx="910876" cy="910876"/>
            <a:chOff x="0" y="0"/>
            <a:chExt cx="1214501" cy="1214501"/>
          </a:xfrm>
        </p:grpSpPr>
        <p:sp>
          <p:nvSpPr>
            <p:cNvPr id="36" name="Freeform 36"/>
            <p:cNvSpPr/>
            <p:nvPr/>
          </p:nvSpPr>
          <p:spPr>
            <a:xfrm>
              <a:off x="0" y="0"/>
              <a:ext cx="1214501" cy="1214501"/>
            </a:xfrm>
            <a:custGeom>
              <a:avLst/>
              <a:gdLst/>
              <a:ahLst/>
              <a:cxnLst/>
              <a:rect l="l" t="t" r="r" b="b"/>
              <a:pathLst>
                <a:path w="1214501" h="1214501">
                  <a:moveTo>
                    <a:pt x="0" y="607187"/>
                  </a:moveTo>
                  <a:cubicBezTo>
                    <a:pt x="0" y="271907"/>
                    <a:pt x="271907" y="0"/>
                    <a:pt x="607187" y="0"/>
                  </a:cubicBezTo>
                  <a:cubicBezTo>
                    <a:pt x="942467" y="0"/>
                    <a:pt x="1214501" y="271907"/>
                    <a:pt x="1214501" y="607187"/>
                  </a:cubicBezTo>
                  <a:cubicBezTo>
                    <a:pt x="1214501" y="942467"/>
                    <a:pt x="942594" y="1214501"/>
                    <a:pt x="607187" y="1214501"/>
                  </a:cubicBezTo>
                  <a:cubicBezTo>
                    <a:pt x="271780" y="1214501"/>
                    <a:pt x="0" y="942594"/>
                    <a:pt x="0" y="607187"/>
                  </a:cubicBezTo>
                  <a:close/>
                </a:path>
              </a:pathLst>
            </a:custGeom>
            <a:solidFill>
              <a:srgbClr val="10CC57"/>
            </a:solidFill>
          </p:spPr>
          <p:txBody>
            <a:bodyPr/>
            <a:lstStyle/>
            <a:p>
              <a:endParaRPr lang="en-US"/>
            </a:p>
          </p:txBody>
        </p:sp>
      </p:grpSp>
      <p:grpSp>
        <p:nvGrpSpPr>
          <p:cNvPr id="37" name="Group 37"/>
          <p:cNvGrpSpPr/>
          <p:nvPr/>
        </p:nvGrpSpPr>
        <p:grpSpPr>
          <a:xfrm>
            <a:off x="1789509" y="5124374"/>
            <a:ext cx="910828" cy="925116"/>
            <a:chOff x="0" y="0"/>
            <a:chExt cx="1214438" cy="1233488"/>
          </a:xfrm>
        </p:grpSpPr>
        <p:sp>
          <p:nvSpPr>
            <p:cNvPr id="38" name="Freeform 38"/>
            <p:cNvSpPr/>
            <p:nvPr/>
          </p:nvSpPr>
          <p:spPr>
            <a:xfrm>
              <a:off x="0" y="0"/>
              <a:ext cx="1214437" cy="1233487"/>
            </a:xfrm>
            <a:custGeom>
              <a:avLst/>
              <a:gdLst/>
              <a:ahLst/>
              <a:cxnLst/>
              <a:rect l="l" t="t" r="r" b="b"/>
              <a:pathLst>
                <a:path w="1214437" h="1233487">
                  <a:moveTo>
                    <a:pt x="0" y="0"/>
                  </a:moveTo>
                  <a:lnTo>
                    <a:pt x="1214437" y="0"/>
                  </a:lnTo>
                  <a:lnTo>
                    <a:pt x="1214437" y="1233487"/>
                  </a:lnTo>
                  <a:lnTo>
                    <a:pt x="0" y="1233487"/>
                  </a:lnTo>
                  <a:close/>
                </a:path>
              </a:pathLst>
            </a:custGeom>
            <a:blipFill>
              <a:blip r:embed="rId6">
                <a:alphaModFix amt="0"/>
              </a:blip>
              <a:stretch>
                <a:fillRect l="-80316" r="-80316"/>
              </a:stretch>
            </a:blipFill>
          </p:spPr>
          <p:txBody>
            <a:bodyPr/>
            <a:lstStyle/>
            <a:p>
              <a:endParaRPr lang="en-US"/>
            </a:p>
          </p:txBody>
        </p:sp>
        <p:sp>
          <p:nvSpPr>
            <p:cNvPr id="39" name="TextBox 39"/>
            <p:cNvSpPr txBox="1"/>
            <p:nvPr/>
          </p:nvSpPr>
          <p:spPr>
            <a:xfrm>
              <a:off x="0" y="-19050"/>
              <a:ext cx="1214438" cy="1252538"/>
            </a:xfrm>
            <a:prstGeom prst="rect">
              <a:avLst/>
            </a:prstGeom>
          </p:spPr>
          <p:txBody>
            <a:bodyPr lIns="0" tIns="0" rIns="0" bIns="0" rtlCol="0" anchor="ctr"/>
            <a:lstStyle/>
            <a:p>
              <a:pPr algn="ctr">
                <a:lnSpc>
                  <a:spcPts val="5040"/>
                </a:lnSpc>
              </a:pPr>
              <a:r>
                <a:rPr lang="en-US" sz="4200" b="1">
                  <a:solidFill>
                    <a:srgbClr val="FFFFFF"/>
                  </a:solidFill>
                  <a:latin typeface="Times New Roman Bold"/>
                  <a:ea typeface="Times New Roman Bold"/>
                  <a:cs typeface="Times New Roman Bold"/>
                  <a:sym typeface="Times New Roman Bold"/>
                </a:rPr>
                <a:t>2</a:t>
              </a:r>
            </a:p>
          </p:txBody>
        </p:sp>
      </p:grpSp>
      <p:grpSp>
        <p:nvGrpSpPr>
          <p:cNvPr id="40" name="Group 40"/>
          <p:cNvGrpSpPr/>
          <p:nvPr/>
        </p:nvGrpSpPr>
        <p:grpSpPr>
          <a:xfrm>
            <a:off x="2793597" y="5247818"/>
            <a:ext cx="9913953" cy="740493"/>
            <a:chOff x="0" y="0"/>
            <a:chExt cx="13218604" cy="987323"/>
          </a:xfrm>
        </p:grpSpPr>
        <p:sp>
          <p:nvSpPr>
            <p:cNvPr id="41" name="Freeform 41"/>
            <p:cNvSpPr/>
            <p:nvPr/>
          </p:nvSpPr>
          <p:spPr>
            <a:xfrm>
              <a:off x="0" y="0"/>
              <a:ext cx="13218540" cy="987298"/>
            </a:xfrm>
            <a:custGeom>
              <a:avLst/>
              <a:gdLst/>
              <a:ahLst/>
              <a:cxnLst/>
              <a:rect l="l" t="t" r="r" b="b"/>
              <a:pathLst>
                <a:path w="13218540" h="987298">
                  <a:moveTo>
                    <a:pt x="0" y="0"/>
                  </a:moveTo>
                  <a:lnTo>
                    <a:pt x="13218540" y="0"/>
                  </a:lnTo>
                  <a:lnTo>
                    <a:pt x="13218540" y="987298"/>
                  </a:lnTo>
                  <a:lnTo>
                    <a:pt x="0" y="987298"/>
                  </a:lnTo>
                  <a:close/>
                </a:path>
              </a:pathLst>
            </a:custGeom>
            <a:blipFill>
              <a:blip r:embed="rId5">
                <a:alphaModFix amt="0"/>
              </a:blip>
              <a:stretch>
                <a:fillRect t="-210695" b="-210698"/>
              </a:stretch>
            </a:blipFill>
          </p:spPr>
          <p:txBody>
            <a:bodyPr/>
            <a:lstStyle/>
            <a:p>
              <a:endParaRPr lang="en-US"/>
            </a:p>
          </p:txBody>
        </p:sp>
      </p:grpSp>
      <p:grpSp>
        <p:nvGrpSpPr>
          <p:cNvPr id="42" name="Group 42"/>
          <p:cNvGrpSpPr/>
          <p:nvPr/>
        </p:nvGrpSpPr>
        <p:grpSpPr>
          <a:xfrm>
            <a:off x="2793597" y="5226387"/>
            <a:ext cx="9913953" cy="761924"/>
            <a:chOff x="0" y="0"/>
            <a:chExt cx="13218604" cy="1015898"/>
          </a:xfrm>
        </p:grpSpPr>
        <p:sp>
          <p:nvSpPr>
            <p:cNvPr id="43" name="Freeform 43"/>
            <p:cNvSpPr/>
            <p:nvPr/>
          </p:nvSpPr>
          <p:spPr>
            <a:xfrm>
              <a:off x="0" y="0"/>
              <a:ext cx="13218604" cy="1015900"/>
            </a:xfrm>
            <a:custGeom>
              <a:avLst/>
              <a:gdLst/>
              <a:ahLst/>
              <a:cxnLst/>
              <a:rect l="l" t="t" r="r" b="b"/>
              <a:pathLst>
                <a:path w="13218604" h="1015900">
                  <a:moveTo>
                    <a:pt x="0" y="0"/>
                  </a:moveTo>
                  <a:lnTo>
                    <a:pt x="13218604" y="0"/>
                  </a:lnTo>
                  <a:lnTo>
                    <a:pt x="13218604" y="1015900"/>
                  </a:lnTo>
                  <a:lnTo>
                    <a:pt x="0" y="1015900"/>
                  </a:lnTo>
                  <a:close/>
                </a:path>
              </a:pathLst>
            </a:custGeom>
            <a:blipFill>
              <a:blip r:embed="rId6">
                <a:alphaModFix amt="0"/>
              </a:blip>
              <a:stretch>
                <a:fillRect t="-203533" b="-203533"/>
              </a:stretch>
            </a:blipFill>
          </p:spPr>
          <p:txBody>
            <a:bodyPr/>
            <a:lstStyle/>
            <a:p>
              <a:endParaRPr lang="en-US"/>
            </a:p>
          </p:txBody>
        </p:sp>
        <p:sp>
          <p:nvSpPr>
            <p:cNvPr id="44" name="TextBox 44"/>
            <p:cNvSpPr txBox="1"/>
            <p:nvPr/>
          </p:nvSpPr>
          <p:spPr>
            <a:xfrm>
              <a:off x="0" y="-28575"/>
              <a:ext cx="13218604" cy="1044473"/>
            </a:xfrm>
            <a:prstGeom prst="rect">
              <a:avLst/>
            </a:prstGeom>
          </p:spPr>
          <p:txBody>
            <a:bodyPr lIns="0" tIns="0" rIns="0" bIns="0" rtlCol="0" anchor="ctr"/>
            <a:lstStyle/>
            <a:p>
              <a:pPr algn="l">
                <a:lnSpc>
                  <a:spcPts val="4320"/>
                </a:lnSpc>
              </a:pPr>
              <a:r>
                <a:rPr lang="en-US" sz="3600">
                  <a:solidFill>
                    <a:srgbClr val="FFFFFF"/>
                  </a:solidFill>
                  <a:latin typeface="Arial"/>
                  <a:ea typeface="Arial"/>
                  <a:cs typeface="Arial"/>
                  <a:sym typeface="Arial"/>
                </a:rPr>
                <a:t>Cơ sở lý thuyết</a:t>
              </a:r>
            </a:p>
          </p:txBody>
        </p:sp>
      </p:grpSp>
      <p:sp>
        <p:nvSpPr>
          <p:cNvPr id="45" name="Freeform 45"/>
          <p:cNvSpPr/>
          <p:nvPr/>
        </p:nvSpPr>
        <p:spPr>
          <a:xfrm>
            <a:off x="1535459" y="6609007"/>
            <a:ext cx="7261250" cy="1460564"/>
          </a:xfrm>
          <a:custGeom>
            <a:avLst/>
            <a:gdLst/>
            <a:ahLst/>
            <a:cxnLst/>
            <a:rect l="l" t="t" r="r" b="b"/>
            <a:pathLst>
              <a:path w="7261250" h="1460564">
                <a:moveTo>
                  <a:pt x="0" y="0"/>
                </a:moveTo>
                <a:lnTo>
                  <a:pt x="7261250" y="0"/>
                </a:lnTo>
                <a:lnTo>
                  <a:pt x="7261250" y="1460563"/>
                </a:lnTo>
                <a:lnTo>
                  <a:pt x="0" y="1460563"/>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grpSp>
        <p:nvGrpSpPr>
          <p:cNvPr id="46" name="Group 46"/>
          <p:cNvGrpSpPr/>
          <p:nvPr/>
        </p:nvGrpSpPr>
        <p:grpSpPr>
          <a:xfrm>
            <a:off x="1789509" y="6879155"/>
            <a:ext cx="910780" cy="910780"/>
            <a:chOff x="0" y="0"/>
            <a:chExt cx="1214374" cy="1214374"/>
          </a:xfrm>
        </p:grpSpPr>
        <p:sp>
          <p:nvSpPr>
            <p:cNvPr id="47" name="Freeform 47"/>
            <p:cNvSpPr/>
            <p:nvPr/>
          </p:nvSpPr>
          <p:spPr>
            <a:xfrm>
              <a:off x="0" y="0"/>
              <a:ext cx="1214374" cy="1214374"/>
            </a:xfrm>
            <a:custGeom>
              <a:avLst/>
              <a:gdLst/>
              <a:ahLst/>
              <a:cxnLst/>
              <a:rect l="l" t="t" r="r" b="b"/>
              <a:pathLst>
                <a:path w="1214374" h="1214374">
                  <a:moveTo>
                    <a:pt x="0" y="607187"/>
                  </a:moveTo>
                  <a:cubicBezTo>
                    <a:pt x="0" y="271907"/>
                    <a:pt x="271907" y="0"/>
                    <a:pt x="607187" y="0"/>
                  </a:cubicBezTo>
                  <a:cubicBezTo>
                    <a:pt x="942467" y="0"/>
                    <a:pt x="1214374" y="271907"/>
                    <a:pt x="1214374" y="607187"/>
                  </a:cubicBezTo>
                  <a:cubicBezTo>
                    <a:pt x="1214374" y="942467"/>
                    <a:pt x="942594" y="1214374"/>
                    <a:pt x="607187" y="1214374"/>
                  </a:cubicBezTo>
                  <a:cubicBezTo>
                    <a:pt x="271780" y="1214374"/>
                    <a:pt x="0" y="942594"/>
                    <a:pt x="0" y="607187"/>
                  </a:cubicBezTo>
                  <a:close/>
                </a:path>
              </a:pathLst>
            </a:custGeom>
            <a:solidFill>
              <a:srgbClr val="10CC57"/>
            </a:solidFill>
          </p:spPr>
          <p:txBody>
            <a:bodyPr/>
            <a:lstStyle/>
            <a:p>
              <a:endParaRPr lang="en-US"/>
            </a:p>
          </p:txBody>
        </p:sp>
      </p:grpSp>
      <p:grpSp>
        <p:nvGrpSpPr>
          <p:cNvPr id="48" name="Group 48"/>
          <p:cNvGrpSpPr/>
          <p:nvPr/>
        </p:nvGrpSpPr>
        <p:grpSpPr>
          <a:xfrm>
            <a:off x="1789509" y="6864868"/>
            <a:ext cx="910800" cy="925087"/>
            <a:chOff x="0" y="0"/>
            <a:chExt cx="1214399" cy="1233449"/>
          </a:xfrm>
        </p:grpSpPr>
        <p:sp>
          <p:nvSpPr>
            <p:cNvPr id="49" name="Freeform 49"/>
            <p:cNvSpPr/>
            <p:nvPr/>
          </p:nvSpPr>
          <p:spPr>
            <a:xfrm>
              <a:off x="0" y="0"/>
              <a:ext cx="1214400" cy="1233450"/>
            </a:xfrm>
            <a:custGeom>
              <a:avLst/>
              <a:gdLst/>
              <a:ahLst/>
              <a:cxnLst/>
              <a:rect l="l" t="t" r="r" b="b"/>
              <a:pathLst>
                <a:path w="1214400" h="1233450">
                  <a:moveTo>
                    <a:pt x="0" y="0"/>
                  </a:moveTo>
                  <a:lnTo>
                    <a:pt x="1214400" y="0"/>
                  </a:lnTo>
                  <a:lnTo>
                    <a:pt x="1214400" y="1233450"/>
                  </a:lnTo>
                  <a:lnTo>
                    <a:pt x="0" y="1233450"/>
                  </a:lnTo>
                  <a:close/>
                </a:path>
              </a:pathLst>
            </a:custGeom>
            <a:blipFill>
              <a:blip r:embed="rId6">
                <a:alphaModFix amt="0"/>
              </a:blip>
              <a:stretch>
                <a:fillRect l="-80316" r="-80316"/>
              </a:stretch>
            </a:blipFill>
          </p:spPr>
          <p:txBody>
            <a:bodyPr/>
            <a:lstStyle/>
            <a:p>
              <a:endParaRPr lang="en-US"/>
            </a:p>
          </p:txBody>
        </p:sp>
        <p:sp>
          <p:nvSpPr>
            <p:cNvPr id="50" name="TextBox 50"/>
            <p:cNvSpPr txBox="1"/>
            <p:nvPr/>
          </p:nvSpPr>
          <p:spPr>
            <a:xfrm>
              <a:off x="0" y="-19050"/>
              <a:ext cx="1214399" cy="1252499"/>
            </a:xfrm>
            <a:prstGeom prst="rect">
              <a:avLst/>
            </a:prstGeom>
          </p:spPr>
          <p:txBody>
            <a:bodyPr lIns="0" tIns="0" rIns="0" bIns="0" rtlCol="0" anchor="ctr"/>
            <a:lstStyle/>
            <a:p>
              <a:pPr algn="ctr">
                <a:lnSpc>
                  <a:spcPts val="5040"/>
                </a:lnSpc>
              </a:pPr>
              <a:r>
                <a:rPr lang="en-US" sz="4200" b="1">
                  <a:solidFill>
                    <a:srgbClr val="FFFFFF"/>
                  </a:solidFill>
                  <a:latin typeface="Times New Roman Bold"/>
                  <a:ea typeface="Times New Roman Bold"/>
                  <a:cs typeface="Times New Roman Bold"/>
                  <a:sym typeface="Times New Roman Bold"/>
                </a:rPr>
                <a:t>3</a:t>
              </a:r>
            </a:p>
          </p:txBody>
        </p:sp>
      </p:grpSp>
      <p:grpSp>
        <p:nvGrpSpPr>
          <p:cNvPr id="51" name="Group 51"/>
          <p:cNvGrpSpPr/>
          <p:nvPr/>
        </p:nvGrpSpPr>
        <p:grpSpPr>
          <a:xfrm>
            <a:off x="2793597" y="6988321"/>
            <a:ext cx="9913953" cy="740493"/>
            <a:chOff x="0" y="0"/>
            <a:chExt cx="13218604" cy="987323"/>
          </a:xfrm>
        </p:grpSpPr>
        <p:sp>
          <p:nvSpPr>
            <p:cNvPr id="52" name="Freeform 52"/>
            <p:cNvSpPr/>
            <p:nvPr/>
          </p:nvSpPr>
          <p:spPr>
            <a:xfrm>
              <a:off x="0" y="0"/>
              <a:ext cx="13218540" cy="987298"/>
            </a:xfrm>
            <a:custGeom>
              <a:avLst/>
              <a:gdLst/>
              <a:ahLst/>
              <a:cxnLst/>
              <a:rect l="l" t="t" r="r" b="b"/>
              <a:pathLst>
                <a:path w="13218540" h="987298">
                  <a:moveTo>
                    <a:pt x="0" y="0"/>
                  </a:moveTo>
                  <a:lnTo>
                    <a:pt x="13218540" y="0"/>
                  </a:lnTo>
                  <a:lnTo>
                    <a:pt x="13218540" y="987298"/>
                  </a:lnTo>
                  <a:lnTo>
                    <a:pt x="0" y="987298"/>
                  </a:lnTo>
                  <a:close/>
                </a:path>
              </a:pathLst>
            </a:custGeom>
            <a:blipFill>
              <a:blip r:embed="rId5">
                <a:alphaModFix amt="0"/>
              </a:blip>
              <a:stretch>
                <a:fillRect t="-210695" b="-210698"/>
              </a:stretch>
            </a:blipFill>
          </p:spPr>
          <p:txBody>
            <a:bodyPr/>
            <a:lstStyle/>
            <a:p>
              <a:endParaRPr lang="en-US"/>
            </a:p>
          </p:txBody>
        </p:sp>
      </p:grpSp>
      <p:grpSp>
        <p:nvGrpSpPr>
          <p:cNvPr id="53" name="Group 53"/>
          <p:cNvGrpSpPr/>
          <p:nvPr/>
        </p:nvGrpSpPr>
        <p:grpSpPr>
          <a:xfrm>
            <a:off x="2793597" y="6966890"/>
            <a:ext cx="9913953" cy="761924"/>
            <a:chOff x="0" y="0"/>
            <a:chExt cx="13218604" cy="1015898"/>
          </a:xfrm>
        </p:grpSpPr>
        <p:sp>
          <p:nvSpPr>
            <p:cNvPr id="54" name="Freeform 54"/>
            <p:cNvSpPr/>
            <p:nvPr/>
          </p:nvSpPr>
          <p:spPr>
            <a:xfrm>
              <a:off x="0" y="0"/>
              <a:ext cx="13218604" cy="1015900"/>
            </a:xfrm>
            <a:custGeom>
              <a:avLst/>
              <a:gdLst/>
              <a:ahLst/>
              <a:cxnLst/>
              <a:rect l="l" t="t" r="r" b="b"/>
              <a:pathLst>
                <a:path w="13218604" h="1015900">
                  <a:moveTo>
                    <a:pt x="0" y="0"/>
                  </a:moveTo>
                  <a:lnTo>
                    <a:pt x="13218604" y="0"/>
                  </a:lnTo>
                  <a:lnTo>
                    <a:pt x="13218604" y="1015900"/>
                  </a:lnTo>
                  <a:lnTo>
                    <a:pt x="0" y="1015900"/>
                  </a:lnTo>
                  <a:close/>
                </a:path>
              </a:pathLst>
            </a:custGeom>
            <a:blipFill>
              <a:blip r:embed="rId6">
                <a:alphaModFix amt="0"/>
              </a:blip>
              <a:stretch>
                <a:fillRect t="-203533" b="-203533"/>
              </a:stretch>
            </a:blipFill>
          </p:spPr>
          <p:txBody>
            <a:bodyPr/>
            <a:lstStyle/>
            <a:p>
              <a:endParaRPr lang="en-US"/>
            </a:p>
          </p:txBody>
        </p:sp>
        <p:sp>
          <p:nvSpPr>
            <p:cNvPr id="55" name="TextBox 55"/>
            <p:cNvSpPr txBox="1"/>
            <p:nvPr/>
          </p:nvSpPr>
          <p:spPr>
            <a:xfrm>
              <a:off x="0" y="-28575"/>
              <a:ext cx="13218604" cy="1044473"/>
            </a:xfrm>
            <a:prstGeom prst="rect">
              <a:avLst/>
            </a:prstGeom>
          </p:spPr>
          <p:txBody>
            <a:bodyPr lIns="0" tIns="0" rIns="0" bIns="0" rtlCol="0" anchor="ctr"/>
            <a:lstStyle/>
            <a:p>
              <a:pPr algn="l">
                <a:lnSpc>
                  <a:spcPts val="4320"/>
                </a:lnSpc>
              </a:pPr>
              <a:r>
                <a:rPr lang="en-US" sz="3600">
                  <a:solidFill>
                    <a:srgbClr val="000000"/>
                  </a:solidFill>
                  <a:latin typeface="Arial"/>
                  <a:ea typeface="Arial"/>
                  <a:cs typeface="Arial"/>
                  <a:sym typeface="Arial"/>
                </a:rPr>
                <a:t>Thiết kế kiến trúc phần cứng</a:t>
              </a:r>
            </a:p>
          </p:txBody>
        </p:sp>
      </p:grpSp>
      <p:sp>
        <p:nvSpPr>
          <p:cNvPr id="56" name="Freeform 56"/>
          <p:cNvSpPr/>
          <p:nvPr/>
        </p:nvSpPr>
        <p:spPr>
          <a:xfrm>
            <a:off x="1535354" y="8349405"/>
            <a:ext cx="7261355" cy="1460564"/>
          </a:xfrm>
          <a:custGeom>
            <a:avLst/>
            <a:gdLst/>
            <a:ahLst/>
            <a:cxnLst/>
            <a:rect l="l" t="t" r="r" b="b"/>
            <a:pathLst>
              <a:path w="7261355" h="1460564">
                <a:moveTo>
                  <a:pt x="0" y="0"/>
                </a:moveTo>
                <a:lnTo>
                  <a:pt x="7261355" y="0"/>
                </a:lnTo>
                <a:lnTo>
                  <a:pt x="7261355" y="1460564"/>
                </a:lnTo>
                <a:lnTo>
                  <a:pt x="0" y="1460564"/>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US"/>
          </a:p>
        </p:txBody>
      </p:sp>
      <p:grpSp>
        <p:nvGrpSpPr>
          <p:cNvPr id="57" name="Group 57"/>
          <p:cNvGrpSpPr/>
          <p:nvPr/>
        </p:nvGrpSpPr>
        <p:grpSpPr>
          <a:xfrm>
            <a:off x="1789405" y="8619554"/>
            <a:ext cx="910780" cy="910780"/>
            <a:chOff x="0" y="0"/>
            <a:chExt cx="1214374" cy="1214374"/>
          </a:xfrm>
        </p:grpSpPr>
        <p:sp>
          <p:nvSpPr>
            <p:cNvPr id="58" name="Freeform 58"/>
            <p:cNvSpPr/>
            <p:nvPr/>
          </p:nvSpPr>
          <p:spPr>
            <a:xfrm>
              <a:off x="0" y="0"/>
              <a:ext cx="1214374" cy="1214374"/>
            </a:xfrm>
            <a:custGeom>
              <a:avLst/>
              <a:gdLst/>
              <a:ahLst/>
              <a:cxnLst/>
              <a:rect l="l" t="t" r="r" b="b"/>
              <a:pathLst>
                <a:path w="1214374" h="1214374">
                  <a:moveTo>
                    <a:pt x="0" y="607187"/>
                  </a:moveTo>
                  <a:cubicBezTo>
                    <a:pt x="0" y="271907"/>
                    <a:pt x="271907" y="0"/>
                    <a:pt x="607187" y="0"/>
                  </a:cubicBezTo>
                  <a:cubicBezTo>
                    <a:pt x="942467" y="0"/>
                    <a:pt x="1214374" y="271907"/>
                    <a:pt x="1214374" y="607187"/>
                  </a:cubicBezTo>
                  <a:cubicBezTo>
                    <a:pt x="1214374" y="942467"/>
                    <a:pt x="942594" y="1214374"/>
                    <a:pt x="607187" y="1214374"/>
                  </a:cubicBezTo>
                  <a:cubicBezTo>
                    <a:pt x="271780" y="1214374"/>
                    <a:pt x="0" y="942594"/>
                    <a:pt x="0" y="607187"/>
                  </a:cubicBezTo>
                  <a:close/>
                </a:path>
              </a:pathLst>
            </a:custGeom>
            <a:solidFill>
              <a:srgbClr val="10CC57"/>
            </a:solidFill>
          </p:spPr>
          <p:txBody>
            <a:bodyPr/>
            <a:lstStyle/>
            <a:p>
              <a:endParaRPr lang="en-US"/>
            </a:p>
          </p:txBody>
        </p:sp>
      </p:grpSp>
      <p:grpSp>
        <p:nvGrpSpPr>
          <p:cNvPr id="59" name="Group 59"/>
          <p:cNvGrpSpPr/>
          <p:nvPr/>
        </p:nvGrpSpPr>
        <p:grpSpPr>
          <a:xfrm>
            <a:off x="1789405" y="8605266"/>
            <a:ext cx="910800" cy="925087"/>
            <a:chOff x="0" y="0"/>
            <a:chExt cx="1214399" cy="1233449"/>
          </a:xfrm>
        </p:grpSpPr>
        <p:sp>
          <p:nvSpPr>
            <p:cNvPr id="60" name="Freeform 60"/>
            <p:cNvSpPr/>
            <p:nvPr/>
          </p:nvSpPr>
          <p:spPr>
            <a:xfrm>
              <a:off x="0" y="0"/>
              <a:ext cx="1214400" cy="1233450"/>
            </a:xfrm>
            <a:custGeom>
              <a:avLst/>
              <a:gdLst/>
              <a:ahLst/>
              <a:cxnLst/>
              <a:rect l="l" t="t" r="r" b="b"/>
              <a:pathLst>
                <a:path w="1214400" h="1233450">
                  <a:moveTo>
                    <a:pt x="0" y="0"/>
                  </a:moveTo>
                  <a:lnTo>
                    <a:pt x="1214400" y="0"/>
                  </a:lnTo>
                  <a:lnTo>
                    <a:pt x="1214400" y="1233450"/>
                  </a:lnTo>
                  <a:lnTo>
                    <a:pt x="0" y="1233450"/>
                  </a:lnTo>
                  <a:close/>
                </a:path>
              </a:pathLst>
            </a:custGeom>
            <a:blipFill>
              <a:blip r:embed="rId6">
                <a:alphaModFix amt="0"/>
              </a:blip>
              <a:stretch>
                <a:fillRect l="-80316" r="-80316"/>
              </a:stretch>
            </a:blipFill>
          </p:spPr>
          <p:txBody>
            <a:bodyPr/>
            <a:lstStyle/>
            <a:p>
              <a:endParaRPr lang="en-US"/>
            </a:p>
          </p:txBody>
        </p:sp>
        <p:sp>
          <p:nvSpPr>
            <p:cNvPr id="61" name="TextBox 61"/>
            <p:cNvSpPr txBox="1"/>
            <p:nvPr/>
          </p:nvSpPr>
          <p:spPr>
            <a:xfrm>
              <a:off x="0" y="-19050"/>
              <a:ext cx="1214399" cy="1252499"/>
            </a:xfrm>
            <a:prstGeom prst="rect">
              <a:avLst/>
            </a:prstGeom>
          </p:spPr>
          <p:txBody>
            <a:bodyPr lIns="0" tIns="0" rIns="0" bIns="0" rtlCol="0" anchor="ctr"/>
            <a:lstStyle/>
            <a:p>
              <a:pPr algn="ctr">
                <a:lnSpc>
                  <a:spcPts val="5040"/>
                </a:lnSpc>
              </a:pPr>
              <a:r>
                <a:rPr lang="en-US" sz="4200" b="1">
                  <a:solidFill>
                    <a:srgbClr val="FFFFFF"/>
                  </a:solidFill>
                  <a:latin typeface="Times New Roman Bold"/>
                  <a:ea typeface="Times New Roman Bold"/>
                  <a:cs typeface="Times New Roman Bold"/>
                  <a:sym typeface="Times New Roman Bold"/>
                </a:rPr>
                <a:t>4</a:t>
              </a:r>
            </a:p>
          </p:txBody>
        </p:sp>
      </p:grpSp>
      <p:grpSp>
        <p:nvGrpSpPr>
          <p:cNvPr id="62" name="Group 62"/>
          <p:cNvGrpSpPr/>
          <p:nvPr/>
        </p:nvGrpSpPr>
        <p:grpSpPr>
          <a:xfrm>
            <a:off x="2793502" y="8728720"/>
            <a:ext cx="9913953" cy="740493"/>
            <a:chOff x="0" y="0"/>
            <a:chExt cx="13218604" cy="987323"/>
          </a:xfrm>
        </p:grpSpPr>
        <p:sp>
          <p:nvSpPr>
            <p:cNvPr id="63" name="Freeform 63"/>
            <p:cNvSpPr/>
            <p:nvPr/>
          </p:nvSpPr>
          <p:spPr>
            <a:xfrm>
              <a:off x="0" y="0"/>
              <a:ext cx="13218540" cy="987298"/>
            </a:xfrm>
            <a:custGeom>
              <a:avLst/>
              <a:gdLst/>
              <a:ahLst/>
              <a:cxnLst/>
              <a:rect l="l" t="t" r="r" b="b"/>
              <a:pathLst>
                <a:path w="13218540" h="987298">
                  <a:moveTo>
                    <a:pt x="0" y="0"/>
                  </a:moveTo>
                  <a:lnTo>
                    <a:pt x="13218540" y="0"/>
                  </a:lnTo>
                  <a:lnTo>
                    <a:pt x="13218540" y="987298"/>
                  </a:lnTo>
                  <a:lnTo>
                    <a:pt x="0" y="987298"/>
                  </a:lnTo>
                  <a:close/>
                </a:path>
              </a:pathLst>
            </a:custGeom>
            <a:blipFill>
              <a:blip r:embed="rId5">
                <a:alphaModFix amt="0"/>
              </a:blip>
              <a:stretch>
                <a:fillRect t="-210695" b="-210698"/>
              </a:stretch>
            </a:blipFill>
          </p:spPr>
          <p:txBody>
            <a:bodyPr/>
            <a:lstStyle/>
            <a:p>
              <a:endParaRPr lang="en-US"/>
            </a:p>
          </p:txBody>
        </p:sp>
      </p:grpSp>
      <p:grpSp>
        <p:nvGrpSpPr>
          <p:cNvPr id="64" name="Group 64"/>
          <p:cNvGrpSpPr/>
          <p:nvPr/>
        </p:nvGrpSpPr>
        <p:grpSpPr>
          <a:xfrm>
            <a:off x="2793502" y="8707288"/>
            <a:ext cx="9913953" cy="761924"/>
            <a:chOff x="0" y="0"/>
            <a:chExt cx="13218604" cy="1015898"/>
          </a:xfrm>
        </p:grpSpPr>
        <p:sp>
          <p:nvSpPr>
            <p:cNvPr id="65" name="Freeform 65"/>
            <p:cNvSpPr/>
            <p:nvPr/>
          </p:nvSpPr>
          <p:spPr>
            <a:xfrm>
              <a:off x="0" y="0"/>
              <a:ext cx="13218604" cy="1015900"/>
            </a:xfrm>
            <a:custGeom>
              <a:avLst/>
              <a:gdLst/>
              <a:ahLst/>
              <a:cxnLst/>
              <a:rect l="l" t="t" r="r" b="b"/>
              <a:pathLst>
                <a:path w="13218604" h="1015900">
                  <a:moveTo>
                    <a:pt x="0" y="0"/>
                  </a:moveTo>
                  <a:lnTo>
                    <a:pt x="13218604" y="0"/>
                  </a:lnTo>
                  <a:lnTo>
                    <a:pt x="13218604" y="1015900"/>
                  </a:lnTo>
                  <a:lnTo>
                    <a:pt x="0" y="1015900"/>
                  </a:lnTo>
                  <a:close/>
                </a:path>
              </a:pathLst>
            </a:custGeom>
            <a:blipFill>
              <a:blip r:embed="rId6">
                <a:alphaModFix amt="0"/>
              </a:blip>
              <a:stretch>
                <a:fillRect t="-203533" b="-203533"/>
              </a:stretch>
            </a:blipFill>
          </p:spPr>
          <p:txBody>
            <a:bodyPr/>
            <a:lstStyle/>
            <a:p>
              <a:endParaRPr lang="en-US"/>
            </a:p>
          </p:txBody>
        </p:sp>
        <p:sp>
          <p:nvSpPr>
            <p:cNvPr id="66" name="TextBox 66"/>
            <p:cNvSpPr txBox="1"/>
            <p:nvPr/>
          </p:nvSpPr>
          <p:spPr>
            <a:xfrm>
              <a:off x="0" y="-28575"/>
              <a:ext cx="13218604" cy="1044473"/>
            </a:xfrm>
            <a:prstGeom prst="rect">
              <a:avLst/>
            </a:prstGeom>
          </p:spPr>
          <p:txBody>
            <a:bodyPr lIns="0" tIns="0" rIns="0" bIns="0" rtlCol="0" anchor="ctr"/>
            <a:lstStyle/>
            <a:p>
              <a:pPr algn="l">
                <a:lnSpc>
                  <a:spcPts val="4320"/>
                </a:lnSpc>
              </a:pPr>
              <a:r>
                <a:rPr lang="en-US" sz="3600">
                  <a:solidFill>
                    <a:srgbClr val="FFFFFF"/>
                  </a:solidFill>
                  <a:latin typeface="Arial"/>
                  <a:ea typeface="Arial"/>
                  <a:cs typeface="Arial"/>
                  <a:sym typeface="Arial"/>
                </a:rPr>
                <a:t>Xây dựng phần mềm</a:t>
              </a:r>
            </a:p>
          </p:txBody>
        </p:sp>
      </p:grpSp>
      <p:sp>
        <p:nvSpPr>
          <p:cNvPr id="67" name="Freeform 67"/>
          <p:cNvSpPr/>
          <p:nvPr/>
        </p:nvSpPr>
        <p:spPr>
          <a:xfrm>
            <a:off x="9786452" y="3128000"/>
            <a:ext cx="6732661" cy="1460659"/>
          </a:xfrm>
          <a:custGeom>
            <a:avLst/>
            <a:gdLst/>
            <a:ahLst/>
            <a:cxnLst/>
            <a:rect l="l" t="t" r="r" b="b"/>
            <a:pathLst>
              <a:path w="6732661" h="1460659">
                <a:moveTo>
                  <a:pt x="0" y="0"/>
                </a:moveTo>
                <a:lnTo>
                  <a:pt x="6732660" y="0"/>
                </a:lnTo>
                <a:lnTo>
                  <a:pt x="6732660" y="1460659"/>
                </a:lnTo>
                <a:lnTo>
                  <a:pt x="0" y="1460659"/>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US"/>
          </a:p>
        </p:txBody>
      </p:sp>
      <p:grpSp>
        <p:nvGrpSpPr>
          <p:cNvPr id="68" name="Group 68"/>
          <p:cNvGrpSpPr/>
          <p:nvPr/>
        </p:nvGrpSpPr>
        <p:grpSpPr>
          <a:xfrm>
            <a:off x="10018100" y="3398158"/>
            <a:ext cx="910876" cy="918877"/>
            <a:chOff x="0" y="0"/>
            <a:chExt cx="1214501" cy="1225169"/>
          </a:xfrm>
        </p:grpSpPr>
        <p:sp>
          <p:nvSpPr>
            <p:cNvPr id="69" name="Freeform 69"/>
            <p:cNvSpPr/>
            <p:nvPr/>
          </p:nvSpPr>
          <p:spPr>
            <a:xfrm>
              <a:off x="0" y="0"/>
              <a:ext cx="1214501" cy="1225169"/>
            </a:xfrm>
            <a:custGeom>
              <a:avLst/>
              <a:gdLst/>
              <a:ahLst/>
              <a:cxnLst/>
              <a:rect l="l" t="t" r="r" b="b"/>
              <a:pathLst>
                <a:path w="1214501" h="1225169">
                  <a:moveTo>
                    <a:pt x="0" y="612521"/>
                  </a:moveTo>
                  <a:cubicBezTo>
                    <a:pt x="0" y="274320"/>
                    <a:pt x="271907" y="0"/>
                    <a:pt x="607187" y="0"/>
                  </a:cubicBezTo>
                  <a:cubicBezTo>
                    <a:pt x="942467" y="0"/>
                    <a:pt x="1214501" y="274320"/>
                    <a:pt x="1214501" y="612521"/>
                  </a:cubicBezTo>
                  <a:cubicBezTo>
                    <a:pt x="1214501" y="950722"/>
                    <a:pt x="942594" y="1225169"/>
                    <a:pt x="607187" y="1225169"/>
                  </a:cubicBezTo>
                  <a:cubicBezTo>
                    <a:pt x="271780" y="1225169"/>
                    <a:pt x="0" y="950849"/>
                    <a:pt x="0" y="612521"/>
                  </a:cubicBezTo>
                  <a:close/>
                </a:path>
              </a:pathLst>
            </a:custGeom>
            <a:solidFill>
              <a:srgbClr val="10CC57"/>
            </a:solidFill>
          </p:spPr>
          <p:txBody>
            <a:bodyPr/>
            <a:lstStyle/>
            <a:p>
              <a:endParaRPr lang="en-US"/>
            </a:p>
          </p:txBody>
        </p:sp>
      </p:grpSp>
      <p:grpSp>
        <p:nvGrpSpPr>
          <p:cNvPr id="70" name="Group 70"/>
          <p:cNvGrpSpPr/>
          <p:nvPr/>
        </p:nvGrpSpPr>
        <p:grpSpPr>
          <a:xfrm>
            <a:off x="10018100" y="3383871"/>
            <a:ext cx="910828" cy="933117"/>
            <a:chOff x="0" y="0"/>
            <a:chExt cx="1214438" cy="1244156"/>
          </a:xfrm>
        </p:grpSpPr>
        <p:sp>
          <p:nvSpPr>
            <p:cNvPr id="71" name="Freeform 71"/>
            <p:cNvSpPr/>
            <p:nvPr/>
          </p:nvSpPr>
          <p:spPr>
            <a:xfrm>
              <a:off x="0" y="0"/>
              <a:ext cx="1214437" cy="1244154"/>
            </a:xfrm>
            <a:custGeom>
              <a:avLst/>
              <a:gdLst/>
              <a:ahLst/>
              <a:cxnLst/>
              <a:rect l="l" t="t" r="r" b="b"/>
              <a:pathLst>
                <a:path w="1214437" h="1244154">
                  <a:moveTo>
                    <a:pt x="0" y="0"/>
                  </a:moveTo>
                  <a:lnTo>
                    <a:pt x="1214437" y="0"/>
                  </a:lnTo>
                  <a:lnTo>
                    <a:pt x="1214437" y="1244154"/>
                  </a:lnTo>
                  <a:lnTo>
                    <a:pt x="0" y="1244154"/>
                  </a:lnTo>
                  <a:close/>
                </a:path>
              </a:pathLst>
            </a:custGeom>
            <a:blipFill>
              <a:blip r:embed="rId6">
                <a:alphaModFix amt="0"/>
              </a:blip>
              <a:stretch>
                <a:fillRect l="-81443" r="-81443"/>
              </a:stretch>
            </a:blipFill>
          </p:spPr>
          <p:txBody>
            <a:bodyPr/>
            <a:lstStyle/>
            <a:p>
              <a:endParaRPr lang="en-US"/>
            </a:p>
          </p:txBody>
        </p:sp>
        <p:sp>
          <p:nvSpPr>
            <p:cNvPr id="72" name="TextBox 72"/>
            <p:cNvSpPr txBox="1"/>
            <p:nvPr/>
          </p:nvSpPr>
          <p:spPr>
            <a:xfrm>
              <a:off x="0" y="-19050"/>
              <a:ext cx="1214438" cy="1263206"/>
            </a:xfrm>
            <a:prstGeom prst="rect">
              <a:avLst/>
            </a:prstGeom>
          </p:spPr>
          <p:txBody>
            <a:bodyPr lIns="0" tIns="0" rIns="0" bIns="0" rtlCol="0" anchor="ctr"/>
            <a:lstStyle/>
            <a:p>
              <a:pPr algn="ctr">
                <a:lnSpc>
                  <a:spcPts val="5040"/>
                </a:lnSpc>
              </a:pPr>
              <a:r>
                <a:rPr lang="en-US" sz="4200" b="1">
                  <a:solidFill>
                    <a:srgbClr val="FFFFFF"/>
                  </a:solidFill>
                  <a:latin typeface="Times New Roman Bold"/>
                  <a:ea typeface="Times New Roman Bold"/>
                  <a:cs typeface="Times New Roman Bold"/>
                  <a:sym typeface="Times New Roman Bold"/>
                </a:rPr>
                <a:t>5</a:t>
              </a:r>
            </a:p>
          </p:txBody>
        </p:sp>
      </p:grpSp>
      <p:grpSp>
        <p:nvGrpSpPr>
          <p:cNvPr id="73" name="Group 73"/>
          <p:cNvGrpSpPr/>
          <p:nvPr/>
        </p:nvGrpSpPr>
        <p:grpSpPr>
          <a:xfrm>
            <a:off x="11060173" y="3483321"/>
            <a:ext cx="6202166" cy="740493"/>
            <a:chOff x="0" y="0"/>
            <a:chExt cx="8269554" cy="987323"/>
          </a:xfrm>
        </p:grpSpPr>
        <p:sp>
          <p:nvSpPr>
            <p:cNvPr id="74" name="Freeform 74"/>
            <p:cNvSpPr/>
            <p:nvPr/>
          </p:nvSpPr>
          <p:spPr>
            <a:xfrm>
              <a:off x="0" y="0"/>
              <a:ext cx="8269605" cy="987298"/>
            </a:xfrm>
            <a:custGeom>
              <a:avLst/>
              <a:gdLst/>
              <a:ahLst/>
              <a:cxnLst/>
              <a:rect l="l" t="t" r="r" b="b"/>
              <a:pathLst>
                <a:path w="8269605" h="987298">
                  <a:moveTo>
                    <a:pt x="0" y="0"/>
                  </a:moveTo>
                  <a:lnTo>
                    <a:pt x="8269605" y="0"/>
                  </a:lnTo>
                  <a:lnTo>
                    <a:pt x="8269605" y="987298"/>
                  </a:lnTo>
                  <a:lnTo>
                    <a:pt x="0" y="987298"/>
                  </a:lnTo>
                  <a:close/>
                </a:path>
              </a:pathLst>
            </a:custGeom>
            <a:blipFill>
              <a:blip r:embed="rId5">
                <a:alphaModFix amt="0"/>
              </a:blip>
              <a:stretch>
                <a:fillRect t="-113091" b="-113093"/>
              </a:stretch>
            </a:blipFill>
          </p:spPr>
          <p:txBody>
            <a:bodyPr/>
            <a:lstStyle/>
            <a:p>
              <a:endParaRPr lang="en-US"/>
            </a:p>
          </p:txBody>
        </p:sp>
      </p:grpSp>
      <p:grpSp>
        <p:nvGrpSpPr>
          <p:cNvPr id="75" name="Group 75"/>
          <p:cNvGrpSpPr/>
          <p:nvPr/>
        </p:nvGrpSpPr>
        <p:grpSpPr>
          <a:xfrm>
            <a:off x="10928975" y="7130696"/>
            <a:ext cx="6202166" cy="761924"/>
            <a:chOff x="0" y="0"/>
            <a:chExt cx="8269554" cy="1015898"/>
          </a:xfrm>
        </p:grpSpPr>
        <p:sp>
          <p:nvSpPr>
            <p:cNvPr id="76" name="Freeform 76"/>
            <p:cNvSpPr/>
            <p:nvPr/>
          </p:nvSpPr>
          <p:spPr>
            <a:xfrm>
              <a:off x="0" y="0"/>
              <a:ext cx="8269555" cy="1015900"/>
            </a:xfrm>
            <a:custGeom>
              <a:avLst/>
              <a:gdLst/>
              <a:ahLst/>
              <a:cxnLst/>
              <a:rect l="l" t="t" r="r" b="b"/>
              <a:pathLst>
                <a:path w="8269555" h="1015900">
                  <a:moveTo>
                    <a:pt x="0" y="0"/>
                  </a:moveTo>
                  <a:lnTo>
                    <a:pt x="8269555" y="0"/>
                  </a:lnTo>
                  <a:lnTo>
                    <a:pt x="8269555" y="1015900"/>
                  </a:lnTo>
                  <a:lnTo>
                    <a:pt x="0" y="1015900"/>
                  </a:lnTo>
                  <a:close/>
                </a:path>
              </a:pathLst>
            </a:custGeom>
            <a:blipFill>
              <a:blip r:embed="rId6">
                <a:alphaModFix amt="0"/>
              </a:blip>
              <a:stretch>
                <a:fillRect t="-108610" b="-108610"/>
              </a:stretch>
            </a:blipFill>
          </p:spPr>
          <p:txBody>
            <a:bodyPr/>
            <a:lstStyle/>
            <a:p>
              <a:endParaRPr lang="en-US"/>
            </a:p>
          </p:txBody>
        </p:sp>
        <p:sp>
          <p:nvSpPr>
            <p:cNvPr id="77" name="TextBox 77"/>
            <p:cNvSpPr txBox="1"/>
            <p:nvPr/>
          </p:nvSpPr>
          <p:spPr>
            <a:xfrm>
              <a:off x="0" y="-28575"/>
              <a:ext cx="8269554" cy="1044473"/>
            </a:xfrm>
            <a:prstGeom prst="rect">
              <a:avLst/>
            </a:prstGeom>
          </p:spPr>
          <p:txBody>
            <a:bodyPr lIns="0" tIns="0" rIns="0" bIns="0" rtlCol="0" anchor="ctr"/>
            <a:lstStyle/>
            <a:p>
              <a:pPr algn="l">
                <a:lnSpc>
                  <a:spcPts val="4320"/>
                </a:lnSpc>
              </a:pPr>
              <a:r>
                <a:rPr lang="en-US" sz="3600">
                  <a:solidFill>
                    <a:srgbClr val="000000"/>
                  </a:solidFill>
                  <a:latin typeface="Arial"/>
                  <a:ea typeface="Arial"/>
                  <a:cs typeface="Arial"/>
                  <a:sym typeface="Arial"/>
                </a:rPr>
                <a:t>Giới thiệu về đề tài</a:t>
              </a:r>
            </a:p>
          </p:txBody>
        </p:sp>
      </p:grpSp>
      <p:sp>
        <p:nvSpPr>
          <p:cNvPr id="78" name="Freeform 78"/>
          <p:cNvSpPr/>
          <p:nvPr/>
        </p:nvSpPr>
        <p:spPr>
          <a:xfrm>
            <a:off x="9786452" y="4855369"/>
            <a:ext cx="6732661" cy="1460659"/>
          </a:xfrm>
          <a:custGeom>
            <a:avLst/>
            <a:gdLst/>
            <a:ahLst/>
            <a:cxnLst/>
            <a:rect l="l" t="t" r="r" b="b"/>
            <a:pathLst>
              <a:path w="6732661" h="1460659">
                <a:moveTo>
                  <a:pt x="0" y="0"/>
                </a:moveTo>
                <a:lnTo>
                  <a:pt x="6732660" y="0"/>
                </a:lnTo>
                <a:lnTo>
                  <a:pt x="6732660" y="1460659"/>
                </a:lnTo>
                <a:lnTo>
                  <a:pt x="0" y="1460659"/>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lang="en-US"/>
          </a:p>
        </p:txBody>
      </p:sp>
      <p:grpSp>
        <p:nvGrpSpPr>
          <p:cNvPr id="79" name="Group 79"/>
          <p:cNvGrpSpPr/>
          <p:nvPr/>
        </p:nvGrpSpPr>
        <p:grpSpPr>
          <a:xfrm>
            <a:off x="10018100" y="5069481"/>
            <a:ext cx="910876" cy="918877"/>
            <a:chOff x="0" y="0"/>
            <a:chExt cx="1214501" cy="1225169"/>
          </a:xfrm>
        </p:grpSpPr>
        <p:sp>
          <p:nvSpPr>
            <p:cNvPr id="80" name="Freeform 80"/>
            <p:cNvSpPr/>
            <p:nvPr/>
          </p:nvSpPr>
          <p:spPr>
            <a:xfrm>
              <a:off x="0" y="0"/>
              <a:ext cx="1214501" cy="1225169"/>
            </a:xfrm>
            <a:custGeom>
              <a:avLst/>
              <a:gdLst/>
              <a:ahLst/>
              <a:cxnLst/>
              <a:rect l="l" t="t" r="r" b="b"/>
              <a:pathLst>
                <a:path w="1214501" h="1225169">
                  <a:moveTo>
                    <a:pt x="0" y="612521"/>
                  </a:moveTo>
                  <a:cubicBezTo>
                    <a:pt x="0" y="274320"/>
                    <a:pt x="271907" y="0"/>
                    <a:pt x="607187" y="0"/>
                  </a:cubicBezTo>
                  <a:cubicBezTo>
                    <a:pt x="942467" y="0"/>
                    <a:pt x="1214501" y="274320"/>
                    <a:pt x="1214501" y="612521"/>
                  </a:cubicBezTo>
                  <a:cubicBezTo>
                    <a:pt x="1214501" y="950722"/>
                    <a:pt x="942594" y="1225169"/>
                    <a:pt x="607187" y="1225169"/>
                  </a:cubicBezTo>
                  <a:cubicBezTo>
                    <a:pt x="271780" y="1225169"/>
                    <a:pt x="0" y="950849"/>
                    <a:pt x="0" y="612521"/>
                  </a:cubicBezTo>
                  <a:close/>
                </a:path>
              </a:pathLst>
            </a:custGeom>
            <a:solidFill>
              <a:srgbClr val="10CC57"/>
            </a:solidFill>
          </p:spPr>
          <p:txBody>
            <a:bodyPr/>
            <a:lstStyle/>
            <a:p>
              <a:endParaRPr lang="en-US"/>
            </a:p>
          </p:txBody>
        </p:sp>
      </p:grpSp>
      <p:grpSp>
        <p:nvGrpSpPr>
          <p:cNvPr id="81" name="Group 81"/>
          <p:cNvGrpSpPr/>
          <p:nvPr/>
        </p:nvGrpSpPr>
        <p:grpSpPr>
          <a:xfrm>
            <a:off x="10018100" y="5055194"/>
            <a:ext cx="910828" cy="933117"/>
            <a:chOff x="0" y="0"/>
            <a:chExt cx="1214438" cy="1244156"/>
          </a:xfrm>
        </p:grpSpPr>
        <p:sp>
          <p:nvSpPr>
            <p:cNvPr id="82" name="Freeform 82"/>
            <p:cNvSpPr/>
            <p:nvPr/>
          </p:nvSpPr>
          <p:spPr>
            <a:xfrm>
              <a:off x="0" y="0"/>
              <a:ext cx="1214437" cy="1244154"/>
            </a:xfrm>
            <a:custGeom>
              <a:avLst/>
              <a:gdLst/>
              <a:ahLst/>
              <a:cxnLst/>
              <a:rect l="l" t="t" r="r" b="b"/>
              <a:pathLst>
                <a:path w="1214437" h="1244154">
                  <a:moveTo>
                    <a:pt x="0" y="0"/>
                  </a:moveTo>
                  <a:lnTo>
                    <a:pt x="1214437" y="0"/>
                  </a:lnTo>
                  <a:lnTo>
                    <a:pt x="1214437" y="1244154"/>
                  </a:lnTo>
                  <a:lnTo>
                    <a:pt x="0" y="1244154"/>
                  </a:lnTo>
                  <a:close/>
                </a:path>
              </a:pathLst>
            </a:custGeom>
            <a:blipFill>
              <a:blip r:embed="rId6">
                <a:alphaModFix amt="0"/>
              </a:blip>
              <a:stretch>
                <a:fillRect l="-81443" r="-81443"/>
              </a:stretch>
            </a:blipFill>
          </p:spPr>
          <p:txBody>
            <a:bodyPr/>
            <a:lstStyle/>
            <a:p>
              <a:endParaRPr lang="en-US"/>
            </a:p>
          </p:txBody>
        </p:sp>
        <p:sp>
          <p:nvSpPr>
            <p:cNvPr id="83" name="TextBox 83"/>
            <p:cNvSpPr txBox="1"/>
            <p:nvPr/>
          </p:nvSpPr>
          <p:spPr>
            <a:xfrm>
              <a:off x="0" y="-19050"/>
              <a:ext cx="1214438" cy="1263206"/>
            </a:xfrm>
            <a:prstGeom prst="rect">
              <a:avLst/>
            </a:prstGeom>
          </p:spPr>
          <p:txBody>
            <a:bodyPr lIns="0" tIns="0" rIns="0" bIns="0" rtlCol="0" anchor="ctr"/>
            <a:lstStyle/>
            <a:p>
              <a:pPr algn="ctr">
                <a:lnSpc>
                  <a:spcPts val="5040"/>
                </a:lnSpc>
              </a:pPr>
              <a:r>
                <a:rPr lang="en-US" sz="4200" b="1">
                  <a:solidFill>
                    <a:srgbClr val="FFFFFF"/>
                  </a:solidFill>
                  <a:latin typeface="Times New Roman Bold"/>
                  <a:ea typeface="Times New Roman Bold"/>
                  <a:cs typeface="Times New Roman Bold"/>
                  <a:sym typeface="Times New Roman Bold"/>
                </a:rPr>
                <a:t>6</a:t>
              </a:r>
            </a:p>
          </p:txBody>
        </p:sp>
      </p:grpSp>
      <p:grpSp>
        <p:nvGrpSpPr>
          <p:cNvPr id="84" name="Group 84"/>
          <p:cNvGrpSpPr/>
          <p:nvPr/>
        </p:nvGrpSpPr>
        <p:grpSpPr>
          <a:xfrm>
            <a:off x="11060173" y="3461888"/>
            <a:ext cx="6202166" cy="761925"/>
            <a:chOff x="0" y="0"/>
            <a:chExt cx="8269554" cy="1015900"/>
          </a:xfrm>
        </p:grpSpPr>
        <p:sp>
          <p:nvSpPr>
            <p:cNvPr id="85" name="Freeform 85"/>
            <p:cNvSpPr/>
            <p:nvPr/>
          </p:nvSpPr>
          <p:spPr>
            <a:xfrm>
              <a:off x="0" y="0"/>
              <a:ext cx="8269555" cy="1015902"/>
            </a:xfrm>
            <a:custGeom>
              <a:avLst/>
              <a:gdLst/>
              <a:ahLst/>
              <a:cxnLst/>
              <a:rect l="l" t="t" r="r" b="b"/>
              <a:pathLst>
                <a:path w="8269555" h="1015902">
                  <a:moveTo>
                    <a:pt x="0" y="0"/>
                  </a:moveTo>
                  <a:lnTo>
                    <a:pt x="8269555" y="0"/>
                  </a:lnTo>
                  <a:lnTo>
                    <a:pt x="8269555" y="1015902"/>
                  </a:lnTo>
                  <a:lnTo>
                    <a:pt x="0" y="1015902"/>
                  </a:lnTo>
                  <a:close/>
                </a:path>
              </a:pathLst>
            </a:custGeom>
            <a:blipFill>
              <a:blip r:embed="rId6">
                <a:alphaModFix amt="0"/>
              </a:blip>
              <a:stretch>
                <a:fillRect t="-108610" b="-108610"/>
              </a:stretch>
            </a:blipFill>
          </p:spPr>
          <p:txBody>
            <a:bodyPr/>
            <a:lstStyle/>
            <a:p>
              <a:endParaRPr lang="en-US"/>
            </a:p>
          </p:txBody>
        </p:sp>
        <p:sp>
          <p:nvSpPr>
            <p:cNvPr id="86" name="TextBox 86"/>
            <p:cNvSpPr txBox="1"/>
            <p:nvPr/>
          </p:nvSpPr>
          <p:spPr>
            <a:xfrm>
              <a:off x="0" y="-28575"/>
              <a:ext cx="8269554" cy="1044475"/>
            </a:xfrm>
            <a:prstGeom prst="rect">
              <a:avLst/>
            </a:prstGeom>
          </p:spPr>
          <p:txBody>
            <a:bodyPr lIns="0" tIns="0" rIns="0" bIns="0" rtlCol="0" anchor="ctr"/>
            <a:lstStyle/>
            <a:p>
              <a:pPr algn="l">
                <a:lnSpc>
                  <a:spcPts val="4320"/>
                </a:lnSpc>
              </a:pPr>
              <a:r>
                <a:rPr lang="en-US" sz="3600">
                  <a:solidFill>
                    <a:srgbClr val="000000"/>
                  </a:solidFill>
                  <a:latin typeface="Arial"/>
                  <a:ea typeface="Arial"/>
                  <a:cs typeface="Arial"/>
                  <a:sym typeface="Arial"/>
                </a:rPr>
                <a:t>Mô phỏng và thực thi</a:t>
              </a:r>
            </a:p>
          </p:txBody>
        </p:sp>
      </p:grpSp>
      <p:sp>
        <p:nvSpPr>
          <p:cNvPr id="87" name="Freeform 87"/>
          <p:cNvSpPr/>
          <p:nvPr/>
        </p:nvSpPr>
        <p:spPr>
          <a:xfrm>
            <a:off x="9786452" y="6633000"/>
            <a:ext cx="6732661" cy="1460659"/>
          </a:xfrm>
          <a:custGeom>
            <a:avLst/>
            <a:gdLst/>
            <a:ahLst/>
            <a:cxnLst/>
            <a:rect l="l" t="t" r="r" b="b"/>
            <a:pathLst>
              <a:path w="6732661" h="1460659">
                <a:moveTo>
                  <a:pt x="0" y="0"/>
                </a:moveTo>
                <a:lnTo>
                  <a:pt x="6732660" y="0"/>
                </a:lnTo>
                <a:lnTo>
                  <a:pt x="6732660" y="1460659"/>
                </a:lnTo>
                <a:lnTo>
                  <a:pt x="0" y="1460659"/>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88" name="Freeform 88"/>
          <p:cNvSpPr/>
          <p:nvPr/>
        </p:nvSpPr>
        <p:spPr>
          <a:xfrm>
            <a:off x="9786452" y="8349301"/>
            <a:ext cx="6732661" cy="1460659"/>
          </a:xfrm>
          <a:custGeom>
            <a:avLst/>
            <a:gdLst/>
            <a:ahLst/>
            <a:cxnLst/>
            <a:rect l="l" t="t" r="r" b="b"/>
            <a:pathLst>
              <a:path w="6732661" h="1460659">
                <a:moveTo>
                  <a:pt x="0" y="0"/>
                </a:moveTo>
                <a:lnTo>
                  <a:pt x="6732660" y="0"/>
                </a:lnTo>
                <a:lnTo>
                  <a:pt x="6732660" y="1460658"/>
                </a:lnTo>
                <a:lnTo>
                  <a:pt x="0" y="1460658"/>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lang="en-US"/>
          </a:p>
        </p:txBody>
      </p:sp>
      <p:grpSp>
        <p:nvGrpSpPr>
          <p:cNvPr id="89" name="Group 89"/>
          <p:cNvGrpSpPr/>
          <p:nvPr/>
        </p:nvGrpSpPr>
        <p:grpSpPr>
          <a:xfrm>
            <a:off x="10018100" y="6899158"/>
            <a:ext cx="910876" cy="918877"/>
            <a:chOff x="0" y="0"/>
            <a:chExt cx="1214501" cy="1225169"/>
          </a:xfrm>
        </p:grpSpPr>
        <p:sp>
          <p:nvSpPr>
            <p:cNvPr id="90" name="Freeform 90"/>
            <p:cNvSpPr/>
            <p:nvPr/>
          </p:nvSpPr>
          <p:spPr>
            <a:xfrm>
              <a:off x="0" y="0"/>
              <a:ext cx="1214501" cy="1225169"/>
            </a:xfrm>
            <a:custGeom>
              <a:avLst/>
              <a:gdLst/>
              <a:ahLst/>
              <a:cxnLst/>
              <a:rect l="l" t="t" r="r" b="b"/>
              <a:pathLst>
                <a:path w="1214501" h="1225169">
                  <a:moveTo>
                    <a:pt x="0" y="612521"/>
                  </a:moveTo>
                  <a:cubicBezTo>
                    <a:pt x="0" y="274320"/>
                    <a:pt x="271907" y="0"/>
                    <a:pt x="607187" y="0"/>
                  </a:cubicBezTo>
                  <a:cubicBezTo>
                    <a:pt x="942467" y="0"/>
                    <a:pt x="1214501" y="274320"/>
                    <a:pt x="1214501" y="612521"/>
                  </a:cubicBezTo>
                  <a:cubicBezTo>
                    <a:pt x="1214501" y="950722"/>
                    <a:pt x="942594" y="1225169"/>
                    <a:pt x="607187" y="1225169"/>
                  </a:cubicBezTo>
                  <a:cubicBezTo>
                    <a:pt x="271780" y="1225169"/>
                    <a:pt x="0" y="950849"/>
                    <a:pt x="0" y="612521"/>
                  </a:cubicBezTo>
                  <a:close/>
                </a:path>
              </a:pathLst>
            </a:custGeom>
            <a:solidFill>
              <a:srgbClr val="10CC57"/>
            </a:solidFill>
          </p:spPr>
          <p:txBody>
            <a:bodyPr/>
            <a:lstStyle/>
            <a:p>
              <a:endParaRPr lang="en-US"/>
            </a:p>
          </p:txBody>
        </p:sp>
      </p:grpSp>
      <p:grpSp>
        <p:nvGrpSpPr>
          <p:cNvPr id="91" name="Group 91"/>
          <p:cNvGrpSpPr/>
          <p:nvPr/>
        </p:nvGrpSpPr>
        <p:grpSpPr>
          <a:xfrm>
            <a:off x="10018100" y="6884870"/>
            <a:ext cx="910828" cy="933117"/>
            <a:chOff x="0" y="0"/>
            <a:chExt cx="1214438" cy="1244156"/>
          </a:xfrm>
        </p:grpSpPr>
        <p:sp>
          <p:nvSpPr>
            <p:cNvPr id="92" name="Freeform 92"/>
            <p:cNvSpPr/>
            <p:nvPr/>
          </p:nvSpPr>
          <p:spPr>
            <a:xfrm>
              <a:off x="0" y="0"/>
              <a:ext cx="1214437" cy="1244154"/>
            </a:xfrm>
            <a:custGeom>
              <a:avLst/>
              <a:gdLst/>
              <a:ahLst/>
              <a:cxnLst/>
              <a:rect l="l" t="t" r="r" b="b"/>
              <a:pathLst>
                <a:path w="1214437" h="1244154">
                  <a:moveTo>
                    <a:pt x="0" y="0"/>
                  </a:moveTo>
                  <a:lnTo>
                    <a:pt x="1214437" y="0"/>
                  </a:lnTo>
                  <a:lnTo>
                    <a:pt x="1214437" y="1244154"/>
                  </a:lnTo>
                  <a:lnTo>
                    <a:pt x="0" y="1244154"/>
                  </a:lnTo>
                  <a:close/>
                </a:path>
              </a:pathLst>
            </a:custGeom>
            <a:blipFill>
              <a:blip r:embed="rId6">
                <a:alphaModFix amt="0"/>
              </a:blip>
              <a:stretch>
                <a:fillRect l="-81443" r="-81443"/>
              </a:stretch>
            </a:blipFill>
          </p:spPr>
          <p:txBody>
            <a:bodyPr/>
            <a:lstStyle/>
            <a:p>
              <a:endParaRPr lang="en-US"/>
            </a:p>
          </p:txBody>
        </p:sp>
        <p:sp>
          <p:nvSpPr>
            <p:cNvPr id="93" name="TextBox 93"/>
            <p:cNvSpPr txBox="1"/>
            <p:nvPr/>
          </p:nvSpPr>
          <p:spPr>
            <a:xfrm>
              <a:off x="0" y="-19050"/>
              <a:ext cx="1214438" cy="1263206"/>
            </a:xfrm>
            <a:prstGeom prst="rect">
              <a:avLst/>
            </a:prstGeom>
          </p:spPr>
          <p:txBody>
            <a:bodyPr lIns="0" tIns="0" rIns="0" bIns="0" rtlCol="0" anchor="ctr"/>
            <a:lstStyle/>
            <a:p>
              <a:pPr algn="ctr">
                <a:lnSpc>
                  <a:spcPts val="5040"/>
                </a:lnSpc>
              </a:pPr>
              <a:r>
                <a:rPr lang="en-US" sz="4200" b="1">
                  <a:solidFill>
                    <a:srgbClr val="FFFFFF"/>
                  </a:solidFill>
                  <a:latin typeface="Times New Roman Bold"/>
                  <a:ea typeface="Times New Roman Bold"/>
                  <a:cs typeface="Times New Roman Bold"/>
                  <a:sym typeface="Times New Roman Bold"/>
                </a:rPr>
                <a:t>7</a:t>
              </a:r>
            </a:p>
          </p:txBody>
        </p:sp>
      </p:grpSp>
      <p:grpSp>
        <p:nvGrpSpPr>
          <p:cNvPr id="94" name="Group 94"/>
          <p:cNvGrpSpPr/>
          <p:nvPr/>
        </p:nvGrpSpPr>
        <p:grpSpPr>
          <a:xfrm>
            <a:off x="10018100" y="8550383"/>
            <a:ext cx="910876" cy="918877"/>
            <a:chOff x="0" y="0"/>
            <a:chExt cx="1214501" cy="1225169"/>
          </a:xfrm>
        </p:grpSpPr>
        <p:sp>
          <p:nvSpPr>
            <p:cNvPr id="95" name="Freeform 95"/>
            <p:cNvSpPr/>
            <p:nvPr/>
          </p:nvSpPr>
          <p:spPr>
            <a:xfrm>
              <a:off x="0" y="0"/>
              <a:ext cx="1214501" cy="1225169"/>
            </a:xfrm>
            <a:custGeom>
              <a:avLst/>
              <a:gdLst/>
              <a:ahLst/>
              <a:cxnLst/>
              <a:rect l="l" t="t" r="r" b="b"/>
              <a:pathLst>
                <a:path w="1214501" h="1225169">
                  <a:moveTo>
                    <a:pt x="0" y="612521"/>
                  </a:moveTo>
                  <a:cubicBezTo>
                    <a:pt x="0" y="274320"/>
                    <a:pt x="271907" y="0"/>
                    <a:pt x="607187" y="0"/>
                  </a:cubicBezTo>
                  <a:cubicBezTo>
                    <a:pt x="942467" y="0"/>
                    <a:pt x="1214501" y="274320"/>
                    <a:pt x="1214501" y="612521"/>
                  </a:cubicBezTo>
                  <a:cubicBezTo>
                    <a:pt x="1214501" y="950722"/>
                    <a:pt x="942594" y="1225169"/>
                    <a:pt x="607187" y="1225169"/>
                  </a:cubicBezTo>
                  <a:cubicBezTo>
                    <a:pt x="271780" y="1225169"/>
                    <a:pt x="0" y="950849"/>
                    <a:pt x="0" y="612521"/>
                  </a:cubicBezTo>
                  <a:close/>
                </a:path>
              </a:pathLst>
            </a:custGeom>
            <a:solidFill>
              <a:srgbClr val="10CC57"/>
            </a:solidFill>
          </p:spPr>
          <p:txBody>
            <a:bodyPr/>
            <a:lstStyle/>
            <a:p>
              <a:endParaRPr lang="en-US"/>
            </a:p>
          </p:txBody>
        </p:sp>
      </p:grpSp>
      <p:grpSp>
        <p:nvGrpSpPr>
          <p:cNvPr id="96" name="Group 96"/>
          <p:cNvGrpSpPr/>
          <p:nvPr/>
        </p:nvGrpSpPr>
        <p:grpSpPr>
          <a:xfrm>
            <a:off x="10018100" y="8536095"/>
            <a:ext cx="910828" cy="933117"/>
            <a:chOff x="0" y="0"/>
            <a:chExt cx="1214438" cy="1244156"/>
          </a:xfrm>
        </p:grpSpPr>
        <p:sp>
          <p:nvSpPr>
            <p:cNvPr id="97" name="Freeform 97"/>
            <p:cNvSpPr/>
            <p:nvPr/>
          </p:nvSpPr>
          <p:spPr>
            <a:xfrm>
              <a:off x="0" y="0"/>
              <a:ext cx="1214437" cy="1244154"/>
            </a:xfrm>
            <a:custGeom>
              <a:avLst/>
              <a:gdLst/>
              <a:ahLst/>
              <a:cxnLst/>
              <a:rect l="l" t="t" r="r" b="b"/>
              <a:pathLst>
                <a:path w="1214437" h="1244154">
                  <a:moveTo>
                    <a:pt x="0" y="0"/>
                  </a:moveTo>
                  <a:lnTo>
                    <a:pt x="1214437" y="0"/>
                  </a:lnTo>
                  <a:lnTo>
                    <a:pt x="1214437" y="1244154"/>
                  </a:lnTo>
                  <a:lnTo>
                    <a:pt x="0" y="1244154"/>
                  </a:lnTo>
                  <a:close/>
                </a:path>
              </a:pathLst>
            </a:custGeom>
            <a:blipFill>
              <a:blip r:embed="rId6">
                <a:alphaModFix amt="0"/>
              </a:blip>
              <a:stretch>
                <a:fillRect l="-81443" r="-81443"/>
              </a:stretch>
            </a:blipFill>
          </p:spPr>
          <p:txBody>
            <a:bodyPr/>
            <a:lstStyle/>
            <a:p>
              <a:endParaRPr lang="en-US"/>
            </a:p>
          </p:txBody>
        </p:sp>
        <p:sp>
          <p:nvSpPr>
            <p:cNvPr id="98" name="TextBox 98"/>
            <p:cNvSpPr txBox="1"/>
            <p:nvPr/>
          </p:nvSpPr>
          <p:spPr>
            <a:xfrm>
              <a:off x="0" y="-19050"/>
              <a:ext cx="1214438" cy="1263206"/>
            </a:xfrm>
            <a:prstGeom prst="rect">
              <a:avLst/>
            </a:prstGeom>
          </p:spPr>
          <p:txBody>
            <a:bodyPr lIns="0" tIns="0" rIns="0" bIns="0" rtlCol="0" anchor="ctr"/>
            <a:lstStyle/>
            <a:p>
              <a:pPr algn="ctr">
                <a:lnSpc>
                  <a:spcPts val="5040"/>
                </a:lnSpc>
              </a:pPr>
              <a:r>
                <a:rPr lang="en-US" sz="4200" b="1">
                  <a:solidFill>
                    <a:srgbClr val="FFFFFF"/>
                  </a:solidFill>
                  <a:latin typeface="Times New Roman Bold"/>
                  <a:ea typeface="Times New Roman Bold"/>
                  <a:cs typeface="Times New Roman Bold"/>
                  <a:sym typeface="Times New Roman Bold"/>
                </a:rPr>
                <a:t>8</a:t>
              </a:r>
            </a:p>
          </p:txBody>
        </p:sp>
      </p:grpSp>
      <p:sp>
        <p:nvSpPr>
          <p:cNvPr id="99" name="TextBox 99"/>
          <p:cNvSpPr txBox="1"/>
          <p:nvPr/>
        </p:nvSpPr>
        <p:spPr>
          <a:xfrm>
            <a:off x="17509712" y="9143409"/>
            <a:ext cx="254317" cy="1143000"/>
          </a:xfrm>
          <a:prstGeom prst="rect">
            <a:avLst/>
          </a:prstGeom>
        </p:spPr>
        <p:txBody>
          <a:bodyPr lIns="0" tIns="0" rIns="0" bIns="0" rtlCol="0" anchor="t">
            <a:spAutoFit/>
          </a:bodyPr>
          <a:lstStyle/>
          <a:p>
            <a:pPr algn="ctr">
              <a:lnSpc>
                <a:spcPts val="4320"/>
              </a:lnSpc>
            </a:pPr>
            <a:r>
              <a:rPr lang="en-US" sz="3600">
                <a:solidFill>
                  <a:srgbClr val="000000"/>
                </a:solidFill>
                <a:latin typeface="Arial"/>
                <a:ea typeface="Arial"/>
                <a:cs typeface="Arial"/>
                <a:sym typeface="Arial"/>
              </a:rPr>
              <a:t>2</a:t>
            </a:r>
          </a:p>
          <a:p>
            <a:pPr algn="ctr">
              <a:lnSpc>
                <a:spcPts val="4320"/>
              </a:lnSpc>
            </a:pPr>
            <a:endParaRPr lang="en-US" sz="3600">
              <a:solidFill>
                <a:srgbClr val="000000"/>
              </a:solidFill>
              <a:latin typeface="Arial"/>
              <a:ea typeface="Arial"/>
              <a:cs typeface="Arial"/>
              <a:sym typeface="Arial"/>
            </a:endParaRPr>
          </a:p>
        </p:txBody>
      </p:sp>
      <p:grpSp>
        <p:nvGrpSpPr>
          <p:cNvPr id="100" name="Group 100"/>
          <p:cNvGrpSpPr/>
          <p:nvPr/>
        </p:nvGrpSpPr>
        <p:grpSpPr>
          <a:xfrm>
            <a:off x="11057134" y="5160159"/>
            <a:ext cx="6202166" cy="761925"/>
            <a:chOff x="0" y="0"/>
            <a:chExt cx="8269554" cy="1015900"/>
          </a:xfrm>
        </p:grpSpPr>
        <p:sp>
          <p:nvSpPr>
            <p:cNvPr id="101" name="Freeform 101"/>
            <p:cNvSpPr/>
            <p:nvPr/>
          </p:nvSpPr>
          <p:spPr>
            <a:xfrm>
              <a:off x="0" y="0"/>
              <a:ext cx="8269555" cy="1015902"/>
            </a:xfrm>
            <a:custGeom>
              <a:avLst/>
              <a:gdLst/>
              <a:ahLst/>
              <a:cxnLst/>
              <a:rect l="l" t="t" r="r" b="b"/>
              <a:pathLst>
                <a:path w="8269555" h="1015902">
                  <a:moveTo>
                    <a:pt x="0" y="0"/>
                  </a:moveTo>
                  <a:lnTo>
                    <a:pt x="8269555" y="0"/>
                  </a:lnTo>
                  <a:lnTo>
                    <a:pt x="8269555" y="1015902"/>
                  </a:lnTo>
                  <a:lnTo>
                    <a:pt x="0" y="1015902"/>
                  </a:lnTo>
                  <a:close/>
                </a:path>
              </a:pathLst>
            </a:custGeom>
            <a:blipFill>
              <a:blip r:embed="rId6">
                <a:alphaModFix amt="0"/>
              </a:blip>
              <a:stretch>
                <a:fillRect t="-108610" b="-108610"/>
              </a:stretch>
            </a:blipFill>
          </p:spPr>
          <p:txBody>
            <a:bodyPr/>
            <a:lstStyle/>
            <a:p>
              <a:endParaRPr lang="en-US"/>
            </a:p>
          </p:txBody>
        </p:sp>
        <p:sp>
          <p:nvSpPr>
            <p:cNvPr id="102" name="TextBox 102"/>
            <p:cNvSpPr txBox="1"/>
            <p:nvPr/>
          </p:nvSpPr>
          <p:spPr>
            <a:xfrm>
              <a:off x="0" y="-28575"/>
              <a:ext cx="8269554" cy="1044475"/>
            </a:xfrm>
            <a:prstGeom prst="rect">
              <a:avLst/>
            </a:prstGeom>
          </p:spPr>
          <p:txBody>
            <a:bodyPr lIns="0" tIns="0" rIns="0" bIns="0" rtlCol="0" anchor="ctr"/>
            <a:lstStyle/>
            <a:p>
              <a:pPr algn="l">
                <a:lnSpc>
                  <a:spcPts val="4320"/>
                </a:lnSpc>
              </a:pPr>
              <a:r>
                <a:rPr lang="en-US" sz="3600">
                  <a:solidFill>
                    <a:srgbClr val="FFFFFF"/>
                  </a:solidFill>
                  <a:latin typeface="Arial"/>
                  <a:ea typeface="Arial"/>
                  <a:cs typeface="Arial"/>
                  <a:sym typeface="Arial"/>
                </a:rPr>
                <a:t>Kết quả, đánh giá</a:t>
              </a:r>
            </a:p>
          </p:txBody>
        </p:sp>
      </p:grpSp>
      <p:sp>
        <p:nvSpPr>
          <p:cNvPr id="103" name="TextBox 103"/>
          <p:cNvSpPr txBox="1"/>
          <p:nvPr/>
        </p:nvSpPr>
        <p:spPr>
          <a:xfrm>
            <a:off x="11194144" y="7027374"/>
            <a:ext cx="6732661" cy="571500"/>
          </a:xfrm>
          <a:prstGeom prst="rect">
            <a:avLst/>
          </a:prstGeom>
        </p:spPr>
        <p:txBody>
          <a:bodyPr lIns="0" tIns="0" rIns="0" bIns="0" rtlCol="0" anchor="t">
            <a:spAutoFit/>
          </a:bodyPr>
          <a:lstStyle/>
          <a:p>
            <a:pPr algn="l">
              <a:lnSpc>
                <a:spcPts val="4320"/>
              </a:lnSpc>
              <a:spcBef>
                <a:spcPct val="0"/>
              </a:spcBef>
            </a:pPr>
            <a:r>
              <a:rPr lang="en-US" sz="3600">
                <a:solidFill>
                  <a:srgbClr val="000000"/>
                </a:solidFill>
                <a:latin typeface="Arial"/>
                <a:ea typeface="Arial"/>
                <a:cs typeface="Arial"/>
                <a:sym typeface="Arial"/>
              </a:rPr>
              <a:t>Kết luận</a:t>
            </a:r>
          </a:p>
        </p:txBody>
      </p:sp>
      <p:grpSp>
        <p:nvGrpSpPr>
          <p:cNvPr id="104" name="Group 104"/>
          <p:cNvGrpSpPr/>
          <p:nvPr/>
        </p:nvGrpSpPr>
        <p:grpSpPr>
          <a:xfrm>
            <a:off x="11194144" y="8686847"/>
            <a:ext cx="6202166" cy="761925"/>
            <a:chOff x="0" y="0"/>
            <a:chExt cx="8269554" cy="1015900"/>
          </a:xfrm>
        </p:grpSpPr>
        <p:sp>
          <p:nvSpPr>
            <p:cNvPr id="105" name="Freeform 105"/>
            <p:cNvSpPr/>
            <p:nvPr/>
          </p:nvSpPr>
          <p:spPr>
            <a:xfrm>
              <a:off x="0" y="0"/>
              <a:ext cx="8269555" cy="1015902"/>
            </a:xfrm>
            <a:custGeom>
              <a:avLst/>
              <a:gdLst/>
              <a:ahLst/>
              <a:cxnLst/>
              <a:rect l="l" t="t" r="r" b="b"/>
              <a:pathLst>
                <a:path w="8269555" h="1015902">
                  <a:moveTo>
                    <a:pt x="0" y="0"/>
                  </a:moveTo>
                  <a:lnTo>
                    <a:pt x="8269555" y="0"/>
                  </a:lnTo>
                  <a:lnTo>
                    <a:pt x="8269555" y="1015902"/>
                  </a:lnTo>
                  <a:lnTo>
                    <a:pt x="0" y="1015902"/>
                  </a:lnTo>
                  <a:close/>
                </a:path>
              </a:pathLst>
            </a:custGeom>
            <a:blipFill>
              <a:blip r:embed="rId6">
                <a:alphaModFix amt="0"/>
              </a:blip>
              <a:stretch>
                <a:fillRect t="-108610" b="-108610"/>
              </a:stretch>
            </a:blipFill>
          </p:spPr>
          <p:txBody>
            <a:bodyPr/>
            <a:lstStyle/>
            <a:p>
              <a:endParaRPr lang="en-US"/>
            </a:p>
          </p:txBody>
        </p:sp>
        <p:sp>
          <p:nvSpPr>
            <p:cNvPr id="106" name="TextBox 106"/>
            <p:cNvSpPr txBox="1"/>
            <p:nvPr/>
          </p:nvSpPr>
          <p:spPr>
            <a:xfrm>
              <a:off x="0" y="-28575"/>
              <a:ext cx="8269554" cy="1044475"/>
            </a:xfrm>
            <a:prstGeom prst="rect">
              <a:avLst/>
            </a:prstGeom>
          </p:spPr>
          <p:txBody>
            <a:bodyPr lIns="0" tIns="0" rIns="0" bIns="0" rtlCol="0" anchor="ctr"/>
            <a:lstStyle/>
            <a:p>
              <a:pPr algn="l">
                <a:lnSpc>
                  <a:spcPts val="4320"/>
                </a:lnSpc>
              </a:pPr>
              <a:r>
                <a:rPr lang="en-US" sz="3600">
                  <a:solidFill>
                    <a:srgbClr val="FFFFFF"/>
                  </a:solidFill>
                  <a:latin typeface="Arial"/>
                  <a:ea typeface="Arial"/>
                  <a:cs typeface="Arial"/>
                  <a:sym typeface="Arial"/>
                </a:rPr>
                <a:t>Tài liệu thiết kế</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70" y="-2318490"/>
            <a:ext cx="18150850" cy="569719"/>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grpSp>
        <p:nvGrpSpPr>
          <p:cNvPr id="3" name="Group 3"/>
          <p:cNvGrpSpPr/>
          <p:nvPr/>
        </p:nvGrpSpPr>
        <p:grpSpPr>
          <a:xfrm>
            <a:off x="68570" y="2124"/>
            <a:ext cx="18291715" cy="10295477"/>
            <a:chOff x="0" y="0"/>
            <a:chExt cx="24388953" cy="13727303"/>
          </a:xfrm>
        </p:grpSpPr>
        <p:sp>
          <p:nvSpPr>
            <p:cNvPr id="4" name="Freeform 4"/>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5" name="Group 5"/>
          <p:cNvGrpSpPr/>
          <p:nvPr/>
        </p:nvGrpSpPr>
        <p:grpSpPr>
          <a:xfrm>
            <a:off x="0" y="2124"/>
            <a:ext cx="18291715" cy="10295477"/>
            <a:chOff x="0" y="0"/>
            <a:chExt cx="24388953" cy="13727303"/>
          </a:xfrm>
        </p:grpSpPr>
        <p:sp>
          <p:nvSpPr>
            <p:cNvPr id="6" name="Freeform 6"/>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7" name="Group 7"/>
          <p:cNvGrpSpPr/>
          <p:nvPr/>
        </p:nvGrpSpPr>
        <p:grpSpPr>
          <a:xfrm>
            <a:off x="-36214" y="0"/>
            <a:ext cx="6084570" cy="10287000"/>
            <a:chOff x="0" y="0"/>
            <a:chExt cx="8112760" cy="13716000"/>
          </a:xfrm>
        </p:grpSpPr>
        <p:sp>
          <p:nvSpPr>
            <p:cNvPr id="8" name="Freeform 8"/>
            <p:cNvSpPr/>
            <p:nvPr/>
          </p:nvSpPr>
          <p:spPr>
            <a:xfrm>
              <a:off x="0" y="0"/>
              <a:ext cx="8112760" cy="13716000"/>
            </a:xfrm>
            <a:custGeom>
              <a:avLst/>
              <a:gdLst/>
              <a:ahLst/>
              <a:cxnLst/>
              <a:rect l="l" t="t" r="r" b="b"/>
              <a:pathLst>
                <a:path w="8112760" h="13716000">
                  <a:moveTo>
                    <a:pt x="0" y="0"/>
                  </a:moveTo>
                  <a:lnTo>
                    <a:pt x="8112760" y="0"/>
                  </a:lnTo>
                  <a:lnTo>
                    <a:pt x="8112760" y="13716000"/>
                  </a:lnTo>
                  <a:lnTo>
                    <a:pt x="0" y="13716000"/>
                  </a:lnTo>
                  <a:close/>
                </a:path>
              </a:pathLst>
            </a:custGeom>
            <a:gradFill rotWithShape="1">
              <a:gsLst>
                <a:gs pos="0">
                  <a:srgbClr val="38EF7D">
                    <a:alpha val="100000"/>
                  </a:srgbClr>
                </a:gs>
                <a:gs pos="100000">
                  <a:srgbClr val="11998E">
                    <a:alpha val="100000"/>
                  </a:srgbClr>
                </a:gs>
              </a:gsLst>
              <a:lin ang="5400000"/>
            </a:gradFill>
          </p:spPr>
          <p:txBody>
            <a:bodyPr/>
            <a:lstStyle/>
            <a:p>
              <a:endParaRPr lang="en-US"/>
            </a:p>
          </p:txBody>
        </p:sp>
      </p:grpSp>
      <p:grpSp>
        <p:nvGrpSpPr>
          <p:cNvPr id="9" name="Group 9"/>
          <p:cNvGrpSpPr/>
          <p:nvPr/>
        </p:nvGrpSpPr>
        <p:grpSpPr>
          <a:xfrm rot="-10800000">
            <a:off x="-46892" y="0"/>
            <a:ext cx="2707196" cy="10287000"/>
            <a:chOff x="0" y="0"/>
            <a:chExt cx="3609594" cy="13716000"/>
          </a:xfrm>
        </p:grpSpPr>
        <p:sp>
          <p:nvSpPr>
            <p:cNvPr id="10" name="Freeform 10"/>
            <p:cNvSpPr/>
            <p:nvPr/>
          </p:nvSpPr>
          <p:spPr>
            <a:xfrm flipH="1">
              <a:off x="0" y="0"/>
              <a:ext cx="3609594" cy="13716000"/>
            </a:xfrm>
            <a:custGeom>
              <a:avLst/>
              <a:gdLst/>
              <a:ahLst/>
              <a:cxnLst/>
              <a:rect l="l" t="t" r="r" b="b"/>
              <a:pathLst>
                <a:path w="3609594" h="13716000">
                  <a:moveTo>
                    <a:pt x="0" y="0"/>
                  </a:moveTo>
                  <a:lnTo>
                    <a:pt x="3609594" y="0"/>
                  </a:lnTo>
                  <a:lnTo>
                    <a:pt x="3609594" y="13716000"/>
                  </a:lnTo>
                  <a:lnTo>
                    <a:pt x="0" y="13716000"/>
                  </a:lnTo>
                  <a:close/>
                </a:path>
              </a:pathLst>
            </a:custGeom>
            <a:blipFill>
              <a:blip r:embed="rId2"/>
              <a:stretch>
                <a:fillRect l="-2907" r="-2907"/>
              </a:stretch>
            </a:blipFill>
          </p:spPr>
          <p:txBody>
            <a:bodyPr/>
            <a:lstStyle/>
            <a:p>
              <a:endParaRPr lang="en-US"/>
            </a:p>
          </p:txBody>
        </p:sp>
      </p:grpSp>
      <p:sp>
        <p:nvSpPr>
          <p:cNvPr id="11" name="TextBox 11"/>
          <p:cNvSpPr txBox="1"/>
          <p:nvPr/>
        </p:nvSpPr>
        <p:spPr>
          <a:xfrm rot="-5400000">
            <a:off x="-2642312" y="6723250"/>
            <a:ext cx="6122451" cy="458333"/>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12" name="Group 12"/>
          <p:cNvGrpSpPr/>
          <p:nvPr/>
        </p:nvGrpSpPr>
        <p:grpSpPr>
          <a:xfrm>
            <a:off x="6719983" y="293303"/>
            <a:ext cx="4848130" cy="958024"/>
            <a:chOff x="0" y="0"/>
            <a:chExt cx="6464173" cy="1277366"/>
          </a:xfrm>
        </p:grpSpPr>
        <p:sp>
          <p:nvSpPr>
            <p:cNvPr id="13" name="Freeform 13"/>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2700000"/>
            </a:gradFill>
          </p:spPr>
          <p:txBody>
            <a:bodyPr/>
            <a:lstStyle/>
            <a:p>
              <a:endParaRPr lang="en-US"/>
            </a:p>
          </p:txBody>
        </p:sp>
      </p:grpSp>
      <p:grpSp>
        <p:nvGrpSpPr>
          <p:cNvPr id="14" name="Group 14"/>
          <p:cNvGrpSpPr/>
          <p:nvPr/>
        </p:nvGrpSpPr>
        <p:grpSpPr>
          <a:xfrm>
            <a:off x="6807460" y="371332"/>
            <a:ext cx="4673060" cy="801815"/>
            <a:chOff x="0" y="0"/>
            <a:chExt cx="6230747" cy="1069086"/>
          </a:xfrm>
        </p:grpSpPr>
        <p:sp>
          <p:nvSpPr>
            <p:cNvPr id="15" name="Freeform 15"/>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en-US"/>
            </a:p>
          </p:txBody>
        </p:sp>
      </p:grpSp>
      <p:grpSp>
        <p:nvGrpSpPr>
          <p:cNvPr id="16" name="Group 16"/>
          <p:cNvGrpSpPr/>
          <p:nvPr/>
        </p:nvGrpSpPr>
        <p:grpSpPr>
          <a:xfrm>
            <a:off x="9436446" y="197910"/>
            <a:ext cx="1163288" cy="1152620"/>
            <a:chOff x="0" y="0"/>
            <a:chExt cx="1551051" cy="1536827"/>
          </a:xfrm>
        </p:grpSpPr>
        <p:sp>
          <p:nvSpPr>
            <p:cNvPr id="17" name="Freeform 17"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211" r="-210"/>
              </a:stretch>
            </a:blipFill>
          </p:spPr>
          <p:txBody>
            <a:bodyPr/>
            <a:lstStyle/>
            <a:p>
              <a:endParaRPr lang="en-US"/>
            </a:p>
          </p:txBody>
        </p:sp>
      </p:grpSp>
      <p:grpSp>
        <p:nvGrpSpPr>
          <p:cNvPr id="18" name="Group 18"/>
          <p:cNvGrpSpPr/>
          <p:nvPr/>
        </p:nvGrpSpPr>
        <p:grpSpPr>
          <a:xfrm>
            <a:off x="7688247" y="233439"/>
            <a:ext cx="1307497" cy="1081564"/>
            <a:chOff x="0" y="0"/>
            <a:chExt cx="1743329" cy="1442085"/>
          </a:xfrm>
        </p:grpSpPr>
        <p:sp>
          <p:nvSpPr>
            <p:cNvPr id="19" name="Freeform 19"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l="-38" r="-37"/>
              </a:stretch>
            </a:blipFill>
          </p:spPr>
          <p:txBody>
            <a:bodyPr/>
            <a:lstStyle/>
            <a:p>
              <a:endParaRPr lang="en-US"/>
            </a:p>
          </p:txBody>
        </p:sp>
      </p:grpSp>
      <p:grpSp>
        <p:nvGrpSpPr>
          <p:cNvPr id="20" name="Group 20"/>
          <p:cNvGrpSpPr/>
          <p:nvPr/>
        </p:nvGrpSpPr>
        <p:grpSpPr>
          <a:xfrm>
            <a:off x="1705232" y="2175643"/>
            <a:ext cx="15316010" cy="6434518"/>
            <a:chOff x="0" y="0"/>
            <a:chExt cx="20421346" cy="8579358"/>
          </a:xfrm>
        </p:grpSpPr>
        <p:sp>
          <p:nvSpPr>
            <p:cNvPr id="21" name="Freeform 21"/>
            <p:cNvSpPr/>
            <p:nvPr/>
          </p:nvSpPr>
          <p:spPr>
            <a:xfrm>
              <a:off x="0" y="0"/>
              <a:ext cx="20421346" cy="8579358"/>
            </a:xfrm>
            <a:custGeom>
              <a:avLst/>
              <a:gdLst/>
              <a:ahLst/>
              <a:cxnLst/>
              <a:rect l="l" t="t" r="r" b="b"/>
              <a:pathLst>
                <a:path w="20421346" h="8579358">
                  <a:moveTo>
                    <a:pt x="0" y="231775"/>
                  </a:moveTo>
                  <a:cubicBezTo>
                    <a:pt x="0" y="103759"/>
                    <a:pt x="103759" y="0"/>
                    <a:pt x="231775" y="0"/>
                  </a:cubicBezTo>
                  <a:lnTo>
                    <a:pt x="20189571" y="0"/>
                  </a:lnTo>
                  <a:cubicBezTo>
                    <a:pt x="20317586" y="0"/>
                    <a:pt x="20421346" y="103759"/>
                    <a:pt x="20421346" y="231775"/>
                  </a:cubicBezTo>
                  <a:lnTo>
                    <a:pt x="20421346" y="8347583"/>
                  </a:lnTo>
                  <a:cubicBezTo>
                    <a:pt x="20421346" y="8475599"/>
                    <a:pt x="20317586" y="8579358"/>
                    <a:pt x="20189571" y="8579358"/>
                  </a:cubicBezTo>
                  <a:lnTo>
                    <a:pt x="231775" y="8579358"/>
                  </a:lnTo>
                  <a:cubicBezTo>
                    <a:pt x="103759" y="8579358"/>
                    <a:pt x="0" y="8475599"/>
                    <a:pt x="0" y="8347583"/>
                  </a:cubicBezTo>
                  <a:close/>
                </a:path>
              </a:pathLst>
            </a:custGeom>
            <a:blipFill>
              <a:blip r:embed="rId5"/>
              <a:stretch>
                <a:fillRect l="-194" r="-194"/>
              </a:stretch>
            </a:blipFill>
          </p:spPr>
          <p:txBody>
            <a:bodyPr/>
            <a:lstStyle/>
            <a:p>
              <a:endParaRPr lang="en-US"/>
            </a:p>
          </p:txBody>
        </p:sp>
      </p:grpSp>
      <p:grpSp>
        <p:nvGrpSpPr>
          <p:cNvPr id="22" name="Group 22"/>
          <p:cNvGrpSpPr/>
          <p:nvPr/>
        </p:nvGrpSpPr>
        <p:grpSpPr>
          <a:xfrm>
            <a:off x="1705232" y="2175643"/>
            <a:ext cx="15316010" cy="6434518"/>
            <a:chOff x="0" y="0"/>
            <a:chExt cx="20421346" cy="8579358"/>
          </a:xfrm>
        </p:grpSpPr>
        <p:sp>
          <p:nvSpPr>
            <p:cNvPr id="23" name="Freeform 23"/>
            <p:cNvSpPr/>
            <p:nvPr/>
          </p:nvSpPr>
          <p:spPr>
            <a:xfrm>
              <a:off x="0" y="0"/>
              <a:ext cx="20421346" cy="8579358"/>
            </a:xfrm>
            <a:custGeom>
              <a:avLst/>
              <a:gdLst/>
              <a:ahLst/>
              <a:cxnLst/>
              <a:rect l="l" t="t" r="r" b="b"/>
              <a:pathLst>
                <a:path w="20421346" h="8579358">
                  <a:moveTo>
                    <a:pt x="0" y="231775"/>
                  </a:moveTo>
                  <a:cubicBezTo>
                    <a:pt x="0" y="103759"/>
                    <a:pt x="103759" y="0"/>
                    <a:pt x="231775" y="0"/>
                  </a:cubicBezTo>
                  <a:lnTo>
                    <a:pt x="20189571" y="0"/>
                  </a:lnTo>
                  <a:cubicBezTo>
                    <a:pt x="20317586" y="0"/>
                    <a:pt x="20421346" y="103759"/>
                    <a:pt x="20421346" y="231775"/>
                  </a:cubicBezTo>
                  <a:lnTo>
                    <a:pt x="20421346" y="8347583"/>
                  </a:lnTo>
                  <a:cubicBezTo>
                    <a:pt x="20421346" y="8475599"/>
                    <a:pt x="20317586" y="8579358"/>
                    <a:pt x="20189571" y="8579358"/>
                  </a:cubicBezTo>
                  <a:lnTo>
                    <a:pt x="231775" y="8579358"/>
                  </a:lnTo>
                  <a:cubicBezTo>
                    <a:pt x="103759" y="8579358"/>
                    <a:pt x="0" y="8475599"/>
                    <a:pt x="0" y="8347583"/>
                  </a:cubicBezTo>
                  <a:close/>
                </a:path>
              </a:pathLst>
            </a:custGeom>
            <a:gradFill rotWithShape="1">
              <a:gsLst>
                <a:gs pos="0">
                  <a:srgbClr val="38EF7D">
                    <a:alpha val="40000"/>
                  </a:srgbClr>
                </a:gs>
                <a:gs pos="100000">
                  <a:srgbClr val="11998E">
                    <a:alpha val="40000"/>
                  </a:srgbClr>
                </a:gs>
              </a:gsLst>
              <a:lin ang="2700000"/>
            </a:gradFill>
          </p:spPr>
          <p:txBody>
            <a:bodyPr/>
            <a:lstStyle/>
            <a:p>
              <a:endParaRPr lang="en-US"/>
            </a:p>
          </p:txBody>
        </p:sp>
      </p:grpSp>
      <p:grpSp>
        <p:nvGrpSpPr>
          <p:cNvPr id="24" name="Group 24"/>
          <p:cNvGrpSpPr/>
          <p:nvPr/>
        </p:nvGrpSpPr>
        <p:grpSpPr>
          <a:xfrm>
            <a:off x="2480043" y="3585858"/>
            <a:ext cx="10416597" cy="2258997"/>
            <a:chOff x="0" y="0"/>
            <a:chExt cx="13888796" cy="3011996"/>
          </a:xfrm>
        </p:grpSpPr>
        <p:sp>
          <p:nvSpPr>
            <p:cNvPr id="25" name="Freeform 25"/>
            <p:cNvSpPr/>
            <p:nvPr/>
          </p:nvSpPr>
          <p:spPr>
            <a:xfrm>
              <a:off x="0" y="0"/>
              <a:ext cx="13888847" cy="3012059"/>
            </a:xfrm>
            <a:custGeom>
              <a:avLst/>
              <a:gdLst/>
              <a:ahLst/>
              <a:cxnLst/>
              <a:rect l="l" t="t" r="r" b="b"/>
              <a:pathLst>
                <a:path w="13888847" h="3012059">
                  <a:moveTo>
                    <a:pt x="0" y="0"/>
                  </a:moveTo>
                  <a:lnTo>
                    <a:pt x="13888847" y="0"/>
                  </a:lnTo>
                  <a:lnTo>
                    <a:pt x="13888847" y="3012059"/>
                  </a:lnTo>
                  <a:lnTo>
                    <a:pt x="0" y="3012059"/>
                  </a:lnTo>
                  <a:close/>
                </a:path>
              </a:pathLst>
            </a:custGeom>
            <a:blipFill>
              <a:blip r:embed="rId6">
                <a:alphaModFix amt="0"/>
              </a:blip>
              <a:stretch>
                <a:fillRect t="-39785" b="-39783"/>
              </a:stretch>
            </a:blipFill>
          </p:spPr>
          <p:txBody>
            <a:bodyPr/>
            <a:lstStyle/>
            <a:p>
              <a:endParaRPr lang="en-US"/>
            </a:p>
          </p:txBody>
        </p:sp>
      </p:grpSp>
      <p:grpSp>
        <p:nvGrpSpPr>
          <p:cNvPr id="26" name="Group 26"/>
          <p:cNvGrpSpPr/>
          <p:nvPr/>
        </p:nvGrpSpPr>
        <p:grpSpPr>
          <a:xfrm>
            <a:off x="2480043" y="3628720"/>
            <a:ext cx="10416597" cy="2216134"/>
            <a:chOff x="0" y="0"/>
            <a:chExt cx="13888796" cy="2954846"/>
          </a:xfrm>
        </p:grpSpPr>
        <p:sp>
          <p:nvSpPr>
            <p:cNvPr id="27" name="Freeform 27"/>
            <p:cNvSpPr/>
            <p:nvPr/>
          </p:nvSpPr>
          <p:spPr>
            <a:xfrm>
              <a:off x="0" y="0"/>
              <a:ext cx="13888796" cy="2954846"/>
            </a:xfrm>
            <a:custGeom>
              <a:avLst/>
              <a:gdLst/>
              <a:ahLst/>
              <a:cxnLst/>
              <a:rect l="l" t="t" r="r" b="b"/>
              <a:pathLst>
                <a:path w="13888796" h="2954846">
                  <a:moveTo>
                    <a:pt x="0" y="0"/>
                  </a:moveTo>
                  <a:lnTo>
                    <a:pt x="13888796" y="0"/>
                  </a:lnTo>
                  <a:lnTo>
                    <a:pt x="13888796" y="2954846"/>
                  </a:lnTo>
                  <a:lnTo>
                    <a:pt x="0" y="2954846"/>
                  </a:lnTo>
                  <a:close/>
                </a:path>
              </a:pathLst>
            </a:custGeom>
            <a:blipFill>
              <a:blip r:embed="rId7">
                <a:alphaModFix amt="0"/>
              </a:blip>
              <a:stretch>
                <a:fillRect t="-41586" b="-41586"/>
              </a:stretch>
            </a:blipFill>
          </p:spPr>
          <p:txBody>
            <a:bodyPr/>
            <a:lstStyle/>
            <a:p>
              <a:endParaRPr lang="en-US"/>
            </a:p>
          </p:txBody>
        </p:sp>
        <p:sp>
          <p:nvSpPr>
            <p:cNvPr id="28" name="TextBox 28"/>
            <p:cNvSpPr txBox="1"/>
            <p:nvPr/>
          </p:nvSpPr>
          <p:spPr>
            <a:xfrm>
              <a:off x="0" y="57150"/>
              <a:ext cx="13888796" cy="2897696"/>
            </a:xfrm>
            <a:prstGeom prst="rect">
              <a:avLst/>
            </a:prstGeom>
          </p:spPr>
          <p:txBody>
            <a:bodyPr lIns="0" tIns="0" rIns="0" bIns="0" rtlCol="0" anchor="ctr"/>
            <a:lstStyle/>
            <a:p>
              <a:pPr algn="l">
                <a:lnSpc>
                  <a:spcPts val="8856"/>
                </a:lnSpc>
              </a:pPr>
              <a:r>
                <a:rPr lang="en-US" sz="8200" b="1">
                  <a:solidFill>
                    <a:srgbClr val="FFFFFF"/>
                  </a:solidFill>
                  <a:latin typeface="Times New Roman Bold"/>
                  <a:ea typeface="Times New Roman Bold"/>
                  <a:cs typeface="Times New Roman Bold"/>
                  <a:sym typeface="Times New Roman Bold"/>
                </a:rPr>
                <a:t>Giới thiệu về đề tài</a:t>
              </a:r>
            </a:p>
          </p:txBody>
        </p:sp>
      </p:grpSp>
      <p:sp>
        <p:nvSpPr>
          <p:cNvPr id="29" name="TextBox 29"/>
          <p:cNvSpPr txBox="1"/>
          <p:nvPr/>
        </p:nvSpPr>
        <p:spPr>
          <a:xfrm>
            <a:off x="2548614" y="1142886"/>
            <a:ext cx="2429713" cy="2348103"/>
          </a:xfrm>
          <a:prstGeom prst="rect">
            <a:avLst/>
          </a:prstGeom>
        </p:spPr>
        <p:txBody>
          <a:bodyPr lIns="0" tIns="0" rIns="0" bIns="0" rtlCol="0" anchor="t">
            <a:spAutoFit/>
          </a:bodyPr>
          <a:lstStyle/>
          <a:p>
            <a:pPr algn="l">
              <a:lnSpc>
                <a:spcPts val="18576"/>
              </a:lnSpc>
            </a:pPr>
            <a:r>
              <a:rPr lang="en-US" sz="17200" b="1">
                <a:solidFill>
                  <a:srgbClr val="FFFFFF"/>
                </a:solidFill>
                <a:latin typeface="Arial Bold"/>
                <a:ea typeface="Arial Bold"/>
                <a:cs typeface="Arial Bold"/>
                <a:sym typeface="Arial Bold"/>
              </a:rPr>
              <a:t>01</a:t>
            </a:r>
          </a:p>
        </p:txBody>
      </p:sp>
      <p:sp>
        <p:nvSpPr>
          <p:cNvPr id="30" name="TextBox 30"/>
          <p:cNvSpPr txBox="1"/>
          <p:nvPr/>
        </p:nvSpPr>
        <p:spPr>
          <a:xfrm>
            <a:off x="17585769" y="9144000"/>
            <a:ext cx="254317" cy="1143000"/>
          </a:xfrm>
          <a:prstGeom prst="rect">
            <a:avLst/>
          </a:prstGeom>
        </p:spPr>
        <p:txBody>
          <a:bodyPr lIns="0" tIns="0" rIns="0" bIns="0" rtlCol="0" anchor="t">
            <a:spAutoFit/>
          </a:bodyPr>
          <a:lstStyle/>
          <a:p>
            <a:pPr algn="ctr">
              <a:lnSpc>
                <a:spcPts val="4320"/>
              </a:lnSpc>
            </a:pPr>
            <a:r>
              <a:rPr lang="en-US" sz="3600">
                <a:solidFill>
                  <a:srgbClr val="000000"/>
                </a:solidFill>
                <a:latin typeface="Arial"/>
                <a:ea typeface="Arial"/>
                <a:cs typeface="Arial"/>
                <a:sym typeface="Arial"/>
              </a:rPr>
              <a:t>3</a:t>
            </a:r>
          </a:p>
          <a:p>
            <a:pPr algn="ctr">
              <a:lnSpc>
                <a:spcPts val="4320"/>
              </a:lnSpc>
            </a:pPr>
            <a:endParaRPr lang="en-US" sz="360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70" y="-2318490"/>
            <a:ext cx="18150850" cy="569719"/>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grpSp>
        <p:nvGrpSpPr>
          <p:cNvPr id="3" name="Group 3"/>
          <p:cNvGrpSpPr/>
          <p:nvPr/>
        </p:nvGrpSpPr>
        <p:grpSpPr>
          <a:xfrm>
            <a:off x="0" y="2124"/>
            <a:ext cx="18291715" cy="10295477"/>
            <a:chOff x="0" y="0"/>
            <a:chExt cx="24388953" cy="13727303"/>
          </a:xfrm>
        </p:grpSpPr>
        <p:sp>
          <p:nvSpPr>
            <p:cNvPr id="4" name="Freeform 4"/>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5" name="Group 5"/>
          <p:cNvGrpSpPr/>
          <p:nvPr/>
        </p:nvGrpSpPr>
        <p:grpSpPr>
          <a:xfrm rot="5400000">
            <a:off x="8668464" y="-8670055"/>
            <a:ext cx="947356" cy="18291715"/>
            <a:chOff x="0" y="0"/>
            <a:chExt cx="1263142" cy="24388953"/>
          </a:xfrm>
        </p:grpSpPr>
        <p:sp>
          <p:nvSpPr>
            <p:cNvPr id="6" name="Freeform 6"/>
            <p:cNvSpPr/>
            <p:nvPr/>
          </p:nvSpPr>
          <p:spPr>
            <a:xfrm>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gradFill rotWithShape="1">
              <a:gsLst>
                <a:gs pos="0">
                  <a:srgbClr val="10CC57">
                    <a:alpha val="100000"/>
                  </a:srgbClr>
                </a:gs>
                <a:gs pos="100000">
                  <a:srgbClr val="017058">
                    <a:alpha val="100000"/>
                  </a:srgbClr>
                </a:gs>
              </a:gsLst>
              <a:lin ang="0"/>
            </a:gradFill>
          </p:spPr>
          <p:txBody>
            <a:bodyPr/>
            <a:lstStyle/>
            <a:p>
              <a:endParaRPr lang="en-US"/>
            </a:p>
          </p:txBody>
        </p:sp>
      </p:grpSp>
      <p:grpSp>
        <p:nvGrpSpPr>
          <p:cNvPr id="7" name="Group 7"/>
          <p:cNvGrpSpPr/>
          <p:nvPr/>
        </p:nvGrpSpPr>
        <p:grpSpPr>
          <a:xfrm rot="-5400000">
            <a:off x="8670312" y="-8672208"/>
            <a:ext cx="947356" cy="18291715"/>
            <a:chOff x="0" y="0"/>
            <a:chExt cx="1263142" cy="24388953"/>
          </a:xfrm>
        </p:grpSpPr>
        <p:sp>
          <p:nvSpPr>
            <p:cNvPr id="8" name="Freeform 8"/>
            <p:cNvSpPr/>
            <p:nvPr/>
          </p:nvSpPr>
          <p:spPr>
            <a:xfrm flipH="1">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blipFill>
              <a:blip r:embed="rId2"/>
              <a:stretch>
                <a:fillRect l="-35092" r="-35091"/>
              </a:stretch>
            </a:blipFill>
          </p:spPr>
          <p:txBody>
            <a:bodyPr/>
            <a:lstStyle/>
            <a:p>
              <a:endParaRPr lang="en-US"/>
            </a:p>
          </p:txBody>
        </p:sp>
      </p:grpSp>
      <p:sp>
        <p:nvSpPr>
          <p:cNvPr id="9" name="TextBox 9"/>
          <p:cNvSpPr txBox="1"/>
          <p:nvPr/>
        </p:nvSpPr>
        <p:spPr>
          <a:xfrm>
            <a:off x="428996" y="227362"/>
            <a:ext cx="10993288" cy="456571"/>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10" name="Group 10"/>
          <p:cNvGrpSpPr/>
          <p:nvPr/>
        </p:nvGrpSpPr>
        <p:grpSpPr>
          <a:xfrm>
            <a:off x="6719983" y="457933"/>
            <a:ext cx="4848130" cy="958024"/>
            <a:chOff x="0" y="0"/>
            <a:chExt cx="6464173" cy="1277366"/>
          </a:xfrm>
        </p:grpSpPr>
        <p:sp>
          <p:nvSpPr>
            <p:cNvPr id="11" name="Freeform 11"/>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2700000"/>
            </a:gradFill>
          </p:spPr>
          <p:txBody>
            <a:bodyPr/>
            <a:lstStyle/>
            <a:p>
              <a:endParaRPr lang="en-US"/>
            </a:p>
          </p:txBody>
        </p:sp>
      </p:grpSp>
      <p:grpSp>
        <p:nvGrpSpPr>
          <p:cNvPr id="12" name="Group 12"/>
          <p:cNvGrpSpPr/>
          <p:nvPr/>
        </p:nvGrpSpPr>
        <p:grpSpPr>
          <a:xfrm>
            <a:off x="6807460" y="535972"/>
            <a:ext cx="4673060" cy="801815"/>
            <a:chOff x="0" y="0"/>
            <a:chExt cx="6230747" cy="1069086"/>
          </a:xfrm>
        </p:grpSpPr>
        <p:sp>
          <p:nvSpPr>
            <p:cNvPr id="13" name="Freeform 13"/>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en-US"/>
            </a:p>
          </p:txBody>
        </p:sp>
      </p:grpSp>
      <p:grpSp>
        <p:nvGrpSpPr>
          <p:cNvPr id="14" name="Group 14"/>
          <p:cNvGrpSpPr/>
          <p:nvPr/>
        </p:nvGrpSpPr>
        <p:grpSpPr>
          <a:xfrm>
            <a:off x="9436446" y="362541"/>
            <a:ext cx="1163288" cy="1152620"/>
            <a:chOff x="0" y="0"/>
            <a:chExt cx="1551051" cy="1536827"/>
          </a:xfrm>
        </p:grpSpPr>
        <p:sp>
          <p:nvSpPr>
            <p:cNvPr id="15" name="Freeform 15"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211" r="-210"/>
              </a:stretch>
            </a:blipFill>
          </p:spPr>
          <p:txBody>
            <a:bodyPr/>
            <a:lstStyle/>
            <a:p>
              <a:endParaRPr lang="en-US"/>
            </a:p>
          </p:txBody>
        </p:sp>
      </p:grpSp>
      <p:grpSp>
        <p:nvGrpSpPr>
          <p:cNvPr id="16" name="Group 16"/>
          <p:cNvGrpSpPr/>
          <p:nvPr/>
        </p:nvGrpSpPr>
        <p:grpSpPr>
          <a:xfrm>
            <a:off x="7688247" y="398078"/>
            <a:ext cx="1307497" cy="1081564"/>
            <a:chOff x="0" y="0"/>
            <a:chExt cx="1743329" cy="1442085"/>
          </a:xfrm>
        </p:grpSpPr>
        <p:sp>
          <p:nvSpPr>
            <p:cNvPr id="17" name="Freeform 17"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l="-38" r="-37"/>
              </a:stretch>
            </a:blipFill>
          </p:spPr>
          <p:txBody>
            <a:bodyPr/>
            <a:lstStyle/>
            <a:p>
              <a:endParaRPr lang="en-US"/>
            </a:p>
          </p:txBody>
        </p:sp>
      </p:grpSp>
      <p:grpSp>
        <p:nvGrpSpPr>
          <p:cNvPr id="18" name="Group 18"/>
          <p:cNvGrpSpPr/>
          <p:nvPr/>
        </p:nvGrpSpPr>
        <p:grpSpPr>
          <a:xfrm>
            <a:off x="908999" y="1555147"/>
            <a:ext cx="16470001" cy="1335996"/>
            <a:chOff x="0" y="0"/>
            <a:chExt cx="21960002" cy="1781327"/>
          </a:xfrm>
        </p:grpSpPr>
        <p:sp>
          <p:nvSpPr>
            <p:cNvPr id="19" name="Freeform 19"/>
            <p:cNvSpPr/>
            <p:nvPr/>
          </p:nvSpPr>
          <p:spPr>
            <a:xfrm>
              <a:off x="0" y="0"/>
              <a:ext cx="21959951" cy="1781302"/>
            </a:xfrm>
            <a:custGeom>
              <a:avLst/>
              <a:gdLst/>
              <a:ahLst/>
              <a:cxnLst/>
              <a:rect l="l" t="t" r="r" b="b"/>
              <a:pathLst>
                <a:path w="21959951" h="1781302">
                  <a:moveTo>
                    <a:pt x="0" y="0"/>
                  </a:moveTo>
                  <a:lnTo>
                    <a:pt x="21959951" y="0"/>
                  </a:lnTo>
                  <a:lnTo>
                    <a:pt x="21959951" y="1781302"/>
                  </a:lnTo>
                  <a:lnTo>
                    <a:pt x="0" y="1781302"/>
                  </a:lnTo>
                  <a:close/>
                </a:path>
              </a:pathLst>
            </a:custGeom>
            <a:blipFill>
              <a:blip r:embed="rId5">
                <a:alphaModFix amt="0"/>
              </a:blip>
              <a:stretch>
                <a:fillRect t="-190044" b="-190046"/>
              </a:stretch>
            </a:blipFill>
          </p:spPr>
          <p:txBody>
            <a:bodyPr/>
            <a:lstStyle/>
            <a:p>
              <a:endParaRPr lang="en-US"/>
            </a:p>
          </p:txBody>
        </p:sp>
      </p:grpSp>
      <p:grpSp>
        <p:nvGrpSpPr>
          <p:cNvPr id="20" name="Group 20"/>
          <p:cNvGrpSpPr/>
          <p:nvPr/>
        </p:nvGrpSpPr>
        <p:grpSpPr>
          <a:xfrm>
            <a:off x="908999" y="1576578"/>
            <a:ext cx="16470001" cy="1314564"/>
            <a:chOff x="0" y="0"/>
            <a:chExt cx="21960002" cy="1752752"/>
          </a:xfrm>
        </p:grpSpPr>
        <p:sp>
          <p:nvSpPr>
            <p:cNvPr id="21" name="Freeform 21"/>
            <p:cNvSpPr/>
            <p:nvPr/>
          </p:nvSpPr>
          <p:spPr>
            <a:xfrm>
              <a:off x="0" y="0"/>
              <a:ext cx="21960001" cy="1752753"/>
            </a:xfrm>
            <a:custGeom>
              <a:avLst/>
              <a:gdLst/>
              <a:ahLst/>
              <a:cxnLst/>
              <a:rect l="l" t="t" r="r" b="b"/>
              <a:pathLst>
                <a:path w="21960001" h="1752753">
                  <a:moveTo>
                    <a:pt x="0" y="0"/>
                  </a:moveTo>
                  <a:lnTo>
                    <a:pt x="21960001" y="0"/>
                  </a:lnTo>
                  <a:lnTo>
                    <a:pt x="21960001" y="1752753"/>
                  </a:lnTo>
                  <a:lnTo>
                    <a:pt x="0" y="1752753"/>
                  </a:lnTo>
                  <a:close/>
                </a:path>
              </a:pathLst>
            </a:custGeom>
            <a:blipFill>
              <a:blip r:embed="rId6">
                <a:alphaModFix amt="0"/>
              </a:blip>
              <a:stretch>
                <a:fillRect t="-194125" b="-194125"/>
              </a:stretch>
            </a:blipFill>
          </p:spPr>
          <p:txBody>
            <a:bodyPr/>
            <a:lstStyle/>
            <a:p>
              <a:endParaRPr lang="en-US"/>
            </a:p>
          </p:txBody>
        </p:sp>
        <p:sp>
          <p:nvSpPr>
            <p:cNvPr id="22" name="TextBox 22"/>
            <p:cNvSpPr txBox="1"/>
            <p:nvPr/>
          </p:nvSpPr>
          <p:spPr>
            <a:xfrm>
              <a:off x="0" y="28575"/>
              <a:ext cx="21960002" cy="1724177"/>
            </a:xfrm>
            <a:prstGeom prst="rect">
              <a:avLst/>
            </a:prstGeom>
          </p:spPr>
          <p:txBody>
            <a:bodyPr lIns="0" tIns="0" rIns="0" bIns="0" rtlCol="0" anchor="ctr"/>
            <a:lstStyle/>
            <a:p>
              <a:pPr algn="l">
                <a:lnSpc>
                  <a:spcPts val="6048"/>
                </a:lnSpc>
              </a:pPr>
              <a:r>
                <a:rPr lang="en-US" sz="5599" b="1">
                  <a:solidFill>
                    <a:srgbClr val="017058"/>
                  </a:solidFill>
                  <a:latin typeface="Times New Roman Bold"/>
                  <a:ea typeface="Times New Roman Bold"/>
                  <a:cs typeface="Times New Roman Bold"/>
                  <a:sym typeface="Times New Roman Bold"/>
                </a:rPr>
                <a:t>1. Giới thiệu về đề tài</a:t>
              </a:r>
            </a:p>
          </p:txBody>
        </p:sp>
      </p:grpSp>
      <p:sp>
        <p:nvSpPr>
          <p:cNvPr id="23" name="TextBox 23"/>
          <p:cNvSpPr txBox="1"/>
          <p:nvPr/>
        </p:nvSpPr>
        <p:spPr>
          <a:xfrm>
            <a:off x="1087393" y="3311271"/>
            <a:ext cx="16174945" cy="4667250"/>
          </a:xfrm>
          <a:prstGeom prst="rect">
            <a:avLst/>
          </a:prstGeom>
        </p:spPr>
        <p:txBody>
          <a:bodyPr lIns="0" tIns="0" rIns="0" bIns="0" rtlCol="0" anchor="t">
            <a:spAutoFit/>
          </a:bodyPr>
          <a:lstStyle/>
          <a:p>
            <a:pPr algn="l">
              <a:lnSpc>
                <a:spcPts val="4079"/>
              </a:lnSpc>
            </a:pPr>
            <a:r>
              <a:rPr lang="en-US" sz="3399">
                <a:solidFill>
                  <a:srgbClr val="000000"/>
                </a:solidFill>
                <a:latin typeface="Times New Roman"/>
                <a:ea typeface="Times New Roman"/>
                <a:cs typeface="Times New Roman"/>
                <a:sym typeface="Times New Roman"/>
              </a:rPr>
              <a:t>Hệ mật mã RSA là thuật toán khóa công khai cốt lõi trong an toàn thông tin, bảo mật dữ liệu dựa trên độ phức tạp của bài toán phân tích thừa số nguyên tố. RSA sử dụng cặp khóa bất đối xứng: Khóa công khai (e,N) để mã hóa và Khóa bí mật để giải mã (d,N).</a:t>
            </a:r>
          </a:p>
          <a:p>
            <a:pPr algn="l">
              <a:lnSpc>
                <a:spcPts val="4079"/>
              </a:lnSpc>
            </a:pPr>
            <a:endParaRPr lang="en-US" sz="3399">
              <a:solidFill>
                <a:srgbClr val="000000"/>
              </a:solidFill>
              <a:latin typeface="Times New Roman"/>
              <a:ea typeface="Times New Roman"/>
              <a:cs typeface="Times New Roman"/>
              <a:sym typeface="Times New Roman"/>
            </a:endParaRPr>
          </a:p>
          <a:p>
            <a:pPr algn="l">
              <a:lnSpc>
                <a:spcPts val="4079"/>
              </a:lnSpc>
            </a:pPr>
            <a:r>
              <a:rPr lang="en-US" sz="3399">
                <a:solidFill>
                  <a:srgbClr val="000000"/>
                </a:solidFill>
                <a:latin typeface="Times New Roman"/>
                <a:ea typeface="Times New Roman"/>
                <a:cs typeface="Times New Roman"/>
                <a:sym typeface="Times New Roman"/>
              </a:rPr>
              <a:t>Ứng dụng thực tiễn: RSA chủ yếu được dùng để trao đổi khóa bảo mật (như giao thức SSL/TLS trên web), tạo chữ ký số và xác thực thiết bị nhúng (IoT, Smartcard)... </a:t>
            </a:r>
          </a:p>
          <a:p>
            <a:pPr algn="l">
              <a:lnSpc>
                <a:spcPts val="4079"/>
              </a:lnSpc>
            </a:pPr>
            <a:endParaRPr lang="en-US" sz="3399">
              <a:solidFill>
                <a:srgbClr val="000000"/>
              </a:solidFill>
              <a:latin typeface="Times New Roman"/>
              <a:ea typeface="Times New Roman"/>
              <a:cs typeface="Times New Roman"/>
              <a:sym typeface="Times New Roman"/>
            </a:endParaRPr>
          </a:p>
          <a:p>
            <a:pPr algn="l">
              <a:lnSpc>
                <a:spcPts val="4079"/>
              </a:lnSpc>
            </a:pPr>
            <a:r>
              <a:rPr lang="en-US" sz="3400">
                <a:solidFill>
                  <a:srgbClr val="000000"/>
                </a:solidFill>
                <a:latin typeface="Times New Roman"/>
                <a:ea typeface="Times New Roman"/>
                <a:cs typeface="Times New Roman"/>
                <a:sym typeface="Times New Roman"/>
              </a:rPr>
              <a:t>Do khối lượng tính toán khổng lồ, việc đưa lõi RSA lên phần cứng FPGA là giải pháp tất yếu để tăng tốc độ xử lý thời gian thực cho các hệ thống này.</a:t>
            </a:r>
          </a:p>
        </p:txBody>
      </p:sp>
      <p:sp>
        <p:nvSpPr>
          <p:cNvPr id="24" name="TextBox 24"/>
          <p:cNvSpPr txBox="1"/>
          <p:nvPr/>
        </p:nvSpPr>
        <p:spPr>
          <a:xfrm>
            <a:off x="17563738" y="9144000"/>
            <a:ext cx="254317" cy="1143000"/>
          </a:xfrm>
          <a:prstGeom prst="rect">
            <a:avLst/>
          </a:prstGeom>
        </p:spPr>
        <p:txBody>
          <a:bodyPr lIns="0" tIns="0" rIns="0" bIns="0" rtlCol="0" anchor="t">
            <a:spAutoFit/>
          </a:bodyPr>
          <a:lstStyle/>
          <a:p>
            <a:pPr algn="ctr">
              <a:lnSpc>
                <a:spcPts val="4320"/>
              </a:lnSpc>
            </a:pPr>
            <a:r>
              <a:rPr lang="en-US" sz="3600">
                <a:solidFill>
                  <a:srgbClr val="000000"/>
                </a:solidFill>
                <a:latin typeface="Arial"/>
                <a:ea typeface="Arial"/>
                <a:cs typeface="Arial"/>
                <a:sym typeface="Arial"/>
              </a:rPr>
              <a:t>4</a:t>
            </a:r>
          </a:p>
          <a:p>
            <a:pPr algn="ctr">
              <a:lnSpc>
                <a:spcPts val="4320"/>
              </a:lnSpc>
            </a:pPr>
            <a:endParaRPr lang="en-US" sz="360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70" y="-2318490"/>
            <a:ext cx="18150850" cy="569719"/>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grpSp>
        <p:nvGrpSpPr>
          <p:cNvPr id="3" name="Group 3"/>
          <p:cNvGrpSpPr/>
          <p:nvPr/>
        </p:nvGrpSpPr>
        <p:grpSpPr>
          <a:xfrm>
            <a:off x="0" y="2124"/>
            <a:ext cx="18291715" cy="10295477"/>
            <a:chOff x="0" y="0"/>
            <a:chExt cx="24388953" cy="13727303"/>
          </a:xfrm>
        </p:grpSpPr>
        <p:sp>
          <p:nvSpPr>
            <p:cNvPr id="4" name="Freeform 4"/>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5" name="Group 5"/>
          <p:cNvGrpSpPr/>
          <p:nvPr/>
        </p:nvGrpSpPr>
        <p:grpSpPr>
          <a:xfrm>
            <a:off x="-36214" y="0"/>
            <a:ext cx="6084570" cy="10287000"/>
            <a:chOff x="0" y="0"/>
            <a:chExt cx="8112760" cy="13716000"/>
          </a:xfrm>
        </p:grpSpPr>
        <p:sp>
          <p:nvSpPr>
            <p:cNvPr id="6" name="Freeform 6"/>
            <p:cNvSpPr/>
            <p:nvPr/>
          </p:nvSpPr>
          <p:spPr>
            <a:xfrm>
              <a:off x="0" y="0"/>
              <a:ext cx="8112760" cy="13716000"/>
            </a:xfrm>
            <a:custGeom>
              <a:avLst/>
              <a:gdLst/>
              <a:ahLst/>
              <a:cxnLst/>
              <a:rect l="l" t="t" r="r" b="b"/>
              <a:pathLst>
                <a:path w="8112760" h="13716000">
                  <a:moveTo>
                    <a:pt x="0" y="0"/>
                  </a:moveTo>
                  <a:lnTo>
                    <a:pt x="8112760" y="0"/>
                  </a:lnTo>
                  <a:lnTo>
                    <a:pt x="8112760" y="13716000"/>
                  </a:lnTo>
                  <a:lnTo>
                    <a:pt x="0" y="13716000"/>
                  </a:lnTo>
                  <a:close/>
                </a:path>
              </a:pathLst>
            </a:custGeom>
            <a:gradFill rotWithShape="1">
              <a:gsLst>
                <a:gs pos="0">
                  <a:srgbClr val="38EF7D">
                    <a:alpha val="100000"/>
                  </a:srgbClr>
                </a:gs>
                <a:gs pos="100000">
                  <a:srgbClr val="11998E">
                    <a:alpha val="100000"/>
                  </a:srgbClr>
                </a:gs>
              </a:gsLst>
              <a:lin ang="5400000"/>
            </a:gradFill>
          </p:spPr>
          <p:txBody>
            <a:bodyPr/>
            <a:lstStyle/>
            <a:p>
              <a:endParaRPr lang="en-US"/>
            </a:p>
          </p:txBody>
        </p:sp>
      </p:grpSp>
      <p:grpSp>
        <p:nvGrpSpPr>
          <p:cNvPr id="7" name="Group 7"/>
          <p:cNvGrpSpPr/>
          <p:nvPr/>
        </p:nvGrpSpPr>
        <p:grpSpPr>
          <a:xfrm rot="-10800000">
            <a:off x="-46892" y="0"/>
            <a:ext cx="2707196" cy="10287000"/>
            <a:chOff x="0" y="0"/>
            <a:chExt cx="3609594" cy="13716000"/>
          </a:xfrm>
        </p:grpSpPr>
        <p:sp>
          <p:nvSpPr>
            <p:cNvPr id="8" name="Freeform 8"/>
            <p:cNvSpPr/>
            <p:nvPr/>
          </p:nvSpPr>
          <p:spPr>
            <a:xfrm flipH="1">
              <a:off x="0" y="0"/>
              <a:ext cx="3609594" cy="13716000"/>
            </a:xfrm>
            <a:custGeom>
              <a:avLst/>
              <a:gdLst/>
              <a:ahLst/>
              <a:cxnLst/>
              <a:rect l="l" t="t" r="r" b="b"/>
              <a:pathLst>
                <a:path w="3609594" h="13716000">
                  <a:moveTo>
                    <a:pt x="0" y="0"/>
                  </a:moveTo>
                  <a:lnTo>
                    <a:pt x="3609594" y="0"/>
                  </a:lnTo>
                  <a:lnTo>
                    <a:pt x="3609594" y="13716000"/>
                  </a:lnTo>
                  <a:lnTo>
                    <a:pt x="0" y="13716000"/>
                  </a:lnTo>
                  <a:close/>
                </a:path>
              </a:pathLst>
            </a:custGeom>
            <a:blipFill>
              <a:blip r:embed="rId2"/>
              <a:stretch>
                <a:fillRect l="-2907" r="-2907"/>
              </a:stretch>
            </a:blipFill>
          </p:spPr>
          <p:txBody>
            <a:bodyPr/>
            <a:lstStyle/>
            <a:p>
              <a:endParaRPr lang="en-US"/>
            </a:p>
          </p:txBody>
        </p:sp>
      </p:grpSp>
      <p:sp>
        <p:nvSpPr>
          <p:cNvPr id="9" name="TextBox 9"/>
          <p:cNvSpPr txBox="1"/>
          <p:nvPr/>
        </p:nvSpPr>
        <p:spPr>
          <a:xfrm rot="-5400000">
            <a:off x="-2642312" y="6723250"/>
            <a:ext cx="6122451" cy="458333"/>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10" name="Group 10"/>
          <p:cNvGrpSpPr/>
          <p:nvPr/>
        </p:nvGrpSpPr>
        <p:grpSpPr>
          <a:xfrm>
            <a:off x="6719983" y="293303"/>
            <a:ext cx="4848130" cy="958024"/>
            <a:chOff x="0" y="0"/>
            <a:chExt cx="6464173" cy="1277366"/>
          </a:xfrm>
        </p:grpSpPr>
        <p:sp>
          <p:nvSpPr>
            <p:cNvPr id="11" name="Freeform 11"/>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2700000"/>
            </a:gradFill>
          </p:spPr>
          <p:txBody>
            <a:bodyPr/>
            <a:lstStyle/>
            <a:p>
              <a:endParaRPr lang="en-US"/>
            </a:p>
          </p:txBody>
        </p:sp>
      </p:grpSp>
      <p:grpSp>
        <p:nvGrpSpPr>
          <p:cNvPr id="12" name="Group 12"/>
          <p:cNvGrpSpPr/>
          <p:nvPr/>
        </p:nvGrpSpPr>
        <p:grpSpPr>
          <a:xfrm>
            <a:off x="6807460" y="371332"/>
            <a:ext cx="4673060" cy="801815"/>
            <a:chOff x="0" y="0"/>
            <a:chExt cx="6230747" cy="1069086"/>
          </a:xfrm>
        </p:grpSpPr>
        <p:sp>
          <p:nvSpPr>
            <p:cNvPr id="13" name="Freeform 13"/>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en-US"/>
            </a:p>
          </p:txBody>
        </p:sp>
      </p:grpSp>
      <p:grpSp>
        <p:nvGrpSpPr>
          <p:cNvPr id="14" name="Group 14"/>
          <p:cNvGrpSpPr/>
          <p:nvPr/>
        </p:nvGrpSpPr>
        <p:grpSpPr>
          <a:xfrm>
            <a:off x="9436446" y="197910"/>
            <a:ext cx="1163288" cy="1152620"/>
            <a:chOff x="0" y="0"/>
            <a:chExt cx="1551051" cy="1536827"/>
          </a:xfrm>
        </p:grpSpPr>
        <p:sp>
          <p:nvSpPr>
            <p:cNvPr id="15" name="Freeform 15"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211" r="-210"/>
              </a:stretch>
            </a:blipFill>
          </p:spPr>
          <p:txBody>
            <a:bodyPr/>
            <a:lstStyle/>
            <a:p>
              <a:endParaRPr lang="en-US"/>
            </a:p>
          </p:txBody>
        </p:sp>
      </p:grpSp>
      <p:grpSp>
        <p:nvGrpSpPr>
          <p:cNvPr id="16" name="Group 16"/>
          <p:cNvGrpSpPr/>
          <p:nvPr/>
        </p:nvGrpSpPr>
        <p:grpSpPr>
          <a:xfrm>
            <a:off x="7688247" y="233439"/>
            <a:ext cx="1307497" cy="1081564"/>
            <a:chOff x="0" y="0"/>
            <a:chExt cx="1743329" cy="1442085"/>
          </a:xfrm>
        </p:grpSpPr>
        <p:sp>
          <p:nvSpPr>
            <p:cNvPr id="17" name="Freeform 17"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l="-38" r="-37"/>
              </a:stretch>
            </a:blipFill>
          </p:spPr>
          <p:txBody>
            <a:bodyPr/>
            <a:lstStyle/>
            <a:p>
              <a:endParaRPr lang="en-US"/>
            </a:p>
          </p:txBody>
        </p:sp>
      </p:grpSp>
      <p:grpSp>
        <p:nvGrpSpPr>
          <p:cNvPr id="18" name="Group 18"/>
          <p:cNvGrpSpPr/>
          <p:nvPr/>
        </p:nvGrpSpPr>
        <p:grpSpPr>
          <a:xfrm>
            <a:off x="17262338" y="364607"/>
            <a:ext cx="819150" cy="819150"/>
            <a:chOff x="0" y="0"/>
            <a:chExt cx="1092200" cy="1092200"/>
          </a:xfrm>
        </p:grpSpPr>
        <p:sp>
          <p:nvSpPr>
            <p:cNvPr id="19" name="Freeform 19"/>
            <p:cNvSpPr/>
            <p:nvPr/>
          </p:nvSpPr>
          <p:spPr>
            <a:xfrm>
              <a:off x="0" y="0"/>
              <a:ext cx="1092200" cy="1092200"/>
            </a:xfrm>
            <a:custGeom>
              <a:avLst/>
              <a:gdLst/>
              <a:ahLst/>
              <a:cxnLst/>
              <a:rect l="l" t="t" r="r" b="b"/>
              <a:pathLst>
                <a:path w="1092200" h="1092200">
                  <a:moveTo>
                    <a:pt x="0" y="546100"/>
                  </a:moveTo>
                  <a:cubicBezTo>
                    <a:pt x="0" y="244475"/>
                    <a:pt x="244475" y="0"/>
                    <a:pt x="546100" y="0"/>
                  </a:cubicBezTo>
                  <a:cubicBezTo>
                    <a:pt x="847725" y="0"/>
                    <a:pt x="1092200" y="244475"/>
                    <a:pt x="1092200" y="546100"/>
                  </a:cubicBezTo>
                  <a:cubicBezTo>
                    <a:pt x="1092200" y="847725"/>
                    <a:pt x="847725" y="1092200"/>
                    <a:pt x="546100" y="1092200"/>
                  </a:cubicBezTo>
                  <a:cubicBezTo>
                    <a:pt x="244475" y="1092200"/>
                    <a:pt x="0" y="847725"/>
                    <a:pt x="0" y="546100"/>
                  </a:cubicBezTo>
                  <a:close/>
                </a:path>
              </a:pathLst>
            </a:custGeom>
            <a:gradFill rotWithShape="1">
              <a:gsLst>
                <a:gs pos="0">
                  <a:srgbClr val="38EF7D">
                    <a:alpha val="65098"/>
                  </a:srgbClr>
                </a:gs>
                <a:gs pos="100000">
                  <a:srgbClr val="11998E">
                    <a:alpha val="64705"/>
                  </a:srgbClr>
                </a:gs>
              </a:gsLst>
              <a:lin ang="2700000"/>
            </a:gradFill>
          </p:spPr>
          <p:txBody>
            <a:bodyPr/>
            <a:lstStyle/>
            <a:p>
              <a:endParaRPr lang="en-US"/>
            </a:p>
          </p:txBody>
        </p:sp>
      </p:grpSp>
      <p:grpSp>
        <p:nvGrpSpPr>
          <p:cNvPr id="20" name="Group 20"/>
          <p:cNvGrpSpPr/>
          <p:nvPr/>
        </p:nvGrpSpPr>
        <p:grpSpPr>
          <a:xfrm>
            <a:off x="17486462" y="588731"/>
            <a:ext cx="370999" cy="370999"/>
            <a:chOff x="0" y="0"/>
            <a:chExt cx="494665" cy="494665"/>
          </a:xfrm>
        </p:grpSpPr>
        <p:sp>
          <p:nvSpPr>
            <p:cNvPr id="21" name="Freeform 21"/>
            <p:cNvSpPr/>
            <p:nvPr/>
          </p:nvSpPr>
          <p:spPr>
            <a:xfrm>
              <a:off x="0" y="0"/>
              <a:ext cx="494665" cy="494665"/>
            </a:xfrm>
            <a:custGeom>
              <a:avLst/>
              <a:gdLst/>
              <a:ahLst/>
              <a:cxnLst/>
              <a:rect l="l" t="t" r="r" b="b"/>
              <a:pathLst>
                <a:path w="494665" h="494665">
                  <a:moveTo>
                    <a:pt x="0" y="247269"/>
                  </a:moveTo>
                  <a:cubicBezTo>
                    <a:pt x="0" y="110744"/>
                    <a:pt x="110744" y="0"/>
                    <a:pt x="247269" y="0"/>
                  </a:cubicBezTo>
                  <a:cubicBezTo>
                    <a:pt x="383794" y="0"/>
                    <a:pt x="494665" y="110744"/>
                    <a:pt x="494665" y="247269"/>
                  </a:cubicBezTo>
                  <a:cubicBezTo>
                    <a:pt x="494665" y="383794"/>
                    <a:pt x="383921" y="494665"/>
                    <a:pt x="247269" y="494665"/>
                  </a:cubicBezTo>
                  <a:cubicBezTo>
                    <a:pt x="110617" y="494665"/>
                    <a:pt x="0" y="383921"/>
                    <a:pt x="0" y="247269"/>
                  </a:cubicBezTo>
                  <a:close/>
                </a:path>
              </a:pathLst>
            </a:custGeom>
            <a:gradFill rotWithShape="1">
              <a:gsLst>
                <a:gs pos="0">
                  <a:srgbClr val="38EF7D">
                    <a:alpha val="65098"/>
                  </a:srgbClr>
                </a:gs>
                <a:gs pos="100000">
                  <a:srgbClr val="11998E">
                    <a:alpha val="64705"/>
                  </a:srgbClr>
                </a:gs>
              </a:gsLst>
              <a:lin ang="2700000"/>
            </a:gradFill>
          </p:spPr>
          <p:txBody>
            <a:bodyPr/>
            <a:lstStyle/>
            <a:p>
              <a:endParaRPr lang="en-US"/>
            </a:p>
          </p:txBody>
        </p:sp>
      </p:grpSp>
      <p:grpSp>
        <p:nvGrpSpPr>
          <p:cNvPr id="22" name="Group 22"/>
          <p:cNvGrpSpPr/>
          <p:nvPr/>
        </p:nvGrpSpPr>
        <p:grpSpPr>
          <a:xfrm>
            <a:off x="1705232" y="2175643"/>
            <a:ext cx="15316010" cy="6434518"/>
            <a:chOff x="0" y="0"/>
            <a:chExt cx="20421346" cy="8579358"/>
          </a:xfrm>
        </p:grpSpPr>
        <p:sp>
          <p:nvSpPr>
            <p:cNvPr id="23" name="Freeform 23"/>
            <p:cNvSpPr/>
            <p:nvPr/>
          </p:nvSpPr>
          <p:spPr>
            <a:xfrm>
              <a:off x="0" y="0"/>
              <a:ext cx="20421346" cy="8579358"/>
            </a:xfrm>
            <a:custGeom>
              <a:avLst/>
              <a:gdLst/>
              <a:ahLst/>
              <a:cxnLst/>
              <a:rect l="l" t="t" r="r" b="b"/>
              <a:pathLst>
                <a:path w="20421346" h="8579358">
                  <a:moveTo>
                    <a:pt x="0" y="231775"/>
                  </a:moveTo>
                  <a:cubicBezTo>
                    <a:pt x="0" y="103759"/>
                    <a:pt x="103759" y="0"/>
                    <a:pt x="231775" y="0"/>
                  </a:cubicBezTo>
                  <a:lnTo>
                    <a:pt x="20189571" y="0"/>
                  </a:lnTo>
                  <a:cubicBezTo>
                    <a:pt x="20317586" y="0"/>
                    <a:pt x="20421346" y="103759"/>
                    <a:pt x="20421346" y="231775"/>
                  </a:cubicBezTo>
                  <a:lnTo>
                    <a:pt x="20421346" y="8347583"/>
                  </a:lnTo>
                  <a:cubicBezTo>
                    <a:pt x="20421346" y="8475599"/>
                    <a:pt x="20317586" y="8579358"/>
                    <a:pt x="20189571" y="8579358"/>
                  </a:cubicBezTo>
                  <a:lnTo>
                    <a:pt x="231775" y="8579358"/>
                  </a:lnTo>
                  <a:cubicBezTo>
                    <a:pt x="103759" y="8579358"/>
                    <a:pt x="0" y="8475599"/>
                    <a:pt x="0" y="8347583"/>
                  </a:cubicBezTo>
                  <a:close/>
                </a:path>
              </a:pathLst>
            </a:custGeom>
            <a:blipFill>
              <a:blip r:embed="rId5"/>
              <a:stretch>
                <a:fillRect l="-194" r="-194"/>
              </a:stretch>
            </a:blipFill>
          </p:spPr>
          <p:txBody>
            <a:bodyPr/>
            <a:lstStyle/>
            <a:p>
              <a:endParaRPr lang="en-US"/>
            </a:p>
          </p:txBody>
        </p:sp>
      </p:grpSp>
      <p:grpSp>
        <p:nvGrpSpPr>
          <p:cNvPr id="24" name="Group 24"/>
          <p:cNvGrpSpPr/>
          <p:nvPr/>
        </p:nvGrpSpPr>
        <p:grpSpPr>
          <a:xfrm>
            <a:off x="1705232" y="2175643"/>
            <a:ext cx="15316010" cy="6434518"/>
            <a:chOff x="0" y="0"/>
            <a:chExt cx="20421346" cy="8579358"/>
          </a:xfrm>
        </p:grpSpPr>
        <p:sp>
          <p:nvSpPr>
            <p:cNvPr id="25" name="Freeform 25"/>
            <p:cNvSpPr/>
            <p:nvPr/>
          </p:nvSpPr>
          <p:spPr>
            <a:xfrm>
              <a:off x="0" y="0"/>
              <a:ext cx="20421346" cy="8579358"/>
            </a:xfrm>
            <a:custGeom>
              <a:avLst/>
              <a:gdLst/>
              <a:ahLst/>
              <a:cxnLst/>
              <a:rect l="l" t="t" r="r" b="b"/>
              <a:pathLst>
                <a:path w="20421346" h="8579358">
                  <a:moveTo>
                    <a:pt x="0" y="231775"/>
                  </a:moveTo>
                  <a:cubicBezTo>
                    <a:pt x="0" y="103759"/>
                    <a:pt x="103759" y="0"/>
                    <a:pt x="231775" y="0"/>
                  </a:cubicBezTo>
                  <a:lnTo>
                    <a:pt x="20189571" y="0"/>
                  </a:lnTo>
                  <a:cubicBezTo>
                    <a:pt x="20317586" y="0"/>
                    <a:pt x="20421346" y="103759"/>
                    <a:pt x="20421346" y="231775"/>
                  </a:cubicBezTo>
                  <a:lnTo>
                    <a:pt x="20421346" y="8347583"/>
                  </a:lnTo>
                  <a:cubicBezTo>
                    <a:pt x="20421346" y="8475599"/>
                    <a:pt x="20317586" y="8579358"/>
                    <a:pt x="20189571" y="8579358"/>
                  </a:cubicBezTo>
                  <a:lnTo>
                    <a:pt x="231775" y="8579358"/>
                  </a:lnTo>
                  <a:cubicBezTo>
                    <a:pt x="103759" y="8579358"/>
                    <a:pt x="0" y="8475599"/>
                    <a:pt x="0" y="8347583"/>
                  </a:cubicBezTo>
                  <a:close/>
                </a:path>
              </a:pathLst>
            </a:custGeom>
            <a:gradFill rotWithShape="1">
              <a:gsLst>
                <a:gs pos="0">
                  <a:srgbClr val="38EF7D">
                    <a:alpha val="40000"/>
                  </a:srgbClr>
                </a:gs>
                <a:gs pos="100000">
                  <a:srgbClr val="11998E">
                    <a:alpha val="40000"/>
                  </a:srgbClr>
                </a:gs>
              </a:gsLst>
              <a:lin ang="2700000"/>
            </a:gradFill>
          </p:spPr>
          <p:txBody>
            <a:bodyPr/>
            <a:lstStyle/>
            <a:p>
              <a:endParaRPr lang="en-US"/>
            </a:p>
          </p:txBody>
        </p:sp>
      </p:grpSp>
      <p:grpSp>
        <p:nvGrpSpPr>
          <p:cNvPr id="26" name="Group 26"/>
          <p:cNvGrpSpPr/>
          <p:nvPr/>
        </p:nvGrpSpPr>
        <p:grpSpPr>
          <a:xfrm>
            <a:off x="0" y="2124"/>
            <a:ext cx="18291715" cy="10295477"/>
            <a:chOff x="0" y="0"/>
            <a:chExt cx="24388953" cy="13727303"/>
          </a:xfrm>
        </p:grpSpPr>
        <p:sp>
          <p:nvSpPr>
            <p:cNvPr id="27" name="Freeform 27"/>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28" name="Group 28"/>
          <p:cNvGrpSpPr/>
          <p:nvPr/>
        </p:nvGrpSpPr>
        <p:grpSpPr>
          <a:xfrm>
            <a:off x="15614542" y="498424"/>
            <a:ext cx="4114800" cy="547688"/>
            <a:chOff x="0" y="0"/>
            <a:chExt cx="5486400" cy="730250"/>
          </a:xfrm>
        </p:grpSpPr>
        <p:sp>
          <p:nvSpPr>
            <p:cNvPr id="29" name="Freeform 29"/>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6">
                <a:alphaModFix amt="0"/>
              </a:blip>
              <a:stretch>
                <a:fillRect t="-96290" b="-96290"/>
              </a:stretch>
            </a:blipFill>
          </p:spPr>
          <p:txBody>
            <a:bodyPr/>
            <a:lstStyle/>
            <a:p>
              <a:endParaRPr lang="en-US"/>
            </a:p>
          </p:txBody>
        </p:sp>
      </p:grpSp>
      <p:grpSp>
        <p:nvGrpSpPr>
          <p:cNvPr id="30" name="Group 30"/>
          <p:cNvGrpSpPr/>
          <p:nvPr/>
        </p:nvGrpSpPr>
        <p:grpSpPr>
          <a:xfrm>
            <a:off x="15614542" y="484137"/>
            <a:ext cx="4114800" cy="561975"/>
            <a:chOff x="0" y="0"/>
            <a:chExt cx="5486400" cy="749300"/>
          </a:xfrm>
        </p:grpSpPr>
        <p:sp>
          <p:nvSpPr>
            <p:cNvPr id="31" name="Freeform 31"/>
            <p:cNvSpPr/>
            <p:nvPr/>
          </p:nvSpPr>
          <p:spPr>
            <a:xfrm>
              <a:off x="0" y="0"/>
              <a:ext cx="5486400" cy="749301"/>
            </a:xfrm>
            <a:custGeom>
              <a:avLst/>
              <a:gdLst/>
              <a:ahLst/>
              <a:cxnLst/>
              <a:rect l="l" t="t" r="r" b="b"/>
              <a:pathLst>
                <a:path w="5486400" h="749301">
                  <a:moveTo>
                    <a:pt x="0" y="0"/>
                  </a:moveTo>
                  <a:lnTo>
                    <a:pt x="5486400" y="0"/>
                  </a:lnTo>
                  <a:lnTo>
                    <a:pt x="5486400" y="749301"/>
                  </a:lnTo>
                  <a:lnTo>
                    <a:pt x="0" y="749301"/>
                  </a:lnTo>
                  <a:close/>
                </a:path>
              </a:pathLst>
            </a:custGeom>
            <a:blipFill>
              <a:blip r:embed="rId7">
                <a:alphaModFix amt="0"/>
              </a:blip>
              <a:stretch>
                <a:fillRect t="-92670" b="-92669"/>
              </a:stretch>
            </a:blipFill>
          </p:spPr>
          <p:txBody>
            <a:bodyPr/>
            <a:lstStyle/>
            <a:p>
              <a:endParaRPr lang="en-US"/>
            </a:p>
          </p:txBody>
        </p:sp>
        <p:sp>
          <p:nvSpPr>
            <p:cNvPr id="32" name="TextBox 32"/>
            <p:cNvSpPr txBox="1"/>
            <p:nvPr/>
          </p:nvSpPr>
          <p:spPr>
            <a:xfrm>
              <a:off x="0" y="-19050"/>
              <a:ext cx="5486400" cy="768350"/>
            </a:xfrm>
            <a:prstGeom prst="rect">
              <a:avLst/>
            </a:prstGeom>
          </p:spPr>
          <p:txBody>
            <a:bodyPr lIns="0" tIns="0" rIns="0" bIns="0" rtlCol="0" anchor="ctr"/>
            <a:lstStyle/>
            <a:p>
              <a:pPr algn="ctr">
                <a:lnSpc>
                  <a:spcPts val="2160"/>
                </a:lnSpc>
              </a:pPr>
              <a:r>
                <a:rPr lang="en-US" sz="1800">
                  <a:solidFill>
                    <a:srgbClr val="FFFFFF"/>
                  </a:solidFill>
                  <a:latin typeface="Arial"/>
                  <a:ea typeface="Arial"/>
                  <a:cs typeface="Arial"/>
                  <a:sym typeface="Arial"/>
                </a:rPr>
                <a:t>‹#›</a:t>
              </a:r>
            </a:p>
          </p:txBody>
        </p:sp>
      </p:grpSp>
      <p:grpSp>
        <p:nvGrpSpPr>
          <p:cNvPr id="33" name="Group 33"/>
          <p:cNvGrpSpPr/>
          <p:nvPr/>
        </p:nvGrpSpPr>
        <p:grpSpPr>
          <a:xfrm>
            <a:off x="2480043" y="3638074"/>
            <a:ext cx="13766321" cy="2258930"/>
            <a:chOff x="0" y="0"/>
            <a:chExt cx="18355094" cy="3011907"/>
          </a:xfrm>
        </p:grpSpPr>
        <p:sp>
          <p:nvSpPr>
            <p:cNvPr id="34" name="Freeform 34"/>
            <p:cNvSpPr/>
            <p:nvPr/>
          </p:nvSpPr>
          <p:spPr>
            <a:xfrm>
              <a:off x="0" y="0"/>
              <a:ext cx="18355056" cy="3011932"/>
            </a:xfrm>
            <a:custGeom>
              <a:avLst/>
              <a:gdLst/>
              <a:ahLst/>
              <a:cxnLst/>
              <a:rect l="l" t="t" r="r" b="b"/>
              <a:pathLst>
                <a:path w="18355056" h="3011932">
                  <a:moveTo>
                    <a:pt x="0" y="0"/>
                  </a:moveTo>
                  <a:lnTo>
                    <a:pt x="18355056" y="0"/>
                  </a:lnTo>
                  <a:lnTo>
                    <a:pt x="18355056" y="3011932"/>
                  </a:lnTo>
                  <a:lnTo>
                    <a:pt x="0" y="3011932"/>
                  </a:lnTo>
                  <a:close/>
                </a:path>
              </a:pathLst>
            </a:custGeom>
            <a:blipFill>
              <a:blip r:embed="rId6">
                <a:alphaModFix amt="0"/>
              </a:blip>
              <a:stretch>
                <a:fillRect t="-68662" b="-68661"/>
              </a:stretch>
            </a:blipFill>
          </p:spPr>
          <p:txBody>
            <a:bodyPr/>
            <a:lstStyle/>
            <a:p>
              <a:endParaRPr lang="en-US"/>
            </a:p>
          </p:txBody>
        </p:sp>
      </p:grpSp>
      <p:grpSp>
        <p:nvGrpSpPr>
          <p:cNvPr id="35" name="Group 35"/>
          <p:cNvGrpSpPr/>
          <p:nvPr/>
        </p:nvGrpSpPr>
        <p:grpSpPr>
          <a:xfrm>
            <a:off x="2480043" y="3680936"/>
            <a:ext cx="13766321" cy="2216067"/>
            <a:chOff x="0" y="0"/>
            <a:chExt cx="18355094" cy="2954757"/>
          </a:xfrm>
        </p:grpSpPr>
        <p:sp>
          <p:nvSpPr>
            <p:cNvPr id="36" name="Freeform 36"/>
            <p:cNvSpPr/>
            <p:nvPr/>
          </p:nvSpPr>
          <p:spPr>
            <a:xfrm>
              <a:off x="0" y="0"/>
              <a:ext cx="18355095" cy="2954757"/>
            </a:xfrm>
            <a:custGeom>
              <a:avLst/>
              <a:gdLst/>
              <a:ahLst/>
              <a:cxnLst/>
              <a:rect l="l" t="t" r="r" b="b"/>
              <a:pathLst>
                <a:path w="18355095" h="2954757">
                  <a:moveTo>
                    <a:pt x="0" y="0"/>
                  </a:moveTo>
                  <a:lnTo>
                    <a:pt x="18355095" y="0"/>
                  </a:lnTo>
                  <a:lnTo>
                    <a:pt x="18355095" y="2954757"/>
                  </a:lnTo>
                  <a:lnTo>
                    <a:pt x="0" y="2954757"/>
                  </a:lnTo>
                  <a:close/>
                </a:path>
              </a:pathLst>
            </a:custGeom>
            <a:blipFill>
              <a:blip r:embed="rId7">
                <a:alphaModFix amt="0"/>
              </a:blip>
              <a:stretch>
                <a:fillRect t="-71042" b="-71042"/>
              </a:stretch>
            </a:blipFill>
          </p:spPr>
          <p:txBody>
            <a:bodyPr/>
            <a:lstStyle/>
            <a:p>
              <a:endParaRPr lang="en-US"/>
            </a:p>
          </p:txBody>
        </p:sp>
        <p:sp>
          <p:nvSpPr>
            <p:cNvPr id="37" name="TextBox 37"/>
            <p:cNvSpPr txBox="1"/>
            <p:nvPr/>
          </p:nvSpPr>
          <p:spPr>
            <a:xfrm>
              <a:off x="0" y="57150"/>
              <a:ext cx="18355094" cy="2897607"/>
            </a:xfrm>
            <a:prstGeom prst="rect">
              <a:avLst/>
            </a:prstGeom>
          </p:spPr>
          <p:txBody>
            <a:bodyPr lIns="0" tIns="0" rIns="0" bIns="0" rtlCol="0" anchor="ctr"/>
            <a:lstStyle/>
            <a:p>
              <a:pPr algn="l">
                <a:lnSpc>
                  <a:spcPts val="8856"/>
                </a:lnSpc>
              </a:pPr>
              <a:r>
                <a:rPr lang="en-US" sz="8200" b="1">
                  <a:solidFill>
                    <a:srgbClr val="FFFFFF"/>
                  </a:solidFill>
                  <a:latin typeface="Times New Roman Bold"/>
                  <a:ea typeface="Times New Roman Bold"/>
                  <a:cs typeface="Times New Roman Bold"/>
                  <a:sym typeface="Times New Roman Bold"/>
                </a:rPr>
                <a:t>Cơ sở lý thuyết</a:t>
              </a:r>
            </a:p>
          </p:txBody>
        </p:sp>
      </p:grpSp>
      <p:sp>
        <p:nvSpPr>
          <p:cNvPr id="38" name="TextBox 38"/>
          <p:cNvSpPr txBox="1"/>
          <p:nvPr/>
        </p:nvSpPr>
        <p:spPr>
          <a:xfrm>
            <a:off x="2548614" y="1142886"/>
            <a:ext cx="2941806" cy="2343655"/>
          </a:xfrm>
          <a:prstGeom prst="rect">
            <a:avLst/>
          </a:prstGeom>
        </p:spPr>
        <p:txBody>
          <a:bodyPr lIns="0" tIns="0" rIns="0" bIns="0" rtlCol="0" anchor="t">
            <a:spAutoFit/>
          </a:bodyPr>
          <a:lstStyle/>
          <a:p>
            <a:pPr algn="l">
              <a:lnSpc>
                <a:spcPts val="18576"/>
              </a:lnSpc>
            </a:pPr>
            <a:r>
              <a:rPr lang="en-US" sz="17200" b="1">
                <a:solidFill>
                  <a:srgbClr val="FFFFFF"/>
                </a:solidFill>
                <a:latin typeface="Arial Bold"/>
                <a:ea typeface="Arial Bold"/>
                <a:cs typeface="Arial Bold"/>
                <a:sym typeface="Arial Bold"/>
              </a:rPr>
              <a:t>02</a:t>
            </a:r>
          </a:p>
        </p:txBody>
      </p:sp>
      <p:sp>
        <p:nvSpPr>
          <p:cNvPr id="39" name="TextBox 39"/>
          <p:cNvSpPr txBox="1"/>
          <p:nvPr/>
        </p:nvSpPr>
        <p:spPr>
          <a:xfrm>
            <a:off x="17544783" y="9144000"/>
            <a:ext cx="254317" cy="1143000"/>
          </a:xfrm>
          <a:prstGeom prst="rect">
            <a:avLst/>
          </a:prstGeom>
        </p:spPr>
        <p:txBody>
          <a:bodyPr lIns="0" tIns="0" rIns="0" bIns="0" rtlCol="0" anchor="t">
            <a:spAutoFit/>
          </a:bodyPr>
          <a:lstStyle/>
          <a:p>
            <a:pPr algn="ctr">
              <a:lnSpc>
                <a:spcPts val="4320"/>
              </a:lnSpc>
            </a:pPr>
            <a:r>
              <a:rPr lang="en-US" sz="3600">
                <a:solidFill>
                  <a:srgbClr val="000000"/>
                </a:solidFill>
                <a:latin typeface="Arial"/>
                <a:ea typeface="Arial"/>
                <a:cs typeface="Arial"/>
                <a:sym typeface="Arial"/>
              </a:rPr>
              <a:t>5</a:t>
            </a:r>
          </a:p>
          <a:p>
            <a:pPr algn="ctr">
              <a:lnSpc>
                <a:spcPts val="4320"/>
              </a:lnSpc>
            </a:pPr>
            <a:endParaRPr lang="en-US" sz="360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124"/>
            <a:ext cx="18291715" cy="10295477"/>
            <a:chOff x="0" y="0"/>
            <a:chExt cx="24388953" cy="13727303"/>
          </a:xfrm>
        </p:grpSpPr>
        <p:sp>
          <p:nvSpPr>
            <p:cNvPr id="3" name="Freeform 3"/>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4" name="Group 4"/>
          <p:cNvGrpSpPr/>
          <p:nvPr/>
        </p:nvGrpSpPr>
        <p:grpSpPr>
          <a:xfrm>
            <a:off x="0" y="2124"/>
            <a:ext cx="18291715" cy="10295477"/>
            <a:chOff x="0" y="0"/>
            <a:chExt cx="24388953" cy="13727303"/>
          </a:xfrm>
        </p:grpSpPr>
        <p:sp>
          <p:nvSpPr>
            <p:cNvPr id="5" name="Freeform 5"/>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6" name="Group 6"/>
          <p:cNvGrpSpPr/>
          <p:nvPr/>
        </p:nvGrpSpPr>
        <p:grpSpPr>
          <a:xfrm rot="5400000">
            <a:off x="8668464" y="-8670055"/>
            <a:ext cx="947356" cy="18291715"/>
            <a:chOff x="0" y="0"/>
            <a:chExt cx="1263142" cy="24388953"/>
          </a:xfrm>
        </p:grpSpPr>
        <p:sp>
          <p:nvSpPr>
            <p:cNvPr id="7" name="Freeform 7"/>
            <p:cNvSpPr/>
            <p:nvPr/>
          </p:nvSpPr>
          <p:spPr>
            <a:xfrm>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gradFill rotWithShape="1">
              <a:gsLst>
                <a:gs pos="0">
                  <a:srgbClr val="10CC57">
                    <a:alpha val="100000"/>
                  </a:srgbClr>
                </a:gs>
                <a:gs pos="100000">
                  <a:srgbClr val="017058">
                    <a:alpha val="100000"/>
                  </a:srgbClr>
                </a:gs>
              </a:gsLst>
              <a:lin ang="0"/>
            </a:gradFill>
          </p:spPr>
          <p:txBody>
            <a:bodyPr/>
            <a:lstStyle/>
            <a:p>
              <a:endParaRPr lang="en-US"/>
            </a:p>
          </p:txBody>
        </p:sp>
      </p:grpSp>
      <p:grpSp>
        <p:nvGrpSpPr>
          <p:cNvPr id="8" name="Group 8"/>
          <p:cNvGrpSpPr/>
          <p:nvPr/>
        </p:nvGrpSpPr>
        <p:grpSpPr>
          <a:xfrm rot="-5400000">
            <a:off x="8670312" y="-8672208"/>
            <a:ext cx="947356" cy="18291715"/>
            <a:chOff x="0" y="0"/>
            <a:chExt cx="1263142" cy="24388953"/>
          </a:xfrm>
        </p:grpSpPr>
        <p:sp>
          <p:nvSpPr>
            <p:cNvPr id="9" name="Freeform 9"/>
            <p:cNvSpPr/>
            <p:nvPr/>
          </p:nvSpPr>
          <p:spPr>
            <a:xfrm flipH="1">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blipFill>
              <a:blip r:embed="rId2"/>
              <a:stretch>
                <a:fillRect l="-35092" r="-35091"/>
              </a:stretch>
            </a:blipFill>
          </p:spPr>
          <p:txBody>
            <a:bodyPr/>
            <a:lstStyle/>
            <a:p>
              <a:endParaRPr lang="en-US"/>
            </a:p>
          </p:txBody>
        </p:sp>
      </p:grpSp>
      <p:sp>
        <p:nvSpPr>
          <p:cNvPr id="10" name="TextBox 10"/>
          <p:cNvSpPr txBox="1"/>
          <p:nvPr/>
        </p:nvSpPr>
        <p:spPr>
          <a:xfrm>
            <a:off x="428996" y="227362"/>
            <a:ext cx="10993288" cy="456571"/>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11" name="Group 11"/>
          <p:cNvGrpSpPr/>
          <p:nvPr/>
        </p:nvGrpSpPr>
        <p:grpSpPr>
          <a:xfrm>
            <a:off x="6719983" y="457933"/>
            <a:ext cx="4848130" cy="958024"/>
            <a:chOff x="0" y="0"/>
            <a:chExt cx="6464173" cy="1277366"/>
          </a:xfrm>
        </p:grpSpPr>
        <p:sp>
          <p:nvSpPr>
            <p:cNvPr id="12" name="Freeform 12"/>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2700000"/>
            </a:gradFill>
          </p:spPr>
          <p:txBody>
            <a:bodyPr/>
            <a:lstStyle/>
            <a:p>
              <a:endParaRPr lang="en-US"/>
            </a:p>
          </p:txBody>
        </p:sp>
      </p:grpSp>
      <p:grpSp>
        <p:nvGrpSpPr>
          <p:cNvPr id="13" name="Group 13"/>
          <p:cNvGrpSpPr/>
          <p:nvPr/>
        </p:nvGrpSpPr>
        <p:grpSpPr>
          <a:xfrm>
            <a:off x="6807460" y="535972"/>
            <a:ext cx="4673060" cy="801815"/>
            <a:chOff x="0" y="0"/>
            <a:chExt cx="6230747" cy="1069086"/>
          </a:xfrm>
        </p:grpSpPr>
        <p:sp>
          <p:nvSpPr>
            <p:cNvPr id="14" name="Freeform 14"/>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en-US"/>
            </a:p>
          </p:txBody>
        </p:sp>
      </p:grpSp>
      <p:grpSp>
        <p:nvGrpSpPr>
          <p:cNvPr id="15" name="Group 15"/>
          <p:cNvGrpSpPr/>
          <p:nvPr/>
        </p:nvGrpSpPr>
        <p:grpSpPr>
          <a:xfrm>
            <a:off x="9436446" y="362541"/>
            <a:ext cx="1163288" cy="1152620"/>
            <a:chOff x="0" y="0"/>
            <a:chExt cx="1551051" cy="1536827"/>
          </a:xfrm>
        </p:grpSpPr>
        <p:sp>
          <p:nvSpPr>
            <p:cNvPr id="16" name="Freeform 16"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211" r="-210"/>
              </a:stretch>
            </a:blipFill>
          </p:spPr>
          <p:txBody>
            <a:bodyPr/>
            <a:lstStyle/>
            <a:p>
              <a:endParaRPr lang="en-US"/>
            </a:p>
          </p:txBody>
        </p:sp>
      </p:grpSp>
      <p:grpSp>
        <p:nvGrpSpPr>
          <p:cNvPr id="17" name="Group 17"/>
          <p:cNvGrpSpPr/>
          <p:nvPr/>
        </p:nvGrpSpPr>
        <p:grpSpPr>
          <a:xfrm>
            <a:off x="7688247" y="398078"/>
            <a:ext cx="1307497" cy="1081564"/>
            <a:chOff x="0" y="0"/>
            <a:chExt cx="1743329" cy="1442085"/>
          </a:xfrm>
        </p:grpSpPr>
        <p:sp>
          <p:nvSpPr>
            <p:cNvPr id="18" name="Freeform 18"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l="-38" r="-37"/>
              </a:stretch>
            </a:blipFill>
          </p:spPr>
          <p:txBody>
            <a:bodyPr/>
            <a:lstStyle/>
            <a:p>
              <a:endParaRPr lang="en-US"/>
            </a:p>
          </p:txBody>
        </p:sp>
      </p:grpSp>
      <p:grpSp>
        <p:nvGrpSpPr>
          <p:cNvPr id="19" name="Group 19"/>
          <p:cNvGrpSpPr/>
          <p:nvPr/>
        </p:nvGrpSpPr>
        <p:grpSpPr>
          <a:xfrm>
            <a:off x="908999" y="1555147"/>
            <a:ext cx="16470001" cy="1335996"/>
            <a:chOff x="0" y="0"/>
            <a:chExt cx="21960002" cy="1781327"/>
          </a:xfrm>
        </p:grpSpPr>
        <p:sp>
          <p:nvSpPr>
            <p:cNvPr id="20" name="Freeform 20"/>
            <p:cNvSpPr/>
            <p:nvPr/>
          </p:nvSpPr>
          <p:spPr>
            <a:xfrm>
              <a:off x="0" y="0"/>
              <a:ext cx="21959951" cy="1781302"/>
            </a:xfrm>
            <a:custGeom>
              <a:avLst/>
              <a:gdLst/>
              <a:ahLst/>
              <a:cxnLst/>
              <a:rect l="l" t="t" r="r" b="b"/>
              <a:pathLst>
                <a:path w="21959951" h="1781302">
                  <a:moveTo>
                    <a:pt x="0" y="0"/>
                  </a:moveTo>
                  <a:lnTo>
                    <a:pt x="21959951" y="0"/>
                  </a:lnTo>
                  <a:lnTo>
                    <a:pt x="21959951" y="1781302"/>
                  </a:lnTo>
                  <a:lnTo>
                    <a:pt x="0" y="1781302"/>
                  </a:lnTo>
                  <a:close/>
                </a:path>
              </a:pathLst>
            </a:custGeom>
            <a:blipFill>
              <a:blip r:embed="rId5">
                <a:alphaModFix amt="0"/>
              </a:blip>
              <a:stretch>
                <a:fillRect t="-190044" b="-190046"/>
              </a:stretch>
            </a:blipFill>
          </p:spPr>
          <p:txBody>
            <a:bodyPr/>
            <a:lstStyle/>
            <a:p>
              <a:endParaRPr lang="en-US"/>
            </a:p>
          </p:txBody>
        </p:sp>
      </p:grpSp>
      <p:grpSp>
        <p:nvGrpSpPr>
          <p:cNvPr id="21" name="Group 21"/>
          <p:cNvGrpSpPr/>
          <p:nvPr/>
        </p:nvGrpSpPr>
        <p:grpSpPr>
          <a:xfrm>
            <a:off x="908999" y="1576578"/>
            <a:ext cx="16470001" cy="1314564"/>
            <a:chOff x="0" y="0"/>
            <a:chExt cx="21960002" cy="1752752"/>
          </a:xfrm>
        </p:grpSpPr>
        <p:sp>
          <p:nvSpPr>
            <p:cNvPr id="22" name="Freeform 22"/>
            <p:cNvSpPr/>
            <p:nvPr/>
          </p:nvSpPr>
          <p:spPr>
            <a:xfrm>
              <a:off x="0" y="0"/>
              <a:ext cx="21960001" cy="1752750"/>
            </a:xfrm>
            <a:custGeom>
              <a:avLst/>
              <a:gdLst/>
              <a:ahLst/>
              <a:cxnLst/>
              <a:rect l="l" t="t" r="r" b="b"/>
              <a:pathLst>
                <a:path w="21960001" h="1752750">
                  <a:moveTo>
                    <a:pt x="0" y="0"/>
                  </a:moveTo>
                  <a:lnTo>
                    <a:pt x="21960001" y="0"/>
                  </a:lnTo>
                  <a:lnTo>
                    <a:pt x="21960001" y="1752750"/>
                  </a:lnTo>
                  <a:lnTo>
                    <a:pt x="0" y="1752750"/>
                  </a:lnTo>
                  <a:close/>
                </a:path>
              </a:pathLst>
            </a:custGeom>
            <a:blipFill>
              <a:blip r:embed="rId6">
                <a:alphaModFix amt="0"/>
              </a:blip>
              <a:stretch>
                <a:fillRect t="-194125" b="-194125"/>
              </a:stretch>
            </a:blipFill>
          </p:spPr>
          <p:txBody>
            <a:bodyPr/>
            <a:lstStyle/>
            <a:p>
              <a:endParaRPr lang="en-US"/>
            </a:p>
          </p:txBody>
        </p:sp>
        <p:sp>
          <p:nvSpPr>
            <p:cNvPr id="23" name="TextBox 23"/>
            <p:cNvSpPr txBox="1"/>
            <p:nvPr/>
          </p:nvSpPr>
          <p:spPr>
            <a:xfrm>
              <a:off x="0" y="28575"/>
              <a:ext cx="21960002" cy="1724177"/>
            </a:xfrm>
            <a:prstGeom prst="rect">
              <a:avLst/>
            </a:prstGeom>
          </p:spPr>
          <p:txBody>
            <a:bodyPr lIns="0" tIns="0" rIns="0" bIns="0" rtlCol="0" anchor="ctr"/>
            <a:lstStyle/>
            <a:p>
              <a:pPr algn="l">
                <a:lnSpc>
                  <a:spcPts val="6048"/>
                </a:lnSpc>
              </a:pPr>
              <a:r>
                <a:rPr lang="en-US" sz="5599" b="1">
                  <a:solidFill>
                    <a:srgbClr val="017058"/>
                  </a:solidFill>
                  <a:latin typeface="Times New Roman Bold"/>
                  <a:ea typeface="Times New Roman Bold"/>
                  <a:cs typeface="Times New Roman Bold"/>
                  <a:sym typeface="Times New Roman Bold"/>
                </a:rPr>
                <a:t>2. Cơ sở lý thuyết</a:t>
              </a:r>
            </a:p>
          </p:txBody>
        </p:sp>
      </p:grpSp>
      <p:sp>
        <p:nvSpPr>
          <p:cNvPr id="24" name="TextBox 24"/>
          <p:cNvSpPr txBox="1"/>
          <p:nvPr/>
        </p:nvSpPr>
        <p:spPr>
          <a:xfrm>
            <a:off x="1116511" y="4218003"/>
            <a:ext cx="16369951" cy="2552700"/>
          </a:xfrm>
          <a:prstGeom prst="rect">
            <a:avLst/>
          </a:prstGeom>
        </p:spPr>
        <p:txBody>
          <a:bodyPr lIns="0" tIns="0" rIns="0" bIns="0" rtlCol="0" anchor="t">
            <a:spAutoFit/>
          </a:bodyPr>
          <a:lstStyle/>
          <a:p>
            <a:pPr algn="l">
              <a:lnSpc>
                <a:spcPts val="3358"/>
              </a:lnSpc>
            </a:pPr>
            <a:r>
              <a:rPr lang="en-US" sz="2799">
                <a:solidFill>
                  <a:srgbClr val="000000"/>
                </a:solidFill>
                <a:latin typeface="Arial"/>
                <a:ea typeface="Arial"/>
                <a:cs typeface="Arial"/>
                <a:sym typeface="Arial"/>
              </a:rPr>
              <a:t>Thuật toán mã hóa RSA được xây dựng dựa trên độ phức tạp của bài toán phân tích các số nguyên tố lớn (p,q) với hai cặp khóa:  khóa công khai (e,N) và khóa riêng tư (d,N).</a:t>
            </a:r>
          </a:p>
          <a:p>
            <a:pPr algn="l">
              <a:lnSpc>
                <a:spcPts val="3358"/>
              </a:lnSpc>
            </a:pPr>
            <a:r>
              <a:rPr lang="en-US" sz="2799">
                <a:solidFill>
                  <a:srgbClr val="000000"/>
                </a:solidFill>
                <a:latin typeface="Arial"/>
                <a:ea typeface="Arial"/>
                <a:cs typeface="Arial"/>
                <a:sym typeface="Arial"/>
              </a:rPr>
              <a:t> </a:t>
            </a:r>
          </a:p>
          <a:p>
            <a:pPr algn="l">
              <a:lnSpc>
                <a:spcPts val="3358"/>
              </a:lnSpc>
            </a:pPr>
            <a:r>
              <a:rPr lang="en-US" sz="2799">
                <a:solidFill>
                  <a:srgbClr val="000000"/>
                </a:solidFill>
                <a:latin typeface="Arial"/>
                <a:ea typeface="Arial"/>
                <a:cs typeface="Arial"/>
                <a:sym typeface="Arial"/>
              </a:rPr>
              <a:t>Phép toán nền tảng của quá trình mã hóa lẫn giải mã RSA là phép tính lũy thừa modulo, được biểu diễn qua phương trình</a:t>
            </a:r>
          </a:p>
          <a:p>
            <a:pPr algn="l">
              <a:lnSpc>
                <a:spcPts val="3358"/>
              </a:lnSpc>
            </a:pPr>
            <a:endParaRPr lang="en-US" sz="2799">
              <a:solidFill>
                <a:srgbClr val="000000"/>
              </a:solidFill>
              <a:latin typeface="Arial"/>
              <a:ea typeface="Arial"/>
              <a:cs typeface="Arial"/>
              <a:sym typeface="Arial"/>
            </a:endParaRPr>
          </a:p>
        </p:txBody>
      </p:sp>
      <p:sp>
        <p:nvSpPr>
          <p:cNvPr id="25" name="TextBox 25"/>
          <p:cNvSpPr txBox="1"/>
          <p:nvPr/>
        </p:nvSpPr>
        <p:spPr>
          <a:xfrm>
            <a:off x="68570" y="-2318490"/>
            <a:ext cx="18150850" cy="569719"/>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sp>
        <p:nvSpPr>
          <p:cNvPr id="26" name="TextBox 26"/>
          <p:cNvSpPr txBox="1"/>
          <p:nvPr/>
        </p:nvSpPr>
        <p:spPr>
          <a:xfrm>
            <a:off x="1170127" y="2626671"/>
            <a:ext cx="13201945" cy="1108710"/>
          </a:xfrm>
          <a:prstGeom prst="rect">
            <a:avLst/>
          </a:prstGeom>
        </p:spPr>
        <p:txBody>
          <a:bodyPr lIns="0" tIns="0" rIns="0" bIns="0" rtlCol="0" anchor="t">
            <a:spAutoFit/>
          </a:bodyPr>
          <a:lstStyle/>
          <a:p>
            <a:pPr algn="l">
              <a:lnSpc>
                <a:spcPts val="4320"/>
              </a:lnSpc>
            </a:pPr>
            <a:r>
              <a:rPr lang="en-US" sz="4000" b="1">
                <a:solidFill>
                  <a:srgbClr val="017058"/>
                </a:solidFill>
                <a:latin typeface="Times New Roman Bold"/>
                <a:ea typeface="Times New Roman Bold"/>
                <a:cs typeface="Times New Roman Bold"/>
                <a:sym typeface="Times New Roman Bold"/>
              </a:rPr>
              <a:t>2.1. Thuật toán mã hóa RSA và Phép lũy thừa Modulo (Modular Exponentiation)</a:t>
            </a:r>
          </a:p>
        </p:txBody>
      </p:sp>
      <p:sp>
        <p:nvSpPr>
          <p:cNvPr id="27" name="TextBox 27"/>
          <p:cNvSpPr txBox="1"/>
          <p:nvPr/>
        </p:nvSpPr>
        <p:spPr>
          <a:xfrm>
            <a:off x="2071878" y="6932628"/>
            <a:ext cx="6270127" cy="1657350"/>
          </a:xfrm>
          <a:prstGeom prst="rect">
            <a:avLst/>
          </a:prstGeom>
        </p:spPr>
        <p:txBody>
          <a:bodyPr lIns="0" tIns="0" rIns="0" bIns="0" rtlCol="0" anchor="t">
            <a:spAutoFit/>
          </a:bodyPr>
          <a:lstStyle/>
          <a:p>
            <a:pPr algn="l">
              <a:lnSpc>
                <a:spcPts val="4320"/>
              </a:lnSpc>
            </a:pPr>
            <a:r>
              <a:rPr lang="en-US" sz="3600">
                <a:solidFill>
                  <a:srgbClr val="000000"/>
                </a:solidFill>
                <a:latin typeface="Arial"/>
                <a:ea typeface="Arial"/>
                <a:cs typeface="Arial"/>
                <a:sym typeface="Arial"/>
              </a:rPr>
              <a:t>Mã hóa: C = </a:t>
            </a:r>
            <a:r>
              <a:rPr lang="vi-VN" sz="3600">
                <a:solidFill>
                  <a:srgbClr val="000000"/>
                </a:solidFill>
                <a:latin typeface="Arial"/>
                <a:ea typeface="Arial"/>
                <a:cs typeface="Arial"/>
                <a:sym typeface="Arial"/>
              </a:rPr>
              <a:t>M</a:t>
            </a:r>
            <a:r>
              <a:rPr lang="en-US" sz="3600" baseline="30000">
                <a:solidFill>
                  <a:srgbClr val="000000"/>
                </a:solidFill>
                <a:latin typeface="Arial"/>
                <a:ea typeface="Arial"/>
                <a:cs typeface="Arial"/>
                <a:sym typeface="Arial"/>
              </a:rPr>
              <a:t>e</a:t>
            </a:r>
            <a:r>
              <a:rPr lang="en-US" sz="3600">
                <a:solidFill>
                  <a:srgbClr val="000000"/>
                </a:solidFill>
                <a:latin typeface="Arial"/>
                <a:ea typeface="Arial"/>
                <a:cs typeface="Arial"/>
                <a:sym typeface="Arial"/>
              </a:rPr>
              <a:t> mod N  </a:t>
            </a:r>
          </a:p>
          <a:p>
            <a:pPr algn="l">
              <a:lnSpc>
                <a:spcPts val="4320"/>
              </a:lnSpc>
            </a:pPr>
            <a:endParaRPr lang="en-US" sz="3600">
              <a:solidFill>
                <a:srgbClr val="000000"/>
              </a:solidFill>
              <a:latin typeface="Arial"/>
              <a:ea typeface="Arial"/>
              <a:cs typeface="Arial"/>
              <a:sym typeface="Arial"/>
            </a:endParaRPr>
          </a:p>
          <a:p>
            <a:pPr algn="l">
              <a:lnSpc>
                <a:spcPts val="4320"/>
              </a:lnSpc>
            </a:pPr>
            <a:r>
              <a:rPr lang="en-US" sz="3600">
                <a:solidFill>
                  <a:srgbClr val="000000"/>
                </a:solidFill>
                <a:latin typeface="Arial"/>
                <a:ea typeface="Arial"/>
                <a:cs typeface="Arial"/>
                <a:sym typeface="Arial"/>
              </a:rPr>
              <a:t>Giải mã : M = </a:t>
            </a:r>
            <a:r>
              <a:rPr lang="vi-VN" sz="3600">
                <a:solidFill>
                  <a:srgbClr val="000000"/>
                </a:solidFill>
                <a:latin typeface="Arial"/>
                <a:ea typeface="Arial"/>
                <a:cs typeface="Arial"/>
                <a:sym typeface="Arial"/>
              </a:rPr>
              <a:t>C</a:t>
            </a:r>
            <a:r>
              <a:rPr lang="en-US" sz="3600" baseline="30000">
                <a:solidFill>
                  <a:srgbClr val="000000"/>
                </a:solidFill>
                <a:latin typeface="Arial"/>
                <a:ea typeface="Arial"/>
                <a:cs typeface="Arial"/>
                <a:sym typeface="Arial"/>
              </a:rPr>
              <a:t>d</a:t>
            </a:r>
            <a:r>
              <a:rPr lang="en-US" sz="3600">
                <a:solidFill>
                  <a:srgbClr val="000000"/>
                </a:solidFill>
                <a:latin typeface="Arial"/>
                <a:ea typeface="Arial"/>
                <a:cs typeface="Arial"/>
                <a:sym typeface="Arial"/>
              </a:rPr>
              <a:t> mod N</a:t>
            </a:r>
          </a:p>
        </p:txBody>
      </p:sp>
      <p:sp>
        <p:nvSpPr>
          <p:cNvPr id="28" name="TextBox 28"/>
          <p:cNvSpPr txBox="1"/>
          <p:nvPr/>
        </p:nvSpPr>
        <p:spPr>
          <a:xfrm>
            <a:off x="8995762" y="6562725"/>
            <a:ext cx="7244239" cy="3024802"/>
          </a:xfrm>
          <a:prstGeom prst="rect">
            <a:avLst/>
          </a:prstGeom>
        </p:spPr>
        <p:txBody>
          <a:bodyPr lIns="0" tIns="0" rIns="0" bIns="0" rtlCol="0" anchor="t">
            <a:spAutoFit/>
          </a:bodyPr>
          <a:lstStyle/>
          <a:p>
            <a:pPr algn="l">
              <a:lnSpc>
                <a:spcPts val="3358"/>
              </a:lnSpc>
            </a:pPr>
            <a:r>
              <a:rPr lang="en-US" sz="2799">
                <a:solidFill>
                  <a:srgbClr val="000000"/>
                </a:solidFill>
                <a:latin typeface="Arial"/>
                <a:ea typeface="Arial"/>
                <a:cs typeface="Arial"/>
                <a:sym typeface="Arial"/>
              </a:rPr>
              <a:t>Trong đó:</a:t>
            </a:r>
          </a:p>
          <a:p>
            <a:pPr marL="639958" lvl="2" indent="-213319" algn="l">
              <a:lnSpc>
                <a:spcPts val="3358"/>
              </a:lnSpc>
              <a:buFont typeface="Arial"/>
              <a:buChar char="⚬"/>
            </a:pPr>
            <a:r>
              <a:rPr lang="en-US" sz="2799">
                <a:solidFill>
                  <a:srgbClr val="000000"/>
                </a:solidFill>
                <a:latin typeface="Arial"/>
                <a:ea typeface="Arial"/>
                <a:cs typeface="Arial"/>
                <a:sym typeface="Arial"/>
              </a:rPr>
              <a:t>N là là tích của 2 số nguyên tố p,q</a:t>
            </a:r>
          </a:p>
          <a:p>
            <a:pPr marL="639958" lvl="2" indent="-213319" algn="l">
              <a:lnSpc>
                <a:spcPts val="3358"/>
              </a:lnSpc>
              <a:buFont typeface="Arial"/>
              <a:buChar char="⚬"/>
            </a:pPr>
            <a:r>
              <a:rPr lang="en-US" sz="2799">
                <a:solidFill>
                  <a:srgbClr val="000000"/>
                </a:solidFill>
                <a:latin typeface="Arial"/>
                <a:ea typeface="Arial"/>
                <a:cs typeface="Arial"/>
                <a:sym typeface="Arial"/>
              </a:rPr>
              <a:t>e = 65537</a:t>
            </a:r>
          </a:p>
          <a:p>
            <a:pPr marL="639958" lvl="2" indent="-213319" algn="l">
              <a:lnSpc>
                <a:spcPts val="3358"/>
              </a:lnSpc>
              <a:buFont typeface="Arial"/>
              <a:buChar char="⚬"/>
            </a:pPr>
            <a:r>
              <a:rPr lang="en-US" sz="2799">
                <a:solidFill>
                  <a:srgbClr val="000000"/>
                </a:solidFill>
                <a:latin typeface="Arial"/>
                <a:ea typeface="Arial"/>
                <a:cs typeface="Arial"/>
                <a:sym typeface="Arial"/>
              </a:rPr>
              <a:t>M là thông điệp gốc</a:t>
            </a:r>
          </a:p>
          <a:p>
            <a:pPr marL="639958" lvl="2" indent="-213319" algn="l">
              <a:lnSpc>
                <a:spcPts val="3358"/>
              </a:lnSpc>
              <a:buFont typeface="Arial"/>
              <a:buChar char="⚬"/>
            </a:pPr>
            <a:r>
              <a:rPr lang="en-US" sz="2799">
                <a:solidFill>
                  <a:srgbClr val="000000"/>
                </a:solidFill>
                <a:latin typeface="Arial"/>
                <a:ea typeface="Arial"/>
                <a:cs typeface="Arial"/>
                <a:sym typeface="Arial"/>
              </a:rPr>
              <a:t>d = </a:t>
            </a:r>
            <a:r>
              <a:rPr lang="vi-VN" sz="2799">
                <a:solidFill>
                  <a:srgbClr val="000000"/>
                </a:solidFill>
                <a:latin typeface="Arial"/>
                <a:ea typeface="Arial"/>
                <a:cs typeface="Arial"/>
                <a:sym typeface="Arial"/>
              </a:rPr>
              <a:t>e</a:t>
            </a:r>
            <a:r>
              <a:rPr lang="en-US" sz="2799" baseline="30000">
                <a:solidFill>
                  <a:srgbClr val="000000"/>
                </a:solidFill>
                <a:latin typeface="Arial"/>
                <a:ea typeface="Arial"/>
                <a:cs typeface="Arial"/>
                <a:sym typeface="Arial"/>
              </a:rPr>
              <a:t>-1</a:t>
            </a:r>
            <a:r>
              <a:rPr lang="en-US" sz="2799">
                <a:solidFill>
                  <a:srgbClr val="000000"/>
                </a:solidFill>
                <a:latin typeface="Arial"/>
                <a:ea typeface="Arial"/>
                <a:cs typeface="Arial"/>
                <a:sym typeface="Arial"/>
              </a:rPr>
              <a:t>  (mod φ(N)) với φ(N) = (p-1)(q-1)</a:t>
            </a:r>
          </a:p>
          <a:p>
            <a:pPr marL="639958" lvl="2" indent="-213319" algn="l">
              <a:lnSpc>
                <a:spcPts val="3358"/>
              </a:lnSpc>
            </a:pPr>
            <a:endParaRPr lang="en-US" sz="2799">
              <a:solidFill>
                <a:srgbClr val="000000"/>
              </a:solidFill>
              <a:latin typeface="Arial"/>
              <a:ea typeface="Arial"/>
              <a:cs typeface="Arial"/>
              <a:sym typeface="Arial"/>
            </a:endParaRPr>
          </a:p>
          <a:p>
            <a:pPr marL="639958" lvl="2" indent="-213319" algn="l">
              <a:lnSpc>
                <a:spcPts val="3358"/>
              </a:lnSpc>
            </a:pPr>
            <a:endParaRPr lang="en-US" sz="2799">
              <a:solidFill>
                <a:srgbClr val="000000"/>
              </a:solidFill>
              <a:latin typeface="Arial"/>
              <a:ea typeface="Arial"/>
              <a:cs typeface="Arial"/>
              <a:sym typeface="Arial"/>
            </a:endParaRPr>
          </a:p>
        </p:txBody>
      </p:sp>
      <p:sp>
        <p:nvSpPr>
          <p:cNvPr id="29" name="TextBox 29"/>
          <p:cNvSpPr txBox="1"/>
          <p:nvPr/>
        </p:nvSpPr>
        <p:spPr>
          <a:xfrm>
            <a:off x="17618631" y="9154620"/>
            <a:ext cx="254317" cy="1143000"/>
          </a:xfrm>
          <a:prstGeom prst="rect">
            <a:avLst/>
          </a:prstGeom>
        </p:spPr>
        <p:txBody>
          <a:bodyPr lIns="0" tIns="0" rIns="0" bIns="0" rtlCol="0" anchor="t">
            <a:spAutoFit/>
          </a:bodyPr>
          <a:lstStyle/>
          <a:p>
            <a:pPr algn="ctr">
              <a:lnSpc>
                <a:spcPts val="4320"/>
              </a:lnSpc>
            </a:pPr>
            <a:r>
              <a:rPr lang="en-US" sz="3600">
                <a:solidFill>
                  <a:srgbClr val="000000"/>
                </a:solidFill>
                <a:latin typeface="Arial"/>
                <a:ea typeface="Arial"/>
                <a:cs typeface="Arial"/>
                <a:sym typeface="Arial"/>
              </a:rPr>
              <a:t>6</a:t>
            </a:r>
          </a:p>
          <a:p>
            <a:pPr algn="ctr">
              <a:lnSpc>
                <a:spcPts val="4320"/>
              </a:lnSpc>
            </a:pPr>
            <a:endParaRPr lang="en-US" sz="360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70" y="-2318490"/>
            <a:ext cx="18150850" cy="569719"/>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grpSp>
        <p:nvGrpSpPr>
          <p:cNvPr id="3" name="Group 3"/>
          <p:cNvGrpSpPr/>
          <p:nvPr/>
        </p:nvGrpSpPr>
        <p:grpSpPr>
          <a:xfrm>
            <a:off x="0" y="2124"/>
            <a:ext cx="18291715" cy="10295477"/>
            <a:chOff x="0" y="0"/>
            <a:chExt cx="24388953" cy="13727303"/>
          </a:xfrm>
        </p:grpSpPr>
        <p:sp>
          <p:nvSpPr>
            <p:cNvPr id="4" name="Freeform 4"/>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5" name="Group 5"/>
          <p:cNvGrpSpPr/>
          <p:nvPr/>
        </p:nvGrpSpPr>
        <p:grpSpPr>
          <a:xfrm>
            <a:off x="0" y="2124"/>
            <a:ext cx="18291715" cy="10295477"/>
            <a:chOff x="0" y="0"/>
            <a:chExt cx="24388953" cy="13727303"/>
          </a:xfrm>
        </p:grpSpPr>
        <p:sp>
          <p:nvSpPr>
            <p:cNvPr id="6" name="Freeform 6"/>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7" name="Group 7"/>
          <p:cNvGrpSpPr/>
          <p:nvPr/>
        </p:nvGrpSpPr>
        <p:grpSpPr>
          <a:xfrm rot="5400000">
            <a:off x="8668464" y="-8670055"/>
            <a:ext cx="947356" cy="18291715"/>
            <a:chOff x="0" y="0"/>
            <a:chExt cx="1263142" cy="24388953"/>
          </a:xfrm>
        </p:grpSpPr>
        <p:sp>
          <p:nvSpPr>
            <p:cNvPr id="8" name="Freeform 8"/>
            <p:cNvSpPr/>
            <p:nvPr/>
          </p:nvSpPr>
          <p:spPr>
            <a:xfrm>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gradFill rotWithShape="1">
              <a:gsLst>
                <a:gs pos="0">
                  <a:srgbClr val="10CC57">
                    <a:alpha val="100000"/>
                  </a:srgbClr>
                </a:gs>
                <a:gs pos="100000">
                  <a:srgbClr val="017058">
                    <a:alpha val="100000"/>
                  </a:srgbClr>
                </a:gs>
              </a:gsLst>
              <a:lin ang="0"/>
            </a:gradFill>
          </p:spPr>
          <p:txBody>
            <a:bodyPr/>
            <a:lstStyle/>
            <a:p>
              <a:endParaRPr lang="en-US"/>
            </a:p>
          </p:txBody>
        </p:sp>
      </p:grpSp>
      <p:grpSp>
        <p:nvGrpSpPr>
          <p:cNvPr id="9" name="Group 9"/>
          <p:cNvGrpSpPr/>
          <p:nvPr/>
        </p:nvGrpSpPr>
        <p:grpSpPr>
          <a:xfrm rot="-5400000">
            <a:off x="8670312" y="-8672208"/>
            <a:ext cx="947356" cy="18291715"/>
            <a:chOff x="0" y="0"/>
            <a:chExt cx="1263142" cy="24388953"/>
          </a:xfrm>
        </p:grpSpPr>
        <p:sp>
          <p:nvSpPr>
            <p:cNvPr id="10" name="Freeform 10"/>
            <p:cNvSpPr/>
            <p:nvPr/>
          </p:nvSpPr>
          <p:spPr>
            <a:xfrm flipH="1">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blipFill>
              <a:blip r:embed="rId2"/>
              <a:stretch>
                <a:fillRect l="-35092" r="-35091"/>
              </a:stretch>
            </a:blipFill>
          </p:spPr>
          <p:txBody>
            <a:bodyPr/>
            <a:lstStyle/>
            <a:p>
              <a:endParaRPr lang="en-US"/>
            </a:p>
          </p:txBody>
        </p:sp>
      </p:grpSp>
      <p:sp>
        <p:nvSpPr>
          <p:cNvPr id="11" name="TextBox 11"/>
          <p:cNvSpPr txBox="1"/>
          <p:nvPr/>
        </p:nvSpPr>
        <p:spPr>
          <a:xfrm>
            <a:off x="428996" y="227362"/>
            <a:ext cx="10993288" cy="456571"/>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12" name="Group 12"/>
          <p:cNvGrpSpPr/>
          <p:nvPr/>
        </p:nvGrpSpPr>
        <p:grpSpPr>
          <a:xfrm>
            <a:off x="6719983" y="457933"/>
            <a:ext cx="4848130" cy="958024"/>
            <a:chOff x="0" y="0"/>
            <a:chExt cx="6464173" cy="1277366"/>
          </a:xfrm>
        </p:grpSpPr>
        <p:sp>
          <p:nvSpPr>
            <p:cNvPr id="13" name="Freeform 13"/>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2700000"/>
            </a:gradFill>
          </p:spPr>
          <p:txBody>
            <a:bodyPr/>
            <a:lstStyle/>
            <a:p>
              <a:endParaRPr lang="en-US"/>
            </a:p>
          </p:txBody>
        </p:sp>
      </p:grpSp>
      <p:grpSp>
        <p:nvGrpSpPr>
          <p:cNvPr id="14" name="Group 14"/>
          <p:cNvGrpSpPr/>
          <p:nvPr/>
        </p:nvGrpSpPr>
        <p:grpSpPr>
          <a:xfrm>
            <a:off x="6807460" y="535972"/>
            <a:ext cx="4673060" cy="801815"/>
            <a:chOff x="0" y="0"/>
            <a:chExt cx="6230747" cy="1069086"/>
          </a:xfrm>
        </p:grpSpPr>
        <p:sp>
          <p:nvSpPr>
            <p:cNvPr id="15" name="Freeform 15"/>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en-US"/>
            </a:p>
          </p:txBody>
        </p:sp>
      </p:grpSp>
      <p:grpSp>
        <p:nvGrpSpPr>
          <p:cNvPr id="16" name="Group 16"/>
          <p:cNvGrpSpPr/>
          <p:nvPr/>
        </p:nvGrpSpPr>
        <p:grpSpPr>
          <a:xfrm>
            <a:off x="9436446" y="362541"/>
            <a:ext cx="1163288" cy="1152620"/>
            <a:chOff x="0" y="0"/>
            <a:chExt cx="1551051" cy="1536827"/>
          </a:xfrm>
        </p:grpSpPr>
        <p:sp>
          <p:nvSpPr>
            <p:cNvPr id="17" name="Freeform 17"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211" r="-210"/>
              </a:stretch>
            </a:blipFill>
          </p:spPr>
          <p:txBody>
            <a:bodyPr/>
            <a:lstStyle/>
            <a:p>
              <a:endParaRPr lang="en-US"/>
            </a:p>
          </p:txBody>
        </p:sp>
      </p:grpSp>
      <p:grpSp>
        <p:nvGrpSpPr>
          <p:cNvPr id="18" name="Group 18"/>
          <p:cNvGrpSpPr/>
          <p:nvPr/>
        </p:nvGrpSpPr>
        <p:grpSpPr>
          <a:xfrm>
            <a:off x="7688247" y="398078"/>
            <a:ext cx="1307497" cy="1081564"/>
            <a:chOff x="0" y="0"/>
            <a:chExt cx="1743329" cy="1442085"/>
          </a:xfrm>
        </p:grpSpPr>
        <p:sp>
          <p:nvSpPr>
            <p:cNvPr id="19" name="Freeform 19"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l="-38" r="-37"/>
              </a:stretch>
            </a:blipFill>
          </p:spPr>
          <p:txBody>
            <a:bodyPr/>
            <a:lstStyle/>
            <a:p>
              <a:endParaRPr lang="en-US"/>
            </a:p>
          </p:txBody>
        </p:sp>
      </p:grpSp>
      <p:grpSp>
        <p:nvGrpSpPr>
          <p:cNvPr id="20" name="Group 20"/>
          <p:cNvGrpSpPr/>
          <p:nvPr/>
        </p:nvGrpSpPr>
        <p:grpSpPr>
          <a:xfrm>
            <a:off x="908999" y="1555147"/>
            <a:ext cx="16470001" cy="1335996"/>
            <a:chOff x="0" y="0"/>
            <a:chExt cx="21960002" cy="1781327"/>
          </a:xfrm>
        </p:grpSpPr>
        <p:sp>
          <p:nvSpPr>
            <p:cNvPr id="21" name="Freeform 21"/>
            <p:cNvSpPr/>
            <p:nvPr/>
          </p:nvSpPr>
          <p:spPr>
            <a:xfrm>
              <a:off x="0" y="0"/>
              <a:ext cx="21959951" cy="1781302"/>
            </a:xfrm>
            <a:custGeom>
              <a:avLst/>
              <a:gdLst/>
              <a:ahLst/>
              <a:cxnLst/>
              <a:rect l="l" t="t" r="r" b="b"/>
              <a:pathLst>
                <a:path w="21959951" h="1781302">
                  <a:moveTo>
                    <a:pt x="0" y="0"/>
                  </a:moveTo>
                  <a:lnTo>
                    <a:pt x="21959951" y="0"/>
                  </a:lnTo>
                  <a:lnTo>
                    <a:pt x="21959951" y="1781302"/>
                  </a:lnTo>
                  <a:lnTo>
                    <a:pt x="0" y="1781302"/>
                  </a:lnTo>
                  <a:close/>
                </a:path>
              </a:pathLst>
            </a:custGeom>
            <a:blipFill>
              <a:blip r:embed="rId5">
                <a:alphaModFix amt="0"/>
              </a:blip>
              <a:stretch>
                <a:fillRect t="-190044" b="-190046"/>
              </a:stretch>
            </a:blipFill>
          </p:spPr>
          <p:txBody>
            <a:bodyPr/>
            <a:lstStyle/>
            <a:p>
              <a:endParaRPr lang="en-US"/>
            </a:p>
          </p:txBody>
        </p:sp>
      </p:grpSp>
      <p:grpSp>
        <p:nvGrpSpPr>
          <p:cNvPr id="22" name="Group 22"/>
          <p:cNvGrpSpPr/>
          <p:nvPr/>
        </p:nvGrpSpPr>
        <p:grpSpPr>
          <a:xfrm>
            <a:off x="908999" y="1576578"/>
            <a:ext cx="16470001" cy="1314564"/>
            <a:chOff x="0" y="0"/>
            <a:chExt cx="21960002" cy="1752752"/>
          </a:xfrm>
        </p:grpSpPr>
        <p:sp>
          <p:nvSpPr>
            <p:cNvPr id="23" name="Freeform 23"/>
            <p:cNvSpPr/>
            <p:nvPr/>
          </p:nvSpPr>
          <p:spPr>
            <a:xfrm>
              <a:off x="0" y="0"/>
              <a:ext cx="21960001" cy="1752750"/>
            </a:xfrm>
            <a:custGeom>
              <a:avLst/>
              <a:gdLst/>
              <a:ahLst/>
              <a:cxnLst/>
              <a:rect l="l" t="t" r="r" b="b"/>
              <a:pathLst>
                <a:path w="21960001" h="1752750">
                  <a:moveTo>
                    <a:pt x="0" y="0"/>
                  </a:moveTo>
                  <a:lnTo>
                    <a:pt x="21960001" y="0"/>
                  </a:lnTo>
                  <a:lnTo>
                    <a:pt x="21960001" y="1752750"/>
                  </a:lnTo>
                  <a:lnTo>
                    <a:pt x="0" y="1752750"/>
                  </a:lnTo>
                  <a:close/>
                </a:path>
              </a:pathLst>
            </a:custGeom>
            <a:blipFill>
              <a:blip r:embed="rId6">
                <a:alphaModFix amt="0"/>
              </a:blip>
              <a:stretch>
                <a:fillRect t="-194125" b="-194125"/>
              </a:stretch>
            </a:blipFill>
          </p:spPr>
          <p:txBody>
            <a:bodyPr/>
            <a:lstStyle/>
            <a:p>
              <a:endParaRPr lang="en-US"/>
            </a:p>
          </p:txBody>
        </p:sp>
        <p:sp>
          <p:nvSpPr>
            <p:cNvPr id="24" name="TextBox 24"/>
            <p:cNvSpPr txBox="1"/>
            <p:nvPr/>
          </p:nvSpPr>
          <p:spPr>
            <a:xfrm>
              <a:off x="0" y="28575"/>
              <a:ext cx="21960002" cy="1724177"/>
            </a:xfrm>
            <a:prstGeom prst="rect">
              <a:avLst/>
            </a:prstGeom>
          </p:spPr>
          <p:txBody>
            <a:bodyPr lIns="0" tIns="0" rIns="0" bIns="0" rtlCol="0" anchor="ctr"/>
            <a:lstStyle/>
            <a:p>
              <a:pPr algn="l">
                <a:lnSpc>
                  <a:spcPts val="6048"/>
                </a:lnSpc>
              </a:pPr>
              <a:r>
                <a:rPr lang="en-US" sz="5599" b="1">
                  <a:solidFill>
                    <a:srgbClr val="017058"/>
                  </a:solidFill>
                  <a:latin typeface="Times New Roman Bold"/>
                  <a:ea typeface="Times New Roman Bold"/>
                  <a:cs typeface="Times New Roman Bold"/>
                  <a:sym typeface="Times New Roman Bold"/>
                </a:rPr>
                <a:t>2. Cơ sở lý thuyết</a:t>
              </a:r>
            </a:p>
          </p:txBody>
        </p:sp>
      </p:grpSp>
      <p:sp>
        <p:nvSpPr>
          <p:cNvPr id="25" name="TextBox 25"/>
          <p:cNvSpPr txBox="1"/>
          <p:nvPr/>
        </p:nvSpPr>
        <p:spPr>
          <a:xfrm>
            <a:off x="1028700" y="3582981"/>
            <a:ext cx="16369951" cy="4666488"/>
          </a:xfrm>
          <a:prstGeom prst="rect">
            <a:avLst/>
          </a:prstGeom>
        </p:spPr>
        <p:txBody>
          <a:bodyPr lIns="0" tIns="0" rIns="0" bIns="0" rtlCol="0" anchor="t">
            <a:spAutoFit/>
          </a:bodyPr>
          <a:lstStyle/>
          <a:p>
            <a:pPr algn="l">
              <a:lnSpc>
                <a:spcPts val="4691"/>
              </a:lnSpc>
            </a:pPr>
            <a:r>
              <a:rPr lang="en-US" sz="3399">
                <a:solidFill>
                  <a:srgbClr val="000000"/>
                </a:solidFill>
                <a:latin typeface="Times New Roman"/>
                <a:ea typeface="Times New Roman"/>
                <a:cs typeface="Times New Roman"/>
                <a:sym typeface="Times New Roman"/>
              </a:rPr>
              <a:t>Trong phần cứng, phép chia modulo có độ trễ cao và rất tốn tài nguyên. Thuật toán nhân Montgomery khắc phục điều này bằng cách ánh xạ toán hạng sang không gian Montgomery, thay thế phép chia phức tạp bằng các phép cộng và dịch bit (shift) đơn giản. Điều này giúp rút ngắn đáng kể đường găng (critical path) và tăng tốc độ toàn hệ thống.</a:t>
            </a:r>
          </a:p>
          <a:p>
            <a:pPr algn="l">
              <a:lnSpc>
                <a:spcPts val="4691"/>
              </a:lnSpc>
            </a:pPr>
            <a:endParaRPr lang="en-US" sz="3399">
              <a:solidFill>
                <a:srgbClr val="000000"/>
              </a:solidFill>
              <a:latin typeface="Times New Roman"/>
              <a:ea typeface="Times New Roman"/>
              <a:cs typeface="Times New Roman"/>
              <a:sym typeface="Times New Roman"/>
            </a:endParaRPr>
          </a:p>
          <a:p>
            <a:pPr marL="777118" lvl="2" indent="-259039" algn="l">
              <a:lnSpc>
                <a:spcPts val="4691"/>
              </a:lnSpc>
              <a:buFont typeface="Arial"/>
              <a:buChar char="⚬"/>
            </a:pPr>
            <a:r>
              <a:rPr lang="en-US" sz="3399">
                <a:solidFill>
                  <a:srgbClr val="000000"/>
                </a:solidFill>
                <a:latin typeface="Times New Roman"/>
                <a:ea typeface="Times New Roman"/>
                <a:cs typeface="Times New Roman"/>
                <a:sym typeface="Times New Roman"/>
              </a:rPr>
              <a:t>Đại diện của X trong không gian Montgomery: X’ := X*R mod N</a:t>
            </a:r>
          </a:p>
          <a:p>
            <a:pPr marL="777118" lvl="2" indent="-259039" algn="l">
              <a:lnSpc>
                <a:spcPts val="4691"/>
              </a:lnSpc>
              <a:buFont typeface="Arial"/>
              <a:buChar char="⚬"/>
            </a:pPr>
            <a:r>
              <a:rPr lang="en-US" sz="3399">
                <a:solidFill>
                  <a:srgbClr val="000000"/>
                </a:solidFill>
                <a:latin typeface="Times New Roman"/>
                <a:ea typeface="Times New Roman"/>
                <a:cs typeface="Times New Roman"/>
                <a:sym typeface="Times New Roman"/>
              </a:rPr>
              <a:t>Kết quả phép nhân Montgomery: X’*</a:t>
            </a:r>
            <a:r>
              <a:rPr lang="vi-VN" sz="3399">
                <a:solidFill>
                  <a:srgbClr val="000000"/>
                </a:solidFill>
                <a:latin typeface="Times New Roman"/>
                <a:ea typeface="Times New Roman"/>
                <a:cs typeface="Times New Roman"/>
                <a:sym typeface="Times New Roman"/>
              </a:rPr>
              <a:t>R^</a:t>
            </a:r>
            <a:r>
              <a:rPr lang="en-US" sz="3399">
                <a:solidFill>
                  <a:srgbClr val="000000"/>
                </a:solidFill>
                <a:latin typeface="Times New Roman"/>
                <a:ea typeface="Times New Roman"/>
                <a:cs typeface="Times New Roman"/>
                <a:sym typeface="Times New Roman"/>
              </a:rPr>
              <a:t>-1 mod N</a:t>
            </a:r>
          </a:p>
          <a:p>
            <a:pPr marL="777118" lvl="2" indent="-259039" algn="l">
              <a:lnSpc>
                <a:spcPts val="3358"/>
              </a:lnSpc>
            </a:pPr>
            <a:endParaRPr lang="en-US" sz="3399">
              <a:solidFill>
                <a:srgbClr val="000000"/>
              </a:solidFill>
              <a:latin typeface="Times New Roman"/>
              <a:ea typeface="Times New Roman"/>
              <a:cs typeface="Times New Roman"/>
              <a:sym typeface="Times New Roman"/>
            </a:endParaRPr>
          </a:p>
        </p:txBody>
      </p:sp>
      <p:sp>
        <p:nvSpPr>
          <p:cNvPr id="26" name="TextBox 26"/>
          <p:cNvSpPr txBox="1"/>
          <p:nvPr/>
        </p:nvSpPr>
        <p:spPr>
          <a:xfrm>
            <a:off x="1170127" y="2626671"/>
            <a:ext cx="12739354" cy="1108710"/>
          </a:xfrm>
          <a:prstGeom prst="rect">
            <a:avLst/>
          </a:prstGeom>
        </p:spPr>
        <p:txBody>
          <a:bodyPr lIns="0" tIns="0" rIns="0" bIns="0" rtlCol="0" anchor="t">
            <a:spAutoFit/>
          </a:bodyPr>
          <a:lstStyle/>
          <a:p>
            <a:pPr algn="l">
              <a:lnSpc>
                <a:spcPts val="4319"/>
              </a:lnSpc>
            </a:pPr>
            <a:r>
              <a:rPr lang="en-US" sz="3999" b="1">
                <a:solidFill>
                  <a:srgbClr val="017058"/>
                </a:solidFill>
                <a:latin typeface="Times New Roman Bold"/>
                <a:ea typeface="Times New Roman Bold"/>
                <a:cs typeface="Times New Roman Bold"/>
                <a:sym typeface="Times New Roman Bold"/>
              </a:rPr>
              <a:t>2.2 Thuật toán nhân Montgomery</a:t>
            </a:r>
          </a:p>
          <a:p>
            <a:pPr algn="l">
              <a:lnSpc>
                <a:spcPts val="4320"/>
              </a:lnSpc>
            </a:pPr>
            <a:endParaRPr lang="en-US" sz="3999" b="1">
              <a:solidFill>
                <a:srgbClr val="017058"/>
              </a:solidFill>
              <a:latin typeface="Times New Roman Bold"/>
              <a:ea typeface="Times New Roman Bold"/>
              <a:cs typeface="Times New Roman Bold"/>
              <a:sym typeface="Times New Roman Bold"/>
            </a:endParaRPr>
          </a:p>
        </p:txBody>
      </p:sp>
      <p:sp>
        <p:nvSpPr>
          <p:cNvPr id="27" name="TextBox 27"/>
          <p:cNvSpPr txBox="1"/>
          <p:nvPr/>
        </p:nvSpPr>
        <p:spPr>
          <a:xfrm>
            <a:off x="17574873" y="9144000"/>
            <a:ext cx="254317" cy="1143000"/>
          </a:xfrm>
          <a:prstGeom prst="rect">
            <a:avLst/>
          </a:prstGeom>
        </p:spPr>
        <p:txBody>
          <a:bodyPr lIns="0" tIns="0" rIns="0" bIns="0" rtlCol="0" anchor="t">
            <a:spAutoFit/>
          </a:bodyPr>
          <a:lstStyle/>
          <a:p>
            <a:pPr algn="ctr">
              <a:lnSpc>
                <a:spcPts val="4320"/>
              </a:lnSpc>
            </a:pPr>
            <a:r>
              <a:rPr lang="en-US" sz="3600">
                <a:solidFill>
                  <a:srgbClr val="000000"/>
                </a:solidFill>
                <a:latin typeface="Arial"/>
                <a:ea typeface="Arial"/>
                <a:cs typeface="Arial"/>
                <a:sym typeface="Arial"/>
              </a:rPr>
              <a:t>7</a:t>
            </a:r>
          </a:p>
          <a:p>
            <a:pPr algn="ctr">
              <a:lnSpc>
                <a:spcPts val="4320"/>
              </a:lnSpc>
            </a:pPr>
            <a:endParaRPr lang="en-US" sz="3600">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70" y="-2318490"/>
            <a:ext cx="18150850" cy="569719"/>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grpSp>
        <p:nvGrpSpPr>
          <p:cNvPr id="3" name="Group 3"/>
          <p:cNvGrpSpPr/>
          <p:nvPr/>
        </p:nvGrpSpPr>
        <p:grpSpPr>
          <a:xfrm>
            <a:off x="0" y="2124"/>
            <a:ext cx="18291715" cy="10295477"/>
            <a:chOff x="0" y="0"/>
            <a:chExt cx="24388953" cy="13727303"/>
          </a:xfrm>
        </p:grpSpPr>
        <p:sp>
          <p:nvSpPr>
            <p:cNvPr id="4" name="Freeform 4"/>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5" name="Group 5"/>
          <p:cNvGrpSpPr/>
          <p:nvPr/>
        </p:nvGrpSpPr>
        <p:grpSpPr>
          <a:xfrm>
            <a:off x="0" y="2124"/>
            <a:ext cx="18291715" cy="10295477"/>
            <a:chOff x="0" y="0"/>
            <a:chExt cx="24388953" cy="13727303"/>
          </a:xfrm>
        </p:grpSpPr>
        <p:sp>
          <p:nvSpPr>
            <p:cNvPr id="6" name="Freeform 6"/>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7" name="Group 7"/>
          <p:cNvGrpSpPr/>
          <p:nvPr/>
        </p:nvGrpSpPr>
        <p:grpSpPr>
          <a:xfrm rot="5400000">
            <a:off x="8668464" y="-8670055"/>
            <a:ext cx="947356" cy="18291715"/>
            <a:chOff x="0" y="0"/>
            <a:chExt cx="1263142" cy="24388953"/>
          </a:xfrm>
        </p:grpSpPr>
        <p:sp>
          <p:nvSpPr>
            <p:cNvPr id="8" name="Freeform 8"/>
            <p:cNvSpPr/>
            <p:nvPr/>
          </p:nvSpPr>
          <p:spPr>
            <a:xfrm>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gradFill rotWithShape="1">
              <a:gsLst>
                <a:gs pos="0">
                  <a:srgbClr val="10CC57">
                    <a:alpha val="100000"/>
                  </a:srgbClr>
                </a:gs>
                <a:gs pos="100000">
                  <a:srgbClr val="017058">
                    <a:alpha val="100000"/>
                  </a:srgbClr>
                </a:gs>
              </a:gsLst>
              <a:lin ang="0"/>
            </a:gradFill>
          </p:spPr>
          <p:txBody>
            <a:bodyPr/>
            <a:lstStyle/>
            <a:p>
              <a:endParaRPr lang="en-US"/>
            </a:p>
          </p:txBody>
        </p:sp>
      </p:grpSp>
      <p:grpSp>
        <p:nvGrpSpPr>
          <p:cNvPr id="9" name="Group 9"/>
          <p:cNvGrpSpPr/>
          <p:nvPr/>
        </p:nvGrpSpPr>
        <p:grpSpPr>
          <a:xfrm rot="-5400000">
            <a:off x="8670312" y="-8672208"/>
            <a:ext cx="947356" cy="18291715"/>
            <a:chOff x="0" y="0"/>
            <a:chExt cx="1263142" cy="24388953"/>
          </a:xfrm>
        </p:grpSpPr>
        <p:sp>
          <p:nvSpPr>
            <p:cNvPr id="10" name="Freeform 10"/>
            <p:cNvSpPr/>
            <p:nvPr/>
          </p:nvSpPr>
          <p:spPr>
            <a:xfrm flipH="1">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blipFill>
              <a:blip r:embed="rId2"/>
              <a:stretch>
                <a:fillRect l="-35092" r="-35091"/>
              </a:stretch>
            </a:blipFill>
          </p:spPr>
          <p:txBody>
            <a:bodyPr/>
            <a:lstStyle/>
            <a:p>
              <a:endParaRPr lang="en-US"/>
            </a:p>
          </p:txBody>
        </p:sp>
      </p:grpSp>
      <p:sp>
        <p:nvSpPr>
          <p:cNvPr id="11" name="TextBox 11"/>
          <p:cNvSpPr txBox="1"/>
          <p:nvPr/>
        </p:nvSpPr>
        <p:spPr>
          <a:xfrm>
            <a:off x="428996" y="227362"/>
            <a:ext cx="10993288" cy="456571"/>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12" name="Group 12"/>
          <p:cNvGrpSpPr/>
          <p:nvPr/>
        </p:nvGrpSpPr>
        <p:grpSpPr>
          <a:xfrm>
            <a:off x="6719983" y="457933"/>
            <a:ext cx="4848130" cy="958024"/>
            <a:chOff x="0" y="0"/>
            <a:chExt cx="6464173" cy="1277366"/>
          </a:xfrm>
        </p:grpSpPr>
        <p:sp>
          <p:nvSpPr>
            <p:cNvPr id="13" name="Freeform 13"/>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2700000"/>
            </a:gradFill>
          </p:spPr>
          <p:txBody>
            <a:bodyPr/>
            <a:lstStyle/>
            <a:p>
              <a:endParaRPr lang="en-US"/>
            </a:p>
          </p:txBody>
        </p:sp>
      </p:grpSp>
      <p:grpSp>
        <p:nvGrpSpPr>
          <p:cNvPr id="14" name="Group 14"/>
          <p:cNvGrpSpPr/>
          <p:nvPr/>
        </p:nvGrpSpPr>
        <p:grpSpPr>
          <a:xfrm>
            <a:off x="6807460" y="535972"/>
            <a:ext cx="4673060" cy="801815"/>
            <a:chOff x="0" y="0"/>
            <a:chExt cx="6230747" cy="1069086"/>
          </a:xfrm>
        </p:grpSpPr>
        <p:sp>
          <p:nvSpPr>
            <p:cNvPr id="15" name="Freeform 15"/>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en-US"/>
            </a:p>
          </p:txBody>
        </p:sp>
      </p:grpSp>
      <p:grpSp>
        <p:nvGrpSpPr>
          <p:cNvPr id="16" name="Group 16"/>
          <p:cNvGrpSpPr/>
          <p:nvPr/>
        </p:nvGrpSpPr>
        <p:grpSpPr>
          <a:xfrm>
            <a:off x="9436446" y="362541"/>
            <a:ext cx="1163288" cy="1152620"/>
            <a:chOff x="0" y="0"/>
            <a:chExt cx="1551051" cy="1536827"/>
          </a:xfrm>
        </p:grpSpPr>
        <p:sp>
          <p:nvSpPr>
            <p:cNvPr id="17" name="Freeform 17"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211" r="-210"/>
              </a:stretch>
            </a:blipFill>
          </p:spPr>
          <p:txBody>
            <a:bodyPr/>
            <a:lstStyle/>
            <a:p>
              <a:endParaRPr lang="en-US"/>
            </a:p>
          </p:txBody>
        </p:sp>
      </p:grpSp>
      <p:grpSp>
        <p:nvGrpSpPr>
          <p:cNvPr id="18" name="Group 18"/>
          <p:cNvGrpSpPr/>
          <p:nvPr/>
        </p:nvGrpSpPr>
        <p:grpSpPr>
          <a:xfrm>
            <a:off x="7688247" y="398078"/>
            <a:ext cx="1307497" cy="1081564"/>
            <a:chOff x="0" y="0"/>
            <a:chExt cx="1743329" cy="1442085"/>
          </a:xfrm>
        </p:grpSpPr>
        <p:sp>
          <p:nvSpPr>
            <p:cNvPr id="19" name="Freeform 19"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l="-38" r="-37"/>
              </a:stretch>
            </a:blipFill>
          </p:spPr>
          <p:txBody>
            <a:bodyPr/>
            <a:lstStyle/>
            <a:p>
              <a:endParaRPr lang="en-US"/>
            </a:p>
          </p:txBody>
        </p:sp>
      </p:grpSp>
      <p:grpSp>
        <p:nvGrpSpPr>
          <p:cNvPr id="20" name="Group 20"/>
          <p:cNvGrpSpPr/>
          <p:nvPr/>
        </p:nvGrpSpPr>
        <p:grpSpPr>
          <a:xfrm>
            <a:off x="908999" y="1555147"/>
            <a:ext cx="16470001" cy="1335996"/>
            <a:chOff x="0" y="0"/>
            <a:chExt cx="21960002" cy="1781327"/>
          </a:xfrm>
        </p:grpSpPr>
        <p:sp>
          <p:nvSpPr>
            <p:cNvPr id="21" name="Freeform 21"/>
            <p:cNvSpPr/>
            <p:nvPr/>
          </p:nvSpPr>
          <p:spPr>
            <a:xfrm>
              <a:off x="0" y="0"/>
              <a:ext cx="21959951" cy="1781302"/>
            </a:xfrm>
            <a:custGeom>
              <a:avLst/>
              <a:gdLst/>
              <a:ahLst/>
              <a:cxnLst/>
              <a:rect l="l" t="t" r="r" b="b"/>
              <a:pathLst>
                <a:path w="21959951" h="1781302">
                  <a:moveTo>
                    <a:pt x="0" y="0"/>
                  </a:moveTo>
                  <a:lnTo>
                    <a:pt x="21959951" y="0"/>
                  </a:lnTo>
                  <a:lnTo>
                    <a:pt x="21959951" y="1781302"/>
                  </a:lnTo>
                  <a:lnTo>
                    <a:pt x="0" y="1781302"/>
                  </a:lnTo>
                  <a:close/>
                </a:path>
              </a:pathLst>
            </a:custGeom>
            <a:blipFill>
              <a:blip r:embed="rId5">
                <a:alphaModFix amt="0"/>
              </a:blip>
              <a:stretch>
                <a:fillRect t="-190044" b="-190046"/>
              </a:stretch>
            </a:blipFill>
          </p:spPr>
          <p:txBody>
            <a:bodyPr/>
            <a:lstStyle/>
            <a:p>
              <a:endParaRPr lang="en-US"/>
            </a:p>
          </p:txBody>
        </p:sp>
      </p:grpSp>
      <p:grpSp>
        <p:nvGrpSpPr>
          <p:cNvPr id="22" name="Group 22"/>
          <p:cNvGrpSpPr/>
          <p:nvPr/>
        </p:nvGrpSpPr>
        <p:grpSpPr>
          <a:xfrm>
            <a:off x="908999" y="1576578"/>
            <a:ext cx="16470001" cy="1314564"/>
            <a:chOff x="0" y="0"/>
            <a:chExt cx="21960002" cy="1752752"/>
          </a:xfrm>
        </p:grpSpPr>
        <p:sp>
          <p:nvSpPr>
            <p:cNvPr id="23" name="Freeform 23"/>
            <p:cNvSpPr/>
            <p:nvPr/>
          </p:nvSpPr>
          <p:spPr>
            <a:xfrm>
              <a:off x="0" y="0"/>
              <a:ext cx="21960001" cy="1752750"/>
            </a:xfrm>
            <a:custGeom>
              <a:avLst/>
              <a:gdLst/>
              <a:ahLst/>
              <a:cxnLst/>
              <a:rect l="l" t="t" r="r" b="b"/>
              <a:pathLst>
                <a:path w="21960001" h="1752750">
                  <a:moveTo>
                    <a:pt x="0" y="0"/>
                  </a:moveTo>
                  <a:lnTo>
                    <a:pt x="21960001" y="0"/>
                  </a:lnTo>
                  <a:lnTo>
                    <a:pt x="21960001" y="1752750"/>
                  </a:lnTo>
                  <a:lnTo>
                    <a:pt x="0" y="1752750"/>
                  </a:lnTo>
                  <a:close/>
                </a:path>
              </a:pathLst>
            </a:custGeom>
            <a:blipFill>
              <a:blip r:embed="rId6">
                <a:alphaModFix amt="0"/>
              </a:blip>
              <a:stretch>
                <a:fillRect t="-194125" b="-194125"/>
              </a:stretch>
            </a:blipFill>
          </p:spPr>
          <p:txBody>
            <a:bodyPr/>
            <a:lstStyle/>
            <a:p>
              <a:endParaRPr lang="en-US"/>
            </a:p>
          </p:txBody>
        </p:sp>
        <p:sp>
          <p:nvSpPr>
            <p:cNvPr id="24" name="TextBox 24"/>
            <p:cNvSpPr txBox="1"/>
            <p:nvPr/>
          </p:nvSpPr>
          <p:spPr>
            <a:xfrm>
              <a:off x="0" y="28575"/>
              <a:ext cx="21960002" cy="1724177"/>
            </a:xfrm>
            <a:prstGeom prst="rect">
              <a:avLst/>
            </a:prstGeom>
          </p:spPr>
          <p:txBody>
            <a:bodyPr lIns="0" tIns="0" rIns="0" bIns="0" rtlCol="0" anchor="ctr"/>
            <a:lstStyle/>
            <a:p>
              <a:pPr algn="l">
                <a:lnSpc>
                  <a:spcPts val="6048"/>
                </a:lnSpc>
              </a:pPr>
              <a:r>
                <a:rPr lang="en-US" sz="5599" b="1">
                  <a:solidFill>
                    <a:srgbClr val="017058"/>
                  </a:solidFill>
                  <a:latin typeface="Times New Roman Bold"/>
                  <a:ea typeface="Times New Roman Bold"/>
                  <a:cs typeface="Times New Roman Bold"/>
                  <a:sym typeface="Times New Roman Bold"/>
                </a:rPr>
                <a:t>2. Cơ sở lý thuyết</a:t>
              </a:r>
            </a:p>
          </p:txBody>
        </p:sp>
      </p:grpSp>
      <p:sp>
        <p:nvSpPr>
          <p:cNvPr id="25" name="TextBox 25"/>
          <p:cNvSpPr txBox="1"/>
          <p:nvPr/>
        </p:nvSpPr>
        <p:spPr>
          <a:xfrm>
            <a:off x="1028700" y="3582981"/>
            <a:ext cx="16369951" cy="5257038"/>
          </a:xfrm>
          <a:prstGeom prst="rect">
            <a:avLst/>
          </a:prstGeom>
        </p:spPr>
        <p:txBody>
          <a:bodyPr lIns="0" tIns="0" rIns="0" bIns="0" rtlCol="0" anchor="t">
            <a:spAutoFit/>
          </a:bodyPr>
          <a:lstStyle/>
          <a:p>
            <a:pPr algn="l">
              <a:lnSpc>
                <a:spcPts val="4691"/>
              </a:lnSpc>
            </a:pPr>
            <a:r>
              <a:rPr lang="en-US" sz="3399">
                <a:solidFill>
                  <a:srgbClr val="000000"/>
                </a:solidFill>
                <a:latin typeface="Times New Roman"/>
                <a:ea typeface="Times New Roman"/>
                <a:cs typeface="Times New Roman"/>
                <a:sym typeface="Times New Roman"/>
              </a:rPr>
              <a:t>Đóng gói thành IP Core: Khối tăng tốc phần cứng cần được đóng gói thành Lõi sở hữu trí tuệ (IP Core) để có thể tích hợp vào hệ thống SoC.</a:t>
            </a:r>
          </a:p>
          <a:p>
            <a:pPr algn="l">
              <a:lnSpc>
                <a:spcPts val="4691"/>
              </a:lnSpc>
            </a:pPr>
            <a:endParaRPr lang="en-US" sz="3399">
              <a:solidFill>
                <a:srgbClr val="000000"/>
              </a:solidFill>
              <a:latin typeface="Times New Roman"/>
              <a:ea typeface="Times New Roman"/>
              <a:cs typeface="Times New Roman"/>
              <a:sym typeface="Times New Roman"/>
            </a:endParaRPr>
          </a:p>
          <a:p>
            <a:pPr algn="l">
              <a:lnSpc>
                <a:spcPts val="4691"/>
              </a:lnSpc>
            </a:pPr>
            <a:r>
              <a:rPr lang="en-US" sz="3399">
                <a:solidFill>
                  <a:srgbClr val="000000"/>
                </a:solidFill>
                <a:latin typeface="Times New Roman"/>
                <a:ea typeface="Times New Roman"/>
                <a:cs typeface="Times New Roman"/>
                <a:sym typeface="Times New Roman"/>
              </a:rPr>
              <a:t>Tích hợp chuẩn Bus: Cần trang bị lớp giao tiếp tuân thủ các chuẩn Bus hệ thống (như Avalon hoặc AXI) để kết nối với hệ thống.</a:t>
            </a:r>
          </a:p>
          <a:p>
            <a:pPr algn="l">
              <a:lnSpc>
                <a:spcPts val="4691"/>
              </a:lnSpc>
            </a:pPr>
            <a:endParaRPr lang="en-US" sz="3399">
              <a:solidFill>
                <a:srgbClr val="000000"/>
              </a:solidFill>
              <a:latin typeface="Times New Roman"/>
              <a:ea typeface="Times New Roman"/>
              <a:cs typeface="Times New Roman"/>
              <a:sym typeface="Times New Roman"/>
            </a:endParaRPr>
          </a:p>
          <a:p>
            <a:pPr algn="l">
              <a:lnSpc>
                <a:spcPts val="4691"/>
              </a:lnSpc>
            </a:pPr>
            <a:r>
              <a:rPr lang="en-US" sz="3399">
                <a:solidFill>
                  <a:srgbClr val="000000"/>
                </a:solidFill>
                <a:latin typeface="Times New Roman"/>
                <a:ea typeface="Times New Roman"/>
                <a:cs typeface="Times New Roman"/>
                <a:sym typeface="Times New Roman"/>
              </a:rPr>
              <a:t>Giao tiếp qua Memory-mapped: Cơ chế ánh xạ bộ nhớ giúp CPU dễ dàng đọc/ghi dữ liệu, biến khối tính toán logic thành một thiết bị ngoại vi hoàn chỉnh.</a:t>
            </a:r>
          </a:p>
          <a:p>
            <a:pPr algn="l">
              <a:lnSpc>
                <a:spcPts val="3358"/>
              </a:lnSpc>
            </a:pPr>
            <a:endParaRPr lang="en-US" sz="3399">
              <a:solidFill>
                <a:srgbClr val="000000"/>
              </a:solidFill>
              <a:latin typeface="Times New Roman"/>
              <a:ea typeface="Times New Roman"/>
              <a:cs typeface="Times New Roman"/>
              <a:sym typeface="Times New Roman"/>
            </a:endParaRPr>
          </a:p>
        </p:txBody>
      </p:sp>
      <p:sp>
        <p:nvSpPr>
          <p:cNvPr id="26" name="TextBox 26"/>
          <p:cNvSpPr txBox="1"/>
          <p:nvPr/>
        </p:nvSpPr>
        <p:spPr>
          <a:xfrm>
            <a:off x="1170127" y="2626671"/>
            <a:ext cx="12739354" cy="565785"/>
          </a:xfrm>
          <a:prstGeom prst="rect">
            <a:avLst/>
          </a:prstGeom>
        </p:spPr>
        <p:txBody>
          <a:bodyPr lIns="0" tIns="0" rIns="0" bIns="0" rtlCol="0" anchor="t">
            <a:spAutoFit/>
          </a:bodyPr>
          <a:lstStyle/>
          <a:p>
            <a:pPr algn="l">
              <a:lnSpc>
                <a:spcPts val="4320"/>
              </a:lnSpc>
            </a:pPr>
            <a:r>
              <a:rPr lang="en-US" sz="4000" b="1">
                <a:solidFill>
                  <a:srgbClr val="017058"/>
                </a:solidFill>
                <a:latin typeface="Times New Roman Bold"/>
                <a:ea typeface="Times New Roman Bold"/>
                <a:cs typeface="Times New Roman Bold"/>
                <a:sym typeface="Times New Roman Bold"/>
              </a:rPr>
              <a:t>2.2 Tích hợp IP Core và giao tiếp hệ thống SoC</a:t>
            </a:r>
          </a:p>
        </p:txBody>
      </p:sp>
      <p:sp>
        <p:nvSpPr>
          <p:cNvPr id="27" name="TextBox 27"/>
          <p:cNvSpPr txBox="1"/>
          <p:nvPr/>
        </p:nvSpPr>
        <p:spPr>
          <a:xfrm>
            <a:off x="17574873" y="9144000"/>
            <a:ext cx="254317" cy="1143000"/>
          </a:xfrm>
          <a:prstGeom prst="rect">
            <a:avLst/>
          </a:prstGeom>
        </p:spPr>
        <p:txBody>
          <a:bodyPr lIns="0" tIns="0" rIns="0" bIns="0" rtlCol="0" anchor="t">
            <a:spAutoFit/>
          </a:bodyPr>
          <a:lstStyle/>
          <a:p>
            <a:pPr algn="ctr">
              <a:lnSpc>
                <a:spcPts val="4320"/>
              </a:lnSpc>
            </a:pPr>
            <a:r>
              <a:rPr lang="en-US" sz="3600">
                <a:solidFill>
                  <a:srgbClr val="000000"/>
                </a:solidFill>
                <a:latin typeface="Arial"/>
                <a:ea typeface="Arial"/>
                <a:cs typeface="Arial"/>
                <a:sym typeface="Arial"/>
              </a:rPr>
              <a:t>8</a:t>
            </a:r>
          </a:p>
          <a:p>
            <a:pPr algn="ctr">
              <a:lnSpc>
                <a:spcPts val="4320"/>
              </a:lnSpc>
            </a:pPr>
            <a:endParaRPr lang="en-US" sz="3600">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70" y="-2318490"/>
            <a:ext cx="18150850" cy="569719"/>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grpSp>
        <p:nvGrpSpPr>
          <p:cNvPr id="3" name="Group 3"/>
          <p:cNvGrpSpPr/>
          <p:nvPr/>
        </p:nvGrpSpPr>
        <p:grpSpPr>
          <a:xfrm>
            <a:off x="0" y="2124"/>
            <a:ext cx="18291715" cy="10295477"/>
            <a:chOff x="0" y="0"/>
            <a:chExt cx="24388953" cy="13727303"/>
          </a:xfrm>
        </p:grpSpPr>
        <p:sp>
          <p:nvSpPr>
            <p:cNvPr id="4" name="Freeform 4"/>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5" name="Group 5"/>
          <p:cNvGrpSpPr/>
          <p:nvPr/>
        </p:nvGrpSpPr>
        <p:grpSpPr>
          <a:xfrm>
            <a:off x="-36214" y="0"/>
            <a:ext cx="6084570" cy="10287000"/>
            <a:chOff x="0" y="0"/>
            <a:chExt cx="8112760" cy="13716000"/>
          </a:xfrm>
        </p:grpSpPr>
        <p:sp>
          <p:nvSpPr>
            <p:cNvPr id="6" name="Freeform 6"/>
            <p:cNvSpPr/>
            <p:nvPr/>
          </p:nvSpPr>
          <p:spPr>
            <a:xfrm>
              <a:off x="0" y="0"/>
              <a:ext cx="8112760" cy="13716000"/>
            </a:xfrm>
            <a:custGeom>
              <a:avLst/>
              <a:gdLst/>
              <a:ahLst/>
              <a:cxnLst/>
              <a:rect l="l" t="t" r="r" b="b"/>
              <a:pathLst>
                <a:path w="8112760" h="13716000">
                  <a:moveTo>
                    <a:pt x="0" y="0"/>
                  </a:moveTo>
                  <a:lnTo>
                    <a:pt x="8112760" y="0"/>
                  </a:lnTo>
                  <a:lnTo>
                    <a:pt x="8112760" y="13716000"/>
                  </a:lnTo>
                  <a:lnTo>
                    <a:pt x="0" y="13716000"/>
                  </a:lnTo>
                  <a:close/>
                </a:path>
              </a:pathLst>
            </a:custGeom>
            <a:gradFill rotWithShape="1">
              <a:gsLst>
                <a:gs pos="0">
                  <a:srgbClr val="38EF7D">
                    <a:alpha val="100000"/>
                  </a:srgbClr>
                </a:gs>
                <a:gs pos="100000">
                  <a:srgbClr val="11998E">
                    <a:alpha val="100000"/>
                  </a:srgbClr>
                </a:gs>
              </a:gsLst>
              <a:lin ang="5400000"/>
            </a:gradFill>
          </p:spPr>
          <p:txBody>
            <a:bodyPr/>
            <a:lstStyle/>
            <a:p>
              <a:endParaRPr lang="en-US"/>
            </a:p>
          </p:txBody>
        </p:sp>
      </p:grpSp>
      <p:grpSp>
        <p:nvGrpSpPr>
          <p:cNvPr id="7" name="Group 7"/>
          <p:cNvGrpSpPr/>
          <p:nvPr/>
        </p:nvGrpSpPr>
        <p:grpSpPr>
          <a:xfrm rot="-10800000">
            <a:off x="-46892" y="0"/>
            <a:ext cx="2707196" cy="10287000"/>
            <a:chOff x="0" y="0"/>
            <a:chExt cx="3609594" cy="13716000"/>
          </a:xfrm>
        </p:grpSpPr>
        <p:sp>
          <p:nvSpPr>
            <p:cNvPr id="8" name="Freeform 8"/>
            <p:cNvSpPr/>
            <p:nvPr/>
          </p:nvSpPr>
          <p:spPr>
            <a:xfrm flipH="1">
              <a:off x="0" y="0"/>
              <a:ext cx="3609594" cy="13716000"/>
            </a:xfrm>
            <a:custGeom>
              <a:avLst/>
              <a:gdLst/>
              <a:ahLst/>
              <a:cxnLst/>
              <a:rect l="l" t="t" r="r" b="b"/>
              <a:pathLst>
                <a:path w="3609594" h="13716000">
                  <a:moveTo>
                    <a:pt x="0" y="0"/>
                  </a:moveTo>
                  <a:lnTo>
                    <a:pt x="3609594" y="0"/>
                  </a:lnTo>
                  <a:lnTo>
                    <a:pt x="3609594" y="13716000"/>
                  </a:lnTo>
                  <a:lnTo>
                    <a:pt x="0" y="13716000"/>
                  </a:lnTo>
                  <a:close/>
                </a:path>
              </a:pathLst>
            </a:custGeom>
            <a:blipFill>
              <a:blip r:embed="rId2"/>
              <a:stretch>
                <a:fillRect l="-2907" r="-2907"/>
              </a:stretch>
            </a:blipFill>
          </p:spPr>
          <p:txBody>
            <a:bodyPr/>
            <a:lstStyle/>
            <a:p>
              <a:endParaRPr lang="en-US"/>
            </a:p>
          </p:txBody>
        </p:sp>
      </p:grpSp>
      <p:sp>
        <p:nvSpPr>
          <p:cNvPr id="9" name="TextBox 9"/>
          <p:cNvSpPr txBox="1"/>
          <p:nvPr/>
        </p:nvSpPr>
        <p:spPr>
          <a:xfrm rot="-5400000">
            <a:off x="-2642312" y="6723250"/>
            <a:ext cx="6122451" cy="458333"/>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10" name="Group 10"/>
          <p:cNvGrpSpPr/>
          <p:nvPr/>
        </p:nvGrpSpPr>
        <p:grpSpPr>
          <a:xfrm>
            <a:off x="6719983" y="293303"/>
            <a:ext cx="4848130" cy="958024"/>
            <a:chOff x="0" y="0"/>
            <a:chExt cx="6464173" cy="1277366"/>
          </a:xfrm>
        </p:grpSpPr>
        <p:sp>
          <p:nvSpPr>
            <p:cNvPr id="11" name="Freeform 11"/>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2700000"/>
            </a:gradFill>
          </p:spPr>
          <p:txBody>
            <a:bodyPr/>
            <a:lstStyle/>
            <a:p>
              <a:endParaRPr lang="en-US"/>
            </a:p>
          </p:txBody>
        </p:sp>
      </p:grpSp>
      <p:grpSp>
        <p:nvGrpSpPr>
          <p:cNvPr id="12" name="Group 12"/>
          <p:cNvGrpSpPr/>
          <p:nvPr/>
        </p:nvGrpSpPr>
        <p:grpSpPr>
          <a:xfrm>
            <a:off x="6807460" y="371332"/>
            <a:ext cx="4673060" cy="801815"/>
            <a:chOff x="0" y="0"/>
            <a:chExt cx="6230747" cy="1069086"/>
          </a:xfrm>
        </p:grpSpPr>
        <p:sp>
          <p:nvSpPr>
            <p:cNvPr id="13" name="Freeform 13"/>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en-US"/>
            </a:p>
          </p:txBody>
        </p:sp>
      </p:grpSp>
      <p:grpSp>
        <p:nvGrpSpPr>
          <p:cNvPr id="14" name="Group 14"/>
          <p:cNvGrpSpPr/>
          <p:nvPr/>
        </p:nvGrpSpPr>
        <p:grpSpPr>
          <a:xfrm>
            <a:off x="9436446" y="197910"/>
            <a:ext cx="1163288" cy="1152620"/>
            <a:chOff x="0" y="0"/>
            <a:chExt cx="1551051" cy="1536827"/>
          </a:xfrm>
        </p:grpSpPr>
        <p:sp>
          <p:nvSpPr>
            <p:cNvPr id="15" name="Freeform 15"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211" r="-210"/>
              </a:stretch>
            </a:blipFill>
          </p:spPr>
          <p:txBody>
            <a:bodyPr/>
            <a:lstStyle/>
            <a:p>
              <a:endParaRPr lang="en-US"/>
            </a:p>
          </p:txBody>
        </p:sp>
      </p:grpSp>
      <p:grpSp>
        <p:nvGrpSpPr>
          <p:cNvPr id="16" name="Group 16"/>
          <p:cNvGrpSpPr/>
          <p:nvPr/>
        </p:nvGrpSpPr>
        <p:grpSpPr>
          <a:xfrm>
            <a:off x="7688247" y="233439"/>
            <a:ext cx="1307497" cy="1081564"/>
            <a:chOff x="0" y="0"/>
            <a:chExt cx="1743329" cy="1442085"/>
          </a:xfrm>
        </p:grpSpPr>
        <p:sp>
          <p:nvSpPr>
            <p:cNvPr id="17" name="Freeform 17"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l="-38" r="-37"/>
              </a:stretch>
            </a:blipFill>
          </p:spPr>
          <p:txBody>
            <a:bodyPr/>
            <a:lstStyle/>
            <a:p>
              <a:endParaRPr lang="en-US"/>
            </a:p>
          </p:txBody>
        </p:sp>
      </p:grpSp>
      <p:grpSp>
        <p:nvGrpSpPr>
          <p:cNvPr id="18" name="Group 18"/>
          <p:cNvGrpSpPr/>
          <p:nvPr/>
        </p:nvGrpSpPr>
        <p:grpSpPr>
          <a:xfrm>
            <a:off x="17262338" y="364607"/>
            <a:ext cx="819150" cy="819150"/>
            <a:chOff x="0" y="0"/>
            <a:chExt cx="1092200" cy="1092200"/>
          </a:xfrm>
        </p:grpSpPr>
        <p:sp>
          <p:nvSpPr>
            <p:cNvPr id="19" name="Freeform 19"/>
            <p:cNvSpPr/>
            <p:nvPr/>
          </p:nvSpPr>
          <p:spPr>
            <a:xfrm>
              <a:off x="0" y="0"/>
              <a:ext cx="1092200" cy="1092200"/>
            </a:xfrm>
            <a:custGeom>
              <a:avLst/>
              <a:gdLst/>
              <a:ahLst/>
              <a:cxnLst/>
              <a:rect l="l" t="t" r="r" b="b"/>
              <a:pathLst>
                <a:path w="1092200" h="1092200">
                  <a:moveTo>
                    <a:pt x="0" y="546100"/>
                  </a:moveTo>
                  <a:cubicBezTo>
                    <a:pt x="0" y="244475"/>
                    <a:pt x="244475" y="0"/>
                    <a:pt x="546100" y="0"/>
                  </a:cubicBezTo>
                  <a:cubicBezTo>
                    <a:pt x="847725" y="0"/>
                    <a:pt x="1092200" y="244475"/>
                    <a:pt x="1092200" y="546100"/>
                  </a:cubicBezTo>
                  <a:cubicBezTo>
                    <a:pt x="1092200" y="847725"/>
                    <a:pt x="847725" y="1092200"/>
                    <a:pt x="546100" y="1092200"/>
                  </a:cubicBezTo>
                  <a:cubicBezTo>
                    <a:pt x="244475" y="1092200"/>
                    <a:pt x="0" y="847725"/>
                    <a:pt x="0" y="546100"/>
                  </a:cubicBezTo>
                  <a:close/>
                </a:path>
              </a:pathLst>
            </a:custGeom>
            <a:gradFill rotWithShape="1">
              <a:gsLst>
                <a:gs pos="0">
                  <a:srgbClr val="38EF7D">
                    <a:alpha val="65098"/>
                  </a:srgbClr>
                </a:gs>
                <a:gs pos="100000">
                  <a:srgbClr val="11998E">
                    <a:alpha val="64705"/>
                  </a:srgbClr>
                </a:gs>
              </a:gsLst>
              <a:lin ang="2700000"/>
            </a:gradFill>
          </p:spPr>
          <p:txBody>
            <a:bodyPr/>
            <a:lstStyle/>
            <a:p>
              <a:endParaRPr lang="en-US"/>
            </a:p>
          </p:txBody>
        </p:sp>
      </p:grpSp>
      <p:grpSp>
        <p:nvGrpSpPr>
          <p:cNvPr id="20" name="Group 20"/>
          <p:cNvGrpSpPr/>
          <p:nvPr/>
        </p:nvGrpSpPr>
        <p:grpSpPr>
          <a:xfrm>
            <a:off x="17486462" y="588731"/>
            <a:ext cx="370999" cy="370999"/>
            <a:chOff x="0" y="0"/>
            <a:chExt cx="494665" cy="494665"/>
          </a:xfrm>
        </p:grpSpPr>
        <p:sp>
          <p:nvSpPr>
            <p:cNvPr id="21" name="Freeform 21"/>
            <p:cNvSpPr/>
            <p:nvPr/>
          </p:nvSpPr>
          <p:spPr>
            <a:xfrm>
              <a:off x="0" y="0"/>
              <a:ext cx="494665" cy="494665"/>
            </a:xfrm>
            <a:custGeom>
              <a:avLst/>
              <a:gdLst/>
              <a:ahLst/>
              <a:cxnLst/>
              <a:rect l="l" t="t" r="r" b="b"/>
              <a:pathLst>
                <a:path w="494665" h="494665">
                  <a:moveTo>
                    <a:pt x="0" y="247269"/>
                  </a:moveTo>
                  <a:cubicBezTo>
                    <a:pt x="0" y="110744"/>
                    <a:pt x="110744" y="0"/>
                    <a:pt x="247269" y="0"/>
                  </a:cubicBezTo>
                  <a:cubicBezTo>
                    <a:pt x="383794" y="0"/>
                    <a:pt x="494665" y="110744"/>
                    <a:pt x="494665" y="247269"/>
                  </a:cubicBezTo>
                  <a:cubicBezTo>
                    <a:pt x="494665" y="383794"/>
                    <a:pt x="383921" y="494665"/>
                    <a:pt x="247269" y="494665"/>
                  </a:cubicBezTo>
                  <a:cubicBezTo>
                    <a:pt x="110617" y="494665"/>
                    <a:pt x="0" y="383921"/>
                    <a:pt x="0" y="247269"/>
                  </a:cubicBezTo>
                  <a:close/>
                </a:path>
              </a:pathLst>
            </a:custGeom>
            <a:gradFill rotWithShape="1">
              <a:gsLst>
                <a:gs pos="0">
                  <a:srgbClr val="38EF7D">
                    <a:alpha val="65098"/>
                  </a:srgbClr>
                </a:gs>
                <a:gs pos="100000">
                  <a:srgbClr val="11998E">
                    <a:alpha val="64705"/>
                  </a:srgbClr>
                </a:gs>
              </a:gsLst>
              <a:lin ang="2700000"/>
            </a:gradFill>
          </p:spPr>
          <p:txBody>
            <a:bodyPr/>
            <a:lstStyle/>
            <a:p>
              <a:endParaRPr lang="en-US"/>
            </a:p>
          </p:txBody>
        </p:sp>
      </p:grpSp>
      <p:grpSp>
        <p:nvGrpSpPr>
          <p:cNvPr id="22" name="Group 22"/>
          <p:cNvGrpSpPr/>
          <p:nvPr/>
        </p:nvGrpSpPr>
        <p:grpSpPr>
          <a:xfrm>
            <a:off x="1705232" y="2175643"/>
            <a:ext cx="15316010" cy="6434518"/>
            <a:chOff x="0" y="0"/>
            <a:chExt cx="20421346" cy="8579358"/>
          </a:xfrm>
        </p:grpSpPr>
        <p:sp>
          <p:nvSpPr>
            <p:cNvPr id="23" name="Freeform 23"/>
            <p:cNvSpPr/>
            <p:nvPr/>
          </p:nvSpPr>
          <p:spPr>
            <a:xfrm>
              <a:off x="0" y="0"/>
              <a:ext cx="20421346" cy="8579358"/>
            </a:xfrm>
            <a:custGeom>
              <a:avLst/>
              <a:gdLst/>
              <a:ahLst/>
              <a:cxnLst/>
              <a:rect l="l" t="t" r="r" b="b"/>
              <a:pathLst>
                <a:path w="20421346" h="8579358">
                  <a:moveTo>
                    <a:pt x="0" y="231775"/>
                  </a:moveTo>
                  <a:cubicBezTo>
                    <a:pt x="0" y="103759"/>
                    <a:pt x="103759" y="0"/>
                    <a:pt x="231775" y="0"/>
                  </a:cubicBezTo>
                  <a:lnTo>
                    <a:pt x="20189571" y="0"/>
                  </a:lnTo>
                  <a:cubicBezTo>
                    <a:pt x="20317586" y="0"/>
                    <a:pt x="20421346" y="103759"/>
                    <a:pt x="20421346" y="231775"/>
                  </a:cubicBezTo>
                  <a:lnTo>
                    <a:pt x="20421346" y="8347583"/>
                  </a:lnTo>
                  <a:cubicBezTo>
                    <a:pt x="20421346" y="8475599"/>
                    <a:pt x="20317586" y="8579358"/>
                    <a:pt x="20189571" y="8579358"/>
                  </a:cubicBezTo>
                  <a:lnTo>
                    <a:pt x="231775" y="8579358"/>
                  </a:lnTo>
                  <a:cubicBezTo>
                    <a:pt x="103759" y="8579358"/>
                    <a:pt x="0" y="8475599"/>
                    <a:pt x="0" y="8347583"/>
                  </a:cubicBezTo>
                  <a:close/>
                </a:path>
              </a:pathLst>
            </a:custGeom>
            <a:blipFill>
              <a:blip r:embed="rId5"/>
              <a:stretch>
                <a:fillRect l="-194" r="-194"/>
              </a:stretch>
            </a:blipFill>
          </p:spPr>
          <p:txBody>
            <a:bodyPr/>
            <a:lstStyle/>
            <a:p>
              <a:endParaRPr lang="en-US"/>
            </a:p>
          </p:txBody>
        </p:sp>
      </p:grpSp>
      <p:grpSp>
        <p:nvGrpSpPr>
          <p:cNvPr id="24" name="Group 24"/>
          <p:cNvGrpSpPr/>
          <p:nvPr/>
        </p:nvGrpSpPr>
        <p:grpSpPr>
          <a:xfrm>
            <a:off x="1705232" y="2175643"/>
            <a:ext cx="15316010" cy="6434518"/>
            <a:chOff x="0" y="0"/>
            <a:chExt cx="20421346" cy="8579358"/>
          </a:xfrm>
        </p:grpSpPr>
        <p:sp>
          <p:nvSpPr>
            <p:cNvPr id="25" name="Freeform 25"/>
            <p:cNvSpPr/>
            <p:nvPr/>
          </p:nvSpPr>
          <p:spPr>
            <a:xfrm>
              <a:off x="0" y="0"/>
              <a:ext cx="20421346" cy="8579358"/>
            </a:xfrm>
            <a:custGeom>
              <a:avLst/>
              <a:gdLst/>
              <a:ahLst/>
              <a:cxnLst/>
              <a:rect l="l" t="t" r="r" b="b"/>
              <a:pathLst>
                <a:path w="20421346" h="8579358">
                  <a:moveTo>
                    <a:pt x="0" y="231775"/>
                  </a:moveTo>
                  <a:cubicBezTo>
                    <a:pt x="0" y="103759"/>
                    <a:pt x="103759" y="0"/>
                    <a:pt x="231775" y="0"/>
                  </a:cubicBezTo>
                  <a:lnTo>
                    <a:pt x="20189571" y="0"/>
                  </a:lnTo>
                  <a:cubicBezTo>
                    <a:pt x="20317586" y="0"/>
                    <a:pt x="20421346" y="103759"/>
                    <a:pt x="20421346" y="231775"/>
                  </a:cubicBezTo>
                  <a:lnTo>
                    <a:pt x="20421346" y="8347583"/>
                  </a:lnTo>
                  <a:cubicBezTo>
                    <a:pt x="20421346" y="8475599"/>
                    <a:pt x="20317586" y="8579358"/>
                    <a:pt x="20189571" y="8579358"/>
                  </a:cubicBezTo>
                  <a:lnTo>
                    <a:pt x="231775" y="8579358"/>
                  </a:lnTo>
                  <a:cubicBezTo>
                    <a:pt x="103759" y="8579358"/>
                    <a:pt x="0" y="8475599"/>
                    <a:pt x="0" y="8347583"/>
                  </a:cubicBezTo>
                  <a:close/>
                </a:path>
              </a:pathLst>
            </a:custGeom>
            <a:gradFill rotWithShape="1">
              <a:gsLst>
                <a:gs pos="0">
                  <a:srgbClr val="38EF7D">
                    <a:alpha val="40000"/>
                  </a:srgbClr>
                </a:gs>
                <a:gs pos="100000">
                  <a:srgbClr val="11998E">
                    <a:alpha val="40000"/>
                  </a:srgbClr>
                </a:gs>
              </a:gsLst>
              <a:lin ang="2700000"/>
            </a:gradFill>
          </p:spPr>
          <p:txBody>
            <a:bodyPr/>
            <a:lstStyle/>
            <a:p>
              <a:endParaRPr lang="en-US"/>
            </a:p>
          </p:txBody>
        </p:sp>
      </p:grpSp>
      <p:grpSp>
        <p:nvGrpSpPr>
          <p:cNvPr id="26" name="Group 26"/>
          <p:cNvGrpSpPr/>
          <p:nvPr/>
        </p:nvGrpSpPr>
        <p:grpSpPr>
          <a:xfrm>
            <a:off x="0" y="2124"/>
            <a:ext cx="18291715" cy="10295477"/>
            <a:chOff x="0" y="0"/>
            <a:chExt cx="24388953" cy="13727303"/>
          </a:xfrm>
        </p:grpSpPr>
        <p:sp>
          <p:nvSpPr>
            <p:cNvPr id="27" name="Freeform 27"/>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28" name="Group 28"/>
          <p:cNvGrpSpPr/>
          <p:nvPr/>
        </p:nvGrpSpPr>
        <p:grpSpPr>
          <a:xfrm>
            <a:off x="15614542" y="498424"/>
            <a:ext cx="4114800" cy="547688"/>
            <a:chOff x="0" y="0"/>
            <a:chExt cx="5486400" cy="730250"/>
          </a:xfrm>
        </p:grpSpPr>
        <p:sp>
          <p:nvSpPr>
            <p:cNvPr id="29" name="Freeform 29"/>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6">
                <a:alphaModFix amt="0"/>
              </a:blip>
              <a:stretch>
                <a:fillRect t="-96290" b="-96290"/>
              </a:stretch>
            </a:blipFill>
          </p:spPr>
          <p:txBody>
            <a:bodyPr/>
            <a:lstStyle/>
            <a:p>
              <a:endParaRPr lang="en-US"/>
            </a:p>
          </p:txBody>
        </p:sp>
      </p:grpSp>
      <p:grpSp>
        <p:nvGrpSpPr>
          <p:cNvPr id="30" name="Group 30"/>
          <p:cNvGrpSpPr/>
          <p:nvPr/>
        </p:nvGrpSpPr>
        <p:grpSpPr>
          <a:xfrm>
            <a:off x="15614542" y="484137"/>
            <a:ext cx="4114800" cy="561975"/>
            <a:chOff x="0" y="0"/>
            <a:chExt cx="5486400" cy="749300"/>
          </a:xfrm>
        </p:grpSpPr>
        <p:sp>
          <p:nvSpPr>
            <p:cNvPr id="31" name="Freeform 31"/>
            <p:cNvSpPr/>
            <p:nvPr/>
          </p:nvSpPr>
          <p:spPr>
            <a:xfrm>
              <a:off x="0" y="0"/>
              <a:ext cx="5486400" cy="749301"/>
            </a:xfrm>
            <a:custGeom>
              <a:avLst/>
              <a:gdLst/>
              <a:ahLst/>
              <a:cxnLst/>
              <a:rect l="l" t="t" r="r" b="b"/>
              <a:pathLst>
                <a:path w="5486400" h="749301">
                  <a:moveTo>
                    <a:pt x="0" y="0"/>
                  </a:moveTo>
                  <a:lnTo>
                    <a:pt x="5486400" y="0"/>
                  </a:lnTo>
                  <a:lnTo>
                    <a:pt x="5486400" y="749301"/>
                  </a:lnTo>
                  <a:lnTo>
                    <a:pt x="0" y="749301"/>
                  </a:lnTo>
                  <a:close/>
                </a:path>
              </a:pathLst>
            </a:custGeom>
            <a:blipFill>
              <a:blip r:embed="rId7">
                <a:alphaModFix amt="0"/>
              </a:blip>
              <a:stretch>
                <a:fillRect t="-92670" b="-92669"/>
              </a:stretch>
            </a:blipFill>
          </p:spPr>
          <p:txBody>
            <a:bodyPr/>
            <a:lstStyle/>
            <a:p>
              <a:endParaRPr lang="en-US"/>
            </a:p>
          </p:txBody>
        </p:sp>
        <p:sp>
          <p:nvSpPr>
            <p:cNvPr id="32" name="TextBox 32"/>
            <p:cNvSpPr txBox="1"/>
            <p:nvPr/>
          </p:nvSpPr>
          <p:spPr>
            <a:xfrm>
              <a:off x="0" y="-19050"/>
              <a:ext cx="5486400" cy="768350"/>
            </a:xfrm>
            <a:prstGeom prst="rect">
              <a:avLst/>
            </a:prstGeom>
          </p:spPr>
          <p:txBody>
            <a:bodyPr lIns="0" tIns="0" rIns="0" bIns="0" rtlCol="0" anchor="ctr"/>
            <a:lstStyle/>
            <a:p>
              <a:pPr algn="ctr">
                <a:lnSpc>
                  <a:spcPts val="2160"/>
                </a:lnSpc>
              </a:pPr>
              <a:r>
                <a:rPr lang="en-US" sz="1800">
                  <a:solidFill>
                    <a:srgbClr val="FFFFFF"/>
                  </a:solidFill>
                  <a:latin typeface="Arial"/>
                  <a:ea typeface="Arial"/>
                  <a:cs typeface="Arial"/>
                  <a:sym typeface="Arial"/>
                </a:rPr>
                <a:t>‹#›</a:t>
              </a:r>
            </a:p>
          </p:txBody>
        </p:sp>
      </p:grpSp>
      <p:grpSp>
        <p:nvGrpSpPr>
          <p:cNvPr id="33" name="Group 33"/>
          <p:cNvGrpSpPr/>
          <p:nvPr/>
        </p:nvGrpSpPr>
        <p:grpSpPr>
          <a:xfrm>
            <a:off x="2480043" y="3431010"/>
            <a:ext cx="13766397" cy="2259006"/>
            <a:chOff x="0" y="0"/>
            <a:chExt cx="18355196" cy="3012008"/>
          </a:xfrm>
        </p:grpSpPr>
        <p:sp>
          <p:nvSpPr>
            <p:cNvPr id="34" name="Freeform 34"/>
            <p:cNvSpPr/>
            <p:nvPr/>
          </p:nvSpPr>
          <p:spPr>
            <a:xfrm>
              <a:off x="0" y="0"/>
              <a:ext cx="18355183" cy="3012059"/>
            </a:xfrm>
            <a:custGeom>
              <a:avLst/>
              <a:gdLst/>
              <a:ahLst/>
              <a:cxnLst/>
              <a:rect l="l" t="t" r="r" b="b"/>
              <a:pathLst>
                <a:path w="18355183" h="3012059">
                  <a:moveTo>
                    <a:pt x="0" y="0"/>
                  </a:moveTo>
                  <a:lnTo>
                    <a:pt x="18355183" y="0"/>
                  </a:lnTo>
                  <a:lnTo>
                    <a:pt x="18355183" y="3012059"/>
                  </a:lnTo>
                  <a:lnTo>
                    <a:pt x="0" y="3012059"/>
                  </a:lnTo>
                  <a:close/>
                </a:path>
              </a:pathLst>
            </a:custGeom>
            <a:blipFill>
              <a:blip r:embed="rId6">
                <a:alphaModFix amt="0"/>
              </a:blip>
              <a:stretch>
                <a:fillRect t="-68658" b="-68656"/>
              </a:stretch>
            </a:blipFill>
          </p:spPr>
          <p:txBody>
            <a:bodyPr/>
            <a:lstStyle/>
            <a:p>
              <a:endParaRPr lang="en-US"/>
            </a:p>
          </p:txBody>
        </p:sp>
      </p:grpSp>
      <p:grpSp>
        <p:nvGrpSpPr>
          <p:cNvPr id="35" name="Group 35"/>
          <p:cNvGrpSpPr/>
          <p:nvPr/>
        </p:nvGrpSpPr>
        <p:grpSpPr>
          <a:xfrm>
            <a:off x="2480043" y="3473872"/>
            <a:ext cx="13766397" cy="2216134"/>
            <a:chOff x="0" y="0"/>
            <a:chExt cx="18355196" cy="2954846"/>
          </a:xfrm>
        </p:grpSpPr>
        <p:sp>
          <p:nvSpPr>
            <p:cNvPr id="36" name="Freeform 36"/>
            <p:cNvSpPr/>
            <p:nvPr/>
          </p:nvSpPr>
          <p:spPr>
            <a:xfrm>
              <a:off x="0" y="0"/>
              <a:ext cx="18355196" cy="2954850"/>
            </a:xfrm>
            <a:custGeom>
              <a:avLst/>
              <a:gdLst/>
              <a:ahLst/>
              <a:cxnLst/>
              <a:rect l="l" t="t" r="r" b="b"/>
              <a:pathLst>
                <a:path w="18355196" h="2954850">
                  <a:moveTo>
                    <a:pt x="0" y="0"/>
                  </a:moveTo>
                  <a:lnTo>
                    <a:pt x="18355196" y="0"/>
                  </a:lnTo>
                  <a:lnTo>
                    <a:pt x="18355196" y="2954850"/>
                  </a:lnTo>
                  <a:lnTo>
                    <a:pt x="0" y="2954850"/>
                  </a:lnTo>
                  <a:close/>
                </a:path>
              </a:pathLst>
            </a:custGeom>
            <a:blipFill>
              <a:blip r:embed="rId7">
                <a:alphaModFix amt="0"/>
              </a:blip>
              <a:stretch>
                <a:fillRect t="-71038" b="-71038"/>
              </a:stretch>
            </a:blipFill>
          </p:spPr>
          <p:txBody>
            <a:bodyPr/>
            <a:lstStyle/>
            <a:p>
              <a:endParaRPr lang="en-US"/>
            </a:p>
          </p:txBody>
        </p:sp>
        <p:sp>
          <p:nvSpPr>
            <p:cNvPr id="37" name="TextBox 37"/>
            <p:cNvSpPr txBox="1"/>
            <p:nvPr/>
          </p:nvSpPr>
          <p:spPr>
            <a:xfrm>
              <a:off x="0" y="57150"/>
              <a:ext cx="18355196" cy="2897696"/>
            </a:xfrm>
            <a:prstGeom prst="rect">
              <a:avLst/>
            </a:prstGeom>
          </p:spPr>
          <p:txBody>
            <a:bodyPr lIns="0" tIns="0" rIns="0" bIns="0" rtlCol="0" anchor="ctr"/>
            <a:lstStyle/>
            <a:p>
              <a:pPr algn="l">
                <a:lnSpc>
                  <a:spcPts val="8856"/>
                </a:lnSpc>
              </a:pPr>
              <a:r>
                <a:rPr lang="en-US" sz="8200" b="1">
                  <a:solidFill>
                    <a:srgbClr val="FFFFFF"/>
                  </a:solidFill>
                  <a:latin typeface="Times New Roman Bold"/>
                  <a:ea typeface="Times New Roman Bold"/>
                  <a:cs typeface="Times New Roman Bold"/>
                  <a:sym typeface="Times New Roman Bold"/>
                </a:rPr>
                <a:t>Thiết kế kiến trúc phần cứng</a:t>
              </a:r>
            </a:p>
          </p:txBody>
        </p:sp>
      </p:grpSp>
      <p:sp>
        <p:nvSpPr>
          <p:cNvPr id="38" name="TextBox 38"/>
          <p:cNvSpPr txBox="1"/>
          <p:nvPr/>
        </p:nvSpPr>
        <p:spPr>
          <a:xfrm>
            <a:off x="2548614" y="1142886"/>
            <a:ext cx="2941806" cy="2343655"/>
          </a:xfrm>
          <a:prstGeom prst="rect">
            <a:avLst/>
          </a:prstGeom>
        </p:spPr>
        <p:txBody>
          <a:bodyPr lIns="0" tIns="0" rIns="0" bIns="0" rtlCol="0" anchor="t">
            <a:spAutoFit/>
          </a:bodyPr>
          <a:lstStyle/>
          <a:p>
            <a:pPr algn="l">
              <a:lnSpc>
                <a:spcPts val="18576"/>
              </a:lnSpc>
            </a:pPr>
            <a:r>
              <a:rPr lang="en-US" sz="17200" b="1">
                <a:solidFill>
                  <a:srgbClr val="FFFFFF"/>
                </a:solidFill>
                <a:latin typeface="Arial Bold"/>
                <a:ea typeface="Arial Bold"/>
                <a:cs typeface="Arial Bold"/>
                <a:sym typeface="Arial Bold"/>
              </a:rPr>
              <a:t>03</a:t>
            </a:r>
          </a:p>
        </p:txBody>
      </p:sp>
      <p:sp>
        <p:nvSpPr>
          <p:cNvPr id="39" name="TextBox 39"/>
          <p:cNvSpPr txBox="1"/>
          <p:nvPr/>
        </p:nvSpPr>
        <p:spPr>
          <a:xfrm>
            <a:off x="17544783" y="9144000"/>
            <a:ext cx="254317" cy="1143000"/>
          </a:xfrm>
          <a:prstGeom prst="rect">
            <a:avLst/>
          </a:prstGeom>
        </p:spPr>
        <p:txBody>
          <a:bodyPr lIns="0" tIns="0" rIns="0" bIns="0" rtlCol="0" anchor="t">
            <a:spAutoFit/>
          </a:bodyPr>
          <a:lstStyle/>
          <a:p>
            <a:pPr algn="ctr">
              <a:lnSpc>
                <a:spcPts val="4320"/>
              </a:lnSpc>
            </a:pPr>
            <a:r>
              <a:rPr lang="en-US" sz="3600">
                <a:solidFill>
                  <a:srgbClr val="000000"/>
                </a:solidFill>
                <a:latin typeface="Arial"/>
                <a:ea typeface="Arial"/>
                <a:cs typeface="Arial"/>
                <a:sym typeface="Arial"/>
              </a:rPr>
              <a:t>9</a:t>
            </a:r>
          </a:p>
          <a:p>
            <a:pPr algn="ctr">
              <a:lnSpc>
                <a:spcPts val="4320"/>
              </a:lnSpc>
            </a:pPr>
            <a:endParaRPr lang="en-US" sz="3600">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124"/>
            <a:ext cx="18291715" cy="10295477"/>
            <a:chOff x="0" y="0"/>
            <a:chExt cx="24388953" cy="13727303"/>
          </a:xfrm>
        </p:grpSpPr>
        <p:sp>
          <p:nvSpPr>
            <p:cNvPr id="3" name="Freeform 3"/>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4" name="Group 4"/>
          <p:cNvGrpSpPr/>
          <p:nvPr/>
        </p:nvGrpSpPr>
        <p:grpSpPr>
          <a:xfrm>
            <a:off x="0" y="2124"/>
            <a:ext cx="18291715" cy="10295477"/>
            <a:chOff x="0" y="0"/>
            <a:chExt cx="24388953" cy="13727303"/>
          </a:xfrm>
        </p:grpSpPr>
        <p:sp>
          <p:nvSpPr>
            <p:cNvPr id="5" name="Freeform 5"/>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6" name="Group 6"/>
          <p:cNvGrpSpPr/>
          <p:nvPr/>
        </p:nvGrpSpPr>
        <p:grpSpPr>
          <a:xfrm rot="5400000">
            <a:off x="8668464" y="-8670055"/>
            <a:ext cx="947356" cy="18291715"/>
            <a:chOff x="0" y="0"/>
            <a:chExt cx="1263142" cy="24388953"/>
          </a:xfrm>
        </p:grpSpPr>
        <p:sp>
          <p:nvSpPr>
            <p:cNvPr id="7" name="Freeform 7"/>
            <p:cNvSpPr/>
            <p:nvPr/>
          </p:nvSpPr>
          <p:spPr>
            <a:xfrm>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gradFill rotWithShape="1">
              <a:gsLst>
                <a:gs pos="0">
                  <a:srgbClr val="10CC57">
                    <a:alpha val="100000"/>
                  </a:srgbClr>
                </a:gs>
                <a:gs pos="100000">
                  <a:srgbClr val="017058">
                    <a:alpha val="100000"/>
                  </a:srgbClr>
                </a:gs>
              </a:gsLst>
              <a:lin ang="0"/>
            </a:gradFill>
          </p:spPr>
          <p:txBody>
            <a:bodyPr/>
            <a:lstStyle/>
            <a:p>
              <a:endParaRPr lang="en-US"/>
            </a:p>
          </p:txBody>
        </p:sp>
      </p:grpSp>
      <p:grpSp>
        <p:nvGrpSpPr>
          <p:cNvPr id="8" name="Group 8"/>
          <p:cNvGrpSpPr/>
          <p:nvPr/>
        </p:nvGrpSpPr>
        <p:grpSpPr>
          <a:xfrm rot="-5400000">
            <a:off x="8670312" y="-8672208"/>
            <a:ext cx="947356" cy="18291715"/>
            <a:chOff x="0" y="0"/>
            <a:chExt cx="1263142" cy="24388953"/>
          </a:xfrm>
        </p:grpSpPr>
        <p:sp>
          <p:nvSpPr>
            <p:cNvPr id="9" name="Freeform 9"/>
            <p:cNvSpPr/>
            <p:nvPr/>
          </p:nvSpPr>
          <p:spPr>
            <a:xfrm flipH="1">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blipFill>
              <a:blip r:embed="rId2"/>
              <a:stretch>
                <a:fillRect l="-35092" r="-35091"/>
              </a:stretch>
            </a:blipFill>
          </p:spPr>
          <p:txBody>
            <a:bodyPr/>
            <a:lstStyle/>
            <a:p>
              <a:endParaRPr lang="en-US"/>
            </a:p>
          </p:txBody>
        </p:sp>
      </p:grpSp>
      <p:sp>
        <p:nvSpPr>
          <p:cNvPr id="10" name="TextBox 10"/>
          <p:cNvSpPr txBox="1"/>
          <p:nvPr/>
        </p:nvSpPr>
        <p:spPr>
          <a:xfrm>
            <a:off x="428996" y="227362"/>
            <a:ext cx="10993288" cy="456571"/>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11" name="Group 11"/>
          <p:cNvGrpSpPr/>
          <p:nvPr/>
        </p:nvGrpSpPr>
        <p:grpSpPr>
          <a:xfrm>
            <a:off x="6719983" y="457933"/>
            <a:ext cx="4848130" cy="958024"/>
            <a:chOff x="0" y="0"/>
            <a:chExt cx="6464173" cy="1277366"/>
          </a:xfrm>
        </p:grpSpPr>
        <p:sp>
          <p:nvSpPr>
            <p:cNvPr id="12" name="Freeform 12"/>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2700000"/>
            </a:gradFill>
          </p:spPr>
          <p:txBody>
            <a:bodyPr/>
            <a:lstStyle/>
            <a:p>
              <a:endParaRPr lang="en-US"/>
            </a:p>
          </p:txBody>
        </p:sp>
      </p:grpSp>
      <p:grpSp>
        <p:nvGrpSpPr>
          <p:cNvPr id="13" name="Group 13"/>
          <p:cNvGrpSpPr/>
          <p:nvPr/>
        </p:nvGrpSpPr>
        <p:grpSpPr>
          <a:xfrm>
            <a:off x="6807460" y="535972"/>
            <a:ext cx="4673060" cy="801815"/>
            <a:chOff x="0" y="0"/>
            <a:chExt cx="6230747" cy="1069086"/>
          </a:xfrm>
        </p:grpSpPr>
        <p:sp>
          <p:nvSpPr>
            <p:cNvPr id="14" name="Freeform 14"/>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en-US"/>
            </a:p>
          </p:txBody>
        </p:sp>
      </p:grpSp>
      <p:grpSp>
        <p:nvGrpSpPr>
          <p:cNvPr id="15" name="Group 15"/>
          <p:cNvGrpSpPr/>
          <p:nvPr/>
        </p:nvGrpSpPr>
        <p:grpSpPr>
          <a:xfrm>
            <a:off x="9436446" y="362541"/>
            <a:ext cx="1163288" cy="1152620"/>
            <a:chOff x="0" y="0"/>
            <a:chExt cx="1551051" cy="1536827"/>
          </a:xfrm>
        </p:grpSpPr>
        <p:sp>
          <p:nvSpPr>
            <p:cNvPr id="16" name="Freeform 16"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211" r="-210"/>
              </a:stretch>
            </a:blipFill>
          </p:spPr>
          <p:txBody>
            <a:bodyPr/>
            <a:lstStyle/>
            <a:p>
              <a:endParaRPr lang="en-US"/>
            </a:p>
          </p:txBody>
        </p:sp>
      </p:grpSp>
      <p:grpSp>
        <p:nvGrpSpPr>
          <p:cNvPr id="17" name="Group 17"/>
          <p:cNvGrpSpPr/>
          <p:nvPr/>
        </p:nvGrpSpPr>
        <p:grpSpPr>
          <a:xfrm>
            <a:off x="7688247" y="398078"/>
            <a:ext cx="1307497" cy="1081564"/>
            <a:chOff x="0" y="0"/>
            <a:chExt cx="1743329" cy="1442085"/>
          </a:xfrm>
        </p:grpSpPr>
        <p:sp>
          <p:nvSpPr>
            <p:cNvPr id="18" name="Freeform 18"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l="-38" r="-37"/>
              </a:stretch>
            </a:blipFill>
          </p:spPr>
          <p:txBody>
            <a:bodyPr/>
            <a:lstStyle/>
            <a:p>
              <a:endParaRPr lang="en-US"/>
            </a:p>
          </p:txBody>
        </p:sp>
      </p:grpSp>
      <p:grpSp>
        <p:nvGrpSpPr>
          <p:cNvPr id="19" name="Group 19"/>
          <p:cNvGrpSpPr/>
          <p:nvPr/>
        </p:nvGrpSpPr>
        <p:grpSpPr>
          <a:xfrm>
            <a:off x="908999" y="1555147"/>
            <a:ext cx="16470001" cy="1335996"/>
            <a:chOff x="0" y="0"/>
            <a:chExt cx="21960002" cy="1781327"/>
          </a:xfrm>
        </p:grpSpPr>
        <p:sp>
          <p:nvSpPr>
            <p:cNvPr id="20" name="Freeform 20"/>
            <p:cNvSpPr/>
            <p:nvPr/>
          </p:nvSpPr>
          <p:spPr>
            <a:xfrm>
              <a:off x="0" y="0"/>
              <a:ext cx="21959951" cy="1781302"/>
            </a:xfrm>
            <a:custGeom>
              <a:avLst/>
              <a:gdLst/>
              <a:ahLst/>
              <a:cxnLst/>
              <a:rect l="l" t="t" r="r" b="b"/>
              <a:pathLst>
                <a:path w="21959951" h="1781302">
                  <a:moveTo>
                    <a:pt x="0" y="0"/>
                  </a:moveTo>
                  <a:lnTo>
                    <a:pt x="21959951" y="0"/>
                  </a:lnTo>
                  <a:lnTo>
                    <a:pt x="21959951" y="1781302"/>
                  </a:lnTo>
                  <a:lnTo>
                    <a:pt x="0" y="1781302"/>
                  </a:lnTo>
                  <a:close/>
                </a:path>
              </a:pathLst>
            </a:custGeom>
            <a:blipFill>
              <a:blip r:embed="rId5">
                <a:alphaModFix amt="0"/>
              </a:blip>
              <a:stretch>
                <a:fillRect t="-190044" b="-190046"/>
              </a:stretch>
            </a:blipFill>
          </p:spPr>
          <p:txBody>
            <a:bodyPr/>
            <a:lstStyle/>
            <a:p>
              <a:endParaRPr lang="en-US"/>
            </a:p>
          </p:txBody>
        </p:sp>
      </p:grpSp>
      <p:grpSp>
        <p:nvGrpSpPr>
          <p:cNvPr id="21" name="Group 21"/>
          <p:cNvGrpSpPr/>
          <p:nvPr/>
        </p:nvGrpSpPr>
        <p:grpSpPr>
          <a:xfrm>
            <a:off x="908999" y="1576578"/>
            <a:ext cx="16470001" cy="1314564"/>
            <a:chOff x="0" y="0"/>
            <a:chExt cx="21960002" cy="1752752"/>
          </a:xfrm>
        </p:grpSpPr>
        <p:sp>
          <p:nvSpPr>
            <p:cNvPr id="22" name="Freeform 22"/>
            <p:cNvSpPr/>
            <p:nvPr/>
          </p:nvSpPr>
          <p:spPr>
            <a:xfrm>
              <a:off x="0" y="0"/>
              <a:ext cx="21960001" cy="1752750"/>
            </a:xfrm>
            <a:custGeom>
              <a:avLst/>
              <a:gdLst/>
              <a:ahLst/>
              <a:cxnLst/>
              <a:rect l="l" t="t" r="r" b="b"/>
              <a:pathLst>
                <a:path w="21960001" h="1752750">
                  <a:moveTo>
                    <a:pt x="0" y="0"/>
                  </a:moveTo>
                  <a:lnTo>
                    <a:pt x="21960001" y="0"/>
                  </a:lnTo>
                  <a:lnTo>
                    <a:pt x="21960001" y="1752750"/>
                  </a:lnTo>
                  <a:lnTo>
                    <a:pt x="0" y="1752750"/>
                  </a:lnTo>
                  <a:close/>
                </a:path>
              </a:pathLst>
            </a:custGeom>
            <a:blipFill>
              <a:blip r:embed="rId6">
                <a:alphaModFix amt="0"/>
              </a:blip>
              <a:stretch>
                <a:fillRect t="-194125" b="-194125"/>
              </a:stretch>
            </a:blipFill>
          </p:spPr>
          <p:txBody>
            <a:bodyPr/>
            <a:lstStyle/>
            <a:p>
              <a:endParaRPr lang="en-US"/>
            </a:p>
          </p:txBody>
        </p:sp>
        <p:sp>
          <p:nvSpPr>
            <p:cNvPr id="23" name="TextBox 23"/>
            <p:cNvSpPr txBox="1"/>
            <p:nvPr/>
          </p:nvSpPr>
          <p:spPr>
            <a:xfrm>
              <a:off x="0" y="28575"/>
              <a:ext cx="21960002" cy="1724177"/>
            </a:xfrm>
            <a:prstGeom prst="rect">
              <a:avLst/>
            </a:prstGeom>
          </p:spPr>
          <p:txBody>
            <a:bodyPr lIns="0" tIns="0" rIns="0" bIns="0" rtlCol="0" anchor="ctr"/>
            <a:lstStyle/>
            <a:p>
              <a:pPr algn="l">
                <a:lnSpc>
                  <a:spcPts val="6048"/>
                </a:lnSpc>
              </a:pPr>
              <a:r>
                <a:rPr lang="en-US" sz="5599" b="1">
                  <a:solidFill>
                    <a:srgbClr val="017058"/>
                  </a:solidFill>
                  <a:latin typeface="Times New Roman Bold"/>
                  <a:ea typeface="Times New Roman Bold"/>
                  <a:cs typeface="Times New Roman Bold"/>
                  <a:sym typeface="Times New Roman Bold"/>
                </a:rPr>
                <a:t>3. Thiết kế hệ thống phần cứng </a:t>
              </a:r>
            </a:p>
          </p:txBody>
        </p:sp>
      </p:grpSp>
      <p:grpSp>
        <p:nvGrpSpPr>
          <p:cNvPr id="24" name="Group 24"/>
          <p:cNvGrpSpPr/>
          <p:nvPr/>
        </p:nvGrpSpPr>
        <p:grpSpPr>
          <a:xfrm>
            <a:off x="3052810" y="3411531"/>
            <a:ext cx="11301260" cy="6003798"/>
            <a:chOff x="0" y="0"/>
            <a:chExt cx="15068347" cy="8005064"/>
          </a:xfrm>
        </p:grpSpPr>
        <p:sp>
          <p:nvSpPr>
            <p:cNvPr id="25" name="Freeform 25"/>
            <p:cNvSpPr/>
            <p:nvPr/>
          </p:nvSpPr>
          <p:spPr>
            <a:xfrm>
              <a:off x="0" y="0"/>
              <a:ext cx="15068296" cy="8005064"/>
            </a:xfrm>
            <a:custGeom>
              <a:avLst/>
              <a:gdLst/>
              <a:ahLst/>
              <a:cxnLst/>
              <a:rect l="l" t="t" r="r" b="b"/>
              <a:pathLst>
                <a:path w="15068296" h="8005064">
                  <a:moveTo>
                    <a:pt x="0" y="0"/>
                  </a:moveTo>
                  <a:lnTo>
                    <a:pt x="15068296" y="0"/>
                  </a:lnTo>
                  <a:lnTo>
                    <a:pt x="15068296" y="8005064"/>
                  </a:lnTo>
                  <a:lnTo>
                    <a:pt x="0" y="8005064"/>
                  </a:lnTo>
                  <a:lnTo>
                    <a:pt x="0" y="0"/>
                  </a:lnTo>
                  <a:close/>
                </a:path>
              </a:pathLst>
            </a:custGeom>
            <a:blipFill>
              <a:blip r:embed="rId7"/>
              <a:stretch>
                <a:fillRect t="-14" b="-14"/>
              </a:stretch>
            </a:blipFill>
          </p:spPr>
          <p:txBody>
            <a:bodyPr/>
            <a:lstStyle/>
            <a:p>
              <a:endParaRPr lang="en-US"/>
            </a:p>
          </p:txBody>
        </p:sp>
      </p:grpSp>
      <p:sp>
        <p:nvSpPr>
          <p:cNvPr id="26" name="TextBox 26"/>
          <p:cNvSpPr txBox="1"/>
          <p:nvPr/>
        </p:nvSpPr>
        <p:spPr>
          <a:xfrm>
            <a:off x="68570" y="-2318490"/>
            <a:ext cx="18150850" cy="569719"/>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sp>
        <p:nvSpPr>
          <p:cNvPr id="27" name="TextBox 27"/>
          <p:cNvSpPr txBox="1"/>
          <p:nvPr/>
        </p:nvSpPr>
        <p:spPr>
          <a:xfrm>
            <a:off x="1170127" y="2626671"/>
            <a:ext cx="12739354" cy="565785"/>
          </a:xfrm>
          <a:prstGeom prst="rect">
            <a:avLst/>
          </a:prstGeom>
        </p:spPr>
        <p:txBody>
          <a:bodyPr lIns="0" tIns="0" rIns="0" bIns="0" rtlCol="0" anchor="t">
            <a:spAutoFit/>
          </a:bodyPr>
          <a:lstStyle/>
          <a:p>
            <a:pPr algn="l">
              <a:lnSpc>
                <a:spcPts val="4320"/>
              </a:lnSpc>
            </a:pPr>
            <a:r>
              <a:rPr lang="en-US" sz="4000" b="1">
                <a:solidFill>
                  <a:srgbClr val="017058"/>
                </a:solidFill>
                <a:latin typeface="Times New Roman Bold"/>
                <a:ea typeface="Times New Roman Bold"/>
                <a:cs typeface="Times New Roman Bold"/>
                <a:sym typeface="Times New Roman Bold"/>
              </a:rPr>
              <a:t>3.1 Tích hợp hệ thống</a:t>
            </a:r>
          </a:p>
        </p:txBody>
      </p:sp>
      <p:sp>
        <p:nvSpPr>
          <p:cNvPr id="28" name="TextBox 28"/>
          <p:cNvSpPr txBox="1"/>
          <p:nvPr/>
        </p:nvSpPr>
        <p:spPr>
          <a:xfrm>
            <a:off x="17447714" y="9144000"/>
            <a:ext cx="508635" cy="1143000"/>
          </a:xfrm>
          <a:prstGeom prst="rect">
            <a:avLst/>
          </a:prstGeom>
        </p:spPr>
        <p:txBody>
          <a:bodyPr lIns="0" tIns="0" rIns="0" bIns="0" rtlCol="0" anchor="t">
            <a:spAutoFit/>
          </a:bodyPr>
          <a:lstStyle/>
          <a:p>
            <a:pPr algn="ctr">
              <a:lnSpc>
                <a:spcPts val="4320"/>
              </a:lnSpc>
            </a:pPr>
            <a:r>
              <a:rPr lang="en-US" sz="3600">
                <a:solidFill>
                  <a:srgbClr val="000000"/>
                </a:solidFill>
                <a:latin typeface="Arial"/>
                <a:ea typeface="Arial"/>
                <a:cs typeface="Arial"/>
                <a:sym typeface="Arial"/>
              </a:rPr>
              <a:t>10</a:t>
            </a:r>
          </a:p>
          <a:p>
            <a:pPr algn="ctr">
              <a:lnSpc>
                <a:spcPts val="4320"/>
              </a:lnSpc>
            </a:pPr>
            <a:endParaRPr lang="en-US" sz="3600">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124"/>
            <a:ext cx="18291715" cy="10295477"/>
            <a:chOff x="0" y="0"/>
            <a:chExt cx="24388953" cy="13727303"/>
          </a:xfrm>
        </p:grpSpPr>
        <p:sp>
          <p:nvSpPr>
            <p:cNvPr id="3" name="Freeform 3"/>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4" name="Group 4"/>
          <p:cNvGrpSpPr/>
          <p:nvPr/>
        </p:nvGrpSpPr>
        <p:grpSpPr>
          <a:xfrm>
            <a:off x="0" y="2124"/>
            <a:ext cx="18291715" cy="10295477"/>
            <a:chOff x="0" y="0"/>
            <a:chExt cx="24388953" cy="13727303"/>
          </a:xfrm>
        </p:grpSpPr>
        <p:sp>
          <p:nvSpPr>
            <p:cNvPr id="5" name="Freeform 5"/>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6" name="Group 6"/>
          <p:cNvGrpSpPr/>
          <p:nvPr/>
        </p:nvGrpSpPr>
        <p:grpSpPr>
          <a:xfrm rot="5400000">
            <a:off x="8668464" y="-8670055"/>
            <a:ext cx="947356" cy="18291715"/>
            <a:chOff x="0" y="0"/>
            <a:chExt cx="1263142" cy="24388953"/>
          </a:xfrm>
        </p:grpSpPr>
        <p:sp>
          <p:nvSpPr>
            <p:cNvPr id="7" name="Freeform 7"/>
            <p:cNvSpPr/>
            <p:nvPr/>
          </p:nvSpPr>
          <p:spPr>
            <a:xfrm>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gradFill rotWithShape="1">
              <a:gsLst>
                <a:gs pos="0">
                  <a:srgbClr val="10CC57">
                    <a:alpha val="100000"/>
                  </a:srgbClr>
                </a:gs>
                <a:gs pos="100000">
                  <a:srgbClr val="017058">
                    <a:alpha val="100000"/>
                  </a:srgbClr>
                </a:gs>
              </a:gsLst>
              <a:lin ang="0"/>
            </a:gradFill>
          </p:spPr>
          <p:txBody>
            <a:bodyPr/>
            <a:lstStyle/>
            <a:p>
              <a:endParaRPr lang="en-US"/>
            </a:p>
          </p:txBody>
        </p:sp>
      </p:grpSp>
      <p:grpSp>
        <p:nvGrpSpPr>
          <p:cNvPr id="8" name="Group 8"/>
          <p:cNvGrpSpPr/>
          <p:nvPr/>
        </p:nvGrpSpPr>
        <p:grpSpPr>
          <a:xfrm rot="-5400000">
            <a:off x="8670312" y="-8672208"/>
            <a:ext cx="947356" cy="18291715"/>
            <a:chOff x="0" y="0"/>
            <a:chExt cx="1263142" cy="24388953"/>
          </a:xfrm>
        </p:grpSpPr>
        <p:sp>
          <p:nvSpPr>
            <p:cNvPr id="9" name="Freeform 9"/>
            <p:cNvSpPr/>
            <p:nvPr/>
          </p:nvSpPr>
          <p:spPr>
            <a:xfrm flipH="1">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blipFill>
              <a:blip r:embed="rId2"/>
              <a:stretch>
                <a:fillRect l="-35092" r="-35091"/>
              </a:stretch>
            </a:blipFill>
          </p:spPr>
          <p:txBody>
            <a:bodyPr/>
            <a:lstStyle/>
            <a:p>
              <a:endParaRPr lang="en-US"/>
            </a:p>
          </p:txBody>
        </p:sp>
      </p:grpSp>
      <p:sp>
        <p:nvSpPr>
          <p:cNvPr id="10" name="TextBox 10"/>
          <p:cNvSpPr txBox="1"/>
          <p:nvPr/>
        </p:nvSpPr>
        <p:spPr>
          <a:xfrm>
            <a:off x="428996" y="227362"/>
            <a:ext cx="10993288" cy="456571"/>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11" name="Group 11"/>
          <p:cNvGrpSpPr/>
          <p:nvPr/>
        </p:nvGrpSpPr>
        <p:grpSpPr>
          <a:xfrm>
            <a:off x="6719983" y="457933"/>
            <a:ext cx="4848130" cy="958024"/>
            <a:chOff x="0" y="0"/>
            <a:chExt cx="6464173" cy="1277366"/>
          </a:xfrm>
        </p:grpSpPr>
        <p:sp>
          <p:nvSpPr>
            <p:cNvPr id="12" name="Freeform 12"/>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2700000"/>
            </a:gradFill>
          </p:spPr>
          <p:txBody>
            <a:bodyPr/>
            <a:lstStyle/>
            <a:p>
              <a:endParaRPr lang="en-US"/>
            </a:p>
          </p:txBody>
        </p:sp>
      </p:grpSp>
      <p:grpSp>
        <p:nvGrpSpPr>
          <p:cNvPr id="13" name="Group 13"/>
          <p:cNvGrpSpPr/>
          <p:nvPr/>
        </p:nvGrpSpPr>
        <p:grpSpPr>
          <a:xfrm>
            <a:off x="6807460" y="535972"/>
            <a:ext cx="4673060" cy="801815"/>
            <a:chOff x="0" y="0"/>
            <a:chExt cx="6230747" cy="1069086"/>
          </a:xfrm>
        </p:grpSpPr>
        <p:sp>
          <p:nvSpPr>
            <p:cNvPr id="14" name="Freeform 14"/>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en-US"/>
            </a:p>
          </p:txBody>
        </p:sp>
      </p:grpSp>
      <p:grpSp>
        <p:nvGrpSpPr>
          <p:cNvPr id="15" name="Group 15"/>
          <p:cNvGrpSpPr/>
          <p:nvPr/>
        </p:nvGrpSpPr>
        <p:grpSpPr>
          <a:xfrm>
            <a:off x="9436446" y="362541"/>
            <a:ext cx="1163288" cy="1152620"/>
            <a:chOff x="0" y="0"/>
            <a:chExt cx="1551051" cy="1536827"/>
          </a:xfrm>
        </p:grpSpPr>
        <p:sp>
          <p:nvSpPr>
            <p:cNvPr id="16" name="Freeform 16"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211" r="-210"/>
              </a:stretch>
            </a:blipFill>
          </p:spPr>
          <p:txBody>
            <a:bodyPr/>
            <a:lstStyle/>
            <a:p>
              <a:endParaRPr lang="en-US"/>
            </a:p>
          </p:txBody>
        </p:sp>
      </p:grpSp>
      <p:grpSp>
        <p:nvGrpSpPr>
          <p:cNvPr id="17" name="Group 17"/>
          <p:cNvGrpSpPr/>
          <p:nvPr/>
        </p:nvGrpSpPr>
        <p:grpSpPr>
          <a:xfrm>
            <a:off x="7688247" y="398078"/>
            <a:ext cx="1307497" cy="1081564"/>
            <a:chOff x="0" y="0"/>
            <a:chExt cx="1743329" cy="1442085"/>
          </a:xfrm>
        </p:grpSpPr>
        <p:sp>
          <p:nvSpPr>
            <p:cNvPr id="18" name="Freeform 18"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l="-38" r="-37"/>
              </a:stretch>
            </a:blipFill>
          </p:spPr>
          <p:txBody>
            <a:bodyPr/>
            <a:lstStyle/>
            <a:p>
              <a:endParaRPr lang="en-US"/>
            </a:p>
          </p:txBody>
        </p:sp>
      </p:grpSp>
      <p:grpSp>
        <p:nvGrpSpPr>
          <p:cNvPr id="19" name="Group 19"/>
          <p:cNvGrpSpPr/>
          <p:nvPr/>
        </p:nvGrpSpPr>
        <p:grpSpPr>
          <a:xfrm>
            <a:off x="908999" y="1555147"/>
            <a:ext cx="16470001" cy="1335996"/>
            <a:chOff x="0" y="0"/>
            <a:chExt cx="21960002" cy="1781327"/>
          </a:xfrm>
        </p:grpSpPr>
        <p:sp>
          <p:nvSpPr>
            <p:cNvPr id="20" name="Freeform 20"/>
            <p:cNvSpPr/>
            <p:nvPr/>
          </p:nvSpPr>
          <p:spPr>
            <a:xfrm>
              <a:off x="0" y="0"/>
              <a:ext cx="21959951" cy="1781302"/>
            </a:xfrm>
            <a:custGeom>
              <a:avLst/>
              <a:gdLst/>
              <a:ahLst/>
              <a:cxnLst/>
              <a:rect l="l" t="t" r="r" b="b"/>
              <a:pathLst>
                <a:path w="21959951" h="1781302">
                  <a:moveTo>
                    <a:pt x="0" y="0"/>
                  </a:moveTo>
                  <a:lnTo>
                    <a:pt x="21959951" y="0"/>
                  </a:lnTo>
                  <a:lnTo>
                    <a:pt x="21959951" y="1781302"/>
                  </a:lnTo>
                  <a:lnTo>
                    <a:pt x="0" y="1781302"/>
                  </a:lnTo>
                  <a:close/>
                </a:path>
              </a:pathLst>
            </a:custGeom>
            <a:blipFill>
              <a:blip r:embed="rId5">
                <a:alphaModFix amt="0"/>
              </a:blip>
              <a:stretch>
                <a:fillRect t="-190044" b="-190046"/>
              </a:stretch>
            </a:blipFill>
          </p:spPr>
          <p:txBody>
            <a:bodyPr/>
            <a:lstStyle/>
            <a:p>
              <a:endParaRPr lang="en-US"/>
            </a:p>
          </p:txBody>
        </p:sp>
      </p:grpSp>
      <p:grpSp>
        <p:nvGrpSpPr>
          <p:cNvPr id="21" name="Group 21"/>
          <p:cNvGrpSpPr/>
          <p:nvPr/>
        </p:nvGrpSpPr>
        <p:grpSpPr>
          <a:xfrm>
            <a:off x="908999" y="1576578"/>
            <a:ext cx="16470001" cy="1314564"/>
            <a:chOff x="0" y="0"/>
            <a:chExt cx="21960002" cy="1752752"/>
          </a:xfrm>
        </p:grpSpPr>
        <p:sp>
          <p:nvSpPr>
            <p:cNvPr id="22" name="Freeform 22"/>
            <p:cNvSpPr/>
            <p:nvPr/>
          </p:nvSpPr>
          <p:spPr>
            <a:xfrm>
              <a:off x="0" y="0"/>
              <a:ext cx="21960001" cy="1752750"/>
            </a:xfrm>
            <a:custGeom>
              <a:avLst/>
              <a:gdLst/>
              <a:ahLst/>
              <a:cxnLst/>
              <a:rect l="l" t="t" r="r" b="b"/>
              <a:pathLst>
                <a:path w="21960001" h="1752750">
                  <a:moveTo>
                    <a:pt x="0" y="0"/>
                  </a:moveTo>
                  <a:lnTo>
                    <a:pt x="21960001" y="0"/>
                  </a:lnTo>
                  <a:lnTo>
                    <a:pt x="21960001" y="1752750"/>
                  </a:lnTo>
                  <a:lnTo>
                    <a:pt x="0" y="1752750"/>
                  </a:lnTo>
                  <a:close/>
                </a:path>
              </a:pathLst>
            </a:custGeom>
            <a:blipFill>
              <a:blip r:embed="rId6">
                <a:alphaModFix amt="0"/>
              </a:blip>
              <a:stretch>
                <a:fillRect t="-194125" b="-194125"/>
              </a:stretch>
            </a:blipFill>
          </p:spPr>
          <p:txBody>
            <a:bodyPr/>
            <a:lstStyle/>
            <a:p>
              <a:endParaRPr lang="en-US"/>
            </a:p>
          </p:txBody>
        </p:sp>
        <p:sp>
          <p:nvSpPr>
            <p:cNvPr id="23" name="TextBox 23"/>
            <p:cNvSpPr txBox="1"/>
            <p:nvPr/>
          </p:nvSpPr>
          <p:spPr>
            <a:xfrm>
              <a:off x="0" y="28575"/>
              <a:ext cx="21960002" cy="1724177"/>
            </a:xfrm>
            <a:prstGeom prst="rect">
              <a:avLst/>
            </a:prstGeom>
          </p:spPr>
          <p:txBody>
            <a:bodyPr lIns="0" tIns="0" rIns="0" bIns="0" rtlCol="0" anchor="ctr"/>
            <a:lstStyle/>
            <a:p>
              <a:pPr algn="l">
                <a:lnSpc>
                  <a:spcPts val="6048"/>
                </a:lnSpc>
              </a:pPr>
              <a:r>
                <a:rPr lang="en-US" sz="5599" b="1">
                  <a:solidFill>
                    <a:srgbClr val="017058"/>
                  </a:solidFill>
                  <a:latin typeface="Times New Roman Bold"/>
                  <a:ea typeface="Times New Roman Bold"/>
                  <a:cs typeface="Times New Roman Bold"/>
                  <a:sym typeface="Times New Roman Bold"/>
                </a:rPr>
                <a:t>3. Thiết kế hệ thống phần cứng </a:t>
              </a:r>
            </a:p>
          </p:txBody>
        </p:sp>
      </p:grpSp>
      <p:grpSp>
        <p:nvGrpSpPr>
          <p:cNvPr id="24" name="Group 24"/>
          <p:cNvGrpSpPr/>
          <p:nvPr/>
        </p:nvGrpSpPr>
        <p:grpSpPr>
          <a:xfrm>
            <a:off x="908999" y="3335331"/>
            <a:ext cx="9109100" cy="6003798"/>
            <a:chOff x="0" y="0"/>
            <a:chExt cx="12145467" cy="8005064"/>
          </a:xfrm>
        </p:grpSpPr>
        <p:sp>
          <p:nvSpPr>
            <p:cNvPr id="25" name="Freeform 25"/>
            <p:cNvSpPr/>
            <p:nvPr/>
          </p:nvSpPr>
          <p:spPr>
            <a:xfrm>
              <a:off x="0" y="0"/>
              <a:ext cx="12145518" cy="8005064"/>
            </a:xfrm>
            <a:custGeom>
              <a:avLst/>
              <a:gdLst/>
              <a:ahLst/>
              <a:cxnLst/>
              <a:rect l="l" t="t" r="r" b="b"/>
              <a:pathLst>
                <a:path w="12145518" h="8005064">
                  <a:moveTo>
                    <a:pt x="0" y="0"/>
                  </a:moveTo>
                  <a:lnTo>
                    <a:pt x="12145518" y="0"/>
                  </a:lnTo>
                  <a:lnTo>
                    <a:pt x="12145518" y="8005064"/>
                  </a:lnTo>
                  <a:lnTo>
                    <a:pt x="0" y="8005064"/>
                  </a:lnTo>
                  <a:lnTo>
                    <a:pt x="0" y="0"/>
                  </a:lnTo>
                  <a:close/>
                </a:path>
              </a:pathLst>
            </a:custGeom>
            <a:blipFill>
              <a:blip r:embed="rId7"/>
              <a:stretch>
                <a:fillRect l="-12014" r="-12014"/>
              </a:stretch>
            </a:blipFill>
          </p:spPr>
          <p:txBody>
            <a:bodyPr/>
            <a:lstStyle/>
            <a:p>
              <a:endParaRPr lang="en-US"/>
            </a:p>
          </p:txBody>
        </p:sp>
      </p:grpSp>
      <p:sp>
        <p:nvSpPr>
          <p:cNvPr id="26" name="TextBox 26"/>
          <p:cNvSpPr txBox="1"/>
          <p:nvPr/>
        </p:nvSpPr>
        <p:spPr>
          <a:xfrm>
            <a:off x="68570" y="-2318490"/>
            <a:ext cx="18150850" cy="569719"/>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sp>
        <p:nvSpPr>
          <p:cNvPr id="27" name="TextBox 27"/>
          <p:cNvSpPr txBox="1"/>
          <p:nvPr/>
        </p:nvSpPr>
        <p:spPr>
          <a:xfrm>
            <a:off x="1170127" y="2626671"/>
            <a:ext cx="12739354" cy="565785"/>
          </a:xfrm>
          <a:prstGeom prst="rect">
            <a:avLst/>
          </a:prstGeom>
        </p:spPr>
        <p:txBody>
          <a:bodyPr lIns="0" tIns="0" rIns="0" bIns="0" rtlCol="0" anchor="t">
            <a:spAutoFit/>
          </a:bodyPr>
          <a:lstStyle/>
          <a:p>
            <a:pPr algn="l">
              <a:lnSpc>
                <a:spcPts val="4320"/>
              </a:lnSpc>
            </a:pPr>
            <a:r>
              <a:rPr lang="en-US" sz="4000" b="1">
                <a:solidFill>
                  <a:srgbClr val="017058"/>
                </a:solidFill>
                <a:latin typeface="Times New Roman Bold"/>
                <a:ea typeface="Times New Roman Bold"/>
                <a:cs typeface="Times New Roman Bold"/>
                <a:sym typeface="Times New Roman Bold"/>
              </a:rPr>
              <a:t>3.1 Tích hợp hệ thống</a:t>
            </a:r>
          </a:p>
        </p:txBody>
      </p:sp>
      <p:sp>
        <p:nvSpPr>
          <p:cNvPr id="28" name="TextBox 28"/>
          <p:cNvSpPr txBox="1"/>
          <p:nvPr/>
        </p:nvSpPr>
        <p:spPr>
          <a:xfrm>
            <a:off x="17447714" y="9144000"/>
            <a:ext cx="508635" cy="1143000"/>
          </a:xfrm>
          <a:prstGeom prst="rect">
            <a:avLst/>
          </a:prstGeom>
        </p:spPr>
        <p:txBody>
          <a:bodyPr lIns="0" tIns="0" rIns="0" bIns="0" rtlCol="0" anchor="t">
            <a:spAutoFit/>
          </a:bodyPr>
          <a:lstStyle/>
          <a:p>
            <a:pPr algn="ctr">
              <a:lnSpc>
                <a:spcPts val="4320"/>
              </a:lnSpc>
            </a:pPr>
            <a:r>
              <a:rPr lang="en-US" sz="3600">
                <a:solidFill>
                  <a:srgbClr val="000000"/>
                </a:solidFill>
                <a:latin typeface="Arial"/>
                <a:ea typeface="Arial"/>
                <a:cs typeface="Arial"/>
                <a:sym typeface="Arial"/>
              </a:rPr>
              <a:t>11</a:t>
            </a:r>
          </a:p>
          <a:p>
            <a:pPr algn="ctr">
              <a:lnSpc>
                <a:spcPts val="4320"/>
              </a:lnSpc>
            </a:pPr>
            <a:endParaRPr lang="en-US" sz="3600">
              <a:solidFill>
                <a:srgbClr val="000000"/>
              </a:solidFill>
              <a:latin typeface="Arial"/>
              <a:ea typeface="Arial"/>
              <a:cs typeface="Arial"/>
              <a:sym typeface="Arial"/>
            </a:endParaRPr>
          </a:p>
        </p:txBody>
      </p:sp>
      <p:sp>
        <p:nvSpPr>
          <p:cNvPr id="29" name="TextBox 29"/>
          <p:cNvSpPr txBox="1"/>
          <p:nvPr/>
        </p:nvSpPr>
        <p:spPr>
          <a:xfrm>
            <a:off x="10910526" y="3763956"/>
            <a:ext cx="5731983" cy="4229100"/>
          </a:xfrm>
          <a:prstGeom prst="rect">
            <a:avLst/>
          </a:prstGeom>
        </p:spPr>
        <p:txBody>
          <a:bodyPr lIns="0" tIns="0" rIns="0" bIns="0" rtlCol="0" anchor="t">
            <a:spAutoFit/>
          </a:bodyPr>
          <a:lstStyle/>
          <a:p>
            <a:pPr marL="639958" lvl="2" indent="-213319" algn="l">
              <a:lnSpc>
                <a:spcPts val="3358"/>
              </a:lnSpc>
              <a:buFont typeface="Arial"/>
              <a:buChar char="⚬"/>
            </a:pPr>
            <a:r>
              <a:rPr lang="en-US" sz="2799">
                <a:solidFill>
                  <a:srgbClr val="000000"/>
                </a:solidFill>
                <a:latin typeface="Arial"/>
                <a:ea typeface="Arial"/>
                <a:cs typeface="Arial"/>
                <a:sym typeface="Arial"/>
              </a:rPr>
              <a:t>Hệ thống áp dụng phương pháp HW/SW co-design để tối ưu hóa giữa tính linh hoạt và tốc độ. </a:t>
            </a:r>
          </a:p>
          <a:p>
            <a:pPr marL="639958" lvl="2" indent="-213319" algn="l">
              <a:lnSpc>
                <a:spcPts val="3358"/>
              </a:lnSpc>
            </a:pPr>
            <a:endParaRPr lang="en-US" sz="2799">
              <a:solidFill>
                <a:srgbClr val="000000"/>
              </a:solidFill>
              <a:latin typeface="Arial"/>
              <a:ea typeface="Arial"/>
              <a:cs typeface="Arial"/>
              <a:sym typeface="Arial"/>
            </a:endParaRPr>
          </a:p>
          <a:p>
            <a:pPr marL="639958" lvl="2" indent="-213319" algn="l">
              <a:lnSpc>
                <a:spcPts val="3358"/>
              </a:lnSpc>
              <a:buFont typeface="Arial"/>
              <a:buChar char="⚬"/>
            </a:pPr>
            <a:r>
              <a:rPr lang="en-US" sz="2799">
                <a:solidFill>
                  <a:srgbClr val="000000"/>
                </a:solidFill>
                <a:latin typeface="Arial"/>
                <a:ea typeface="Arial"/>
                <a:cs typeface="Arial"/>
                <a:sym typeface="Arial"/>
              </a:rPr>
              <a:t>Trung tâm điều khiển là vi xử lý Nios II (nios2_qsys_0), giao tiếp qua hệ thống bus với bộ nhớ nội (onchip_memory2_0) và các ngoại vi cơ bản (jtag_uart_0, sysid_qsys_0).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124"/>
            <a:ext cx="18291715" cy="10295477"/>
            <a:chOff x="0" y="0"/>
            <a:chExt cx="24388953" cy="13727303"/>
          </a:xfrm>
        </p:grpSpPr>
        <p:sp>
          <p:nvSpPr>
            <p:cNvPr id="3" name="Freeform 3"/>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4" name="Group 4"/>
          <p:cNvGrpSpPr/>
          <p:nvPr/>
        </p:nvGrpSpPr>
        <p:grpSpPr>
          <a:xfrm>
            <a:off x="0" y="2124"/>
            <a:ext cx="18291715" cy="10295477"/>
            <a:chOff x="0" y="0"/>
            <a:chExt cx="24388953" cy="13727303"/>
          </a:xfrm>
        </p:grpSpPr>
        <p:sp>
          <p:nvSpPr>
            <p:cNvPr id="5" name="Freeform 5"/>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6" name="Group 6"/>
          <p:cNvGrpSpPr/>
          <p:nvPr/>
        </p:nvGrpSpPr>
        <p:grpSpPr>
          <a:xfrm rot="5400000">
            <a:off x="8668464" y="-8670055"/>
            <a:ext cx="947356" cy="18291715"/>
            <a:chOff x="0" y="0"/>
            <a:chExt cx="1263142" cy="24388953"/>
          </a:xfrm>
        </p:grpSpPr>
        <p:sp>
          <p:nvSpPr>
            <p:cNvPr id="7" name="Freeform 7"/>
            <p:cNvSpPr/>
            <p:nvPr/>
          </p:nvSpPr>
          <p:spPr>
            <a:xfrm>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gradFill rotWithShape="1">
              <a:gsLst>
                <a:gs pos="0">
                  <a:srgbClr val="10CC57">
                    <a:alpha val="100000"/>
                  </a:srgbClr>
                </a:gs>
                <a:gs pos="100000">
                  <a:srgbClr val="017058">
                    <a:alpha val="100000"/>
                  </a:srgbClr>
                </a:gs>
              </a:gsLst>
              <a:lin ang="0"/>
            </a:gradFill>
          </p:spPr>
          <p:txBody>
            <a:bodyPr/>
            <a:lstStyle/>
            <a:p>
              <a:endParaRPr lang="en-US"/>
            </a:p>
          </p:txBody>
        </p:sp>
      </p:grpSp>
      <p:grpSp>
        <p:nvGrpSpPr>
          <p:cNvPr id="8" name="Group 8"/>
          <p:cNvGrpSpPr/>
          <p:nvPr/>
        </p:nvGrpSpPr>
        <p:grpSpPr>
          <a:xfrm rot="-5400000">
            <a:off x="8670312" y="-8672208"/>
            <a:ext cx="947356" cy="18291715"/>
            <a:chOff x="0" y="0"/>
            <a:chExt cx="1263142" cy="24388953"/>
          </a:xfrm>
        </p:grpSpPr>
        <p:sp>
          <p:nvSpPr>
            <p:cNvPr id="9" name="Freeform 9"/>
            <p:cNvSpPr/>
            <p:nvPr/>
          </p:nvSpPr>
          <p:spPr>
            <a:xfrm flipH="1">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blipFill>
              <a:blip r:embed="rId2"/>
              <a:stretch>
                <a:fillRect l="-35092" r="-35091"/>
              </a:stretch>
            </a:blipFill>
          </p:spPr>
          <p:txBody>
            <a:bodyPr/>
            <a:lstStyle/>
            <a:p>
              <a:endParaRPr lang="en-US"/>
            </a:p>
          </p:txBody>
        </p:sp>
      </p:grpSp>
      <p:sp>
        <p:nvSpPr>
          <p:cNvPr id="10" name="TextBox 10"/>
          <p:cNvSpPr txBox="1"/>
          <p:nvPr/>
        </p:nvSpPr>
        <p:spPr>
          <a:xfrm>
            <a:off x="428996" y="227362"/>
            <a:ext cx="10993288" cy="456571"/>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11" name="Group 11"/>
          <p:cNvGrpSpPr/>
          <p:nvPr/>
        </p:nvGrpSpPr>
        <p:grpSpPr>
          <a:xfrm>
            <a:off x="6719983" y="457933"/>
            <a:ext cx="4848130" cy="958024"/>
            <a:chOff x="0" y="0"/>
            <a:chExt cx="6464173" cy="1277366"/>
          </a:xfrm>
        </p:grpSpPr>
        <p:sp>
          <p:nvSpPr>
            <p:cNvPr id="12" name="Freeform 12"/>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2700000"/>
            </a:gradFill>
          </p:spPr>
          <p:txBody>
            <a:bodyPr/>
            <a:lstStyle/>
            <a:p>
              <a:endParaRPr lang="en-US"/>
            </a:p>
          </p:txBody>
        </p:sp>
      </p:grpSp>
      <p:grpSp>
        <p:nvGrpSpPr>
          <p:cNvPr id="13" name="Group 13"/>
          <p:cNvGrpSpPr/>
          <p:nvPr/>
        </p:nvGrpSpPr>
        <p:grpSpPr>
          <a:xfrm>
            <a:off x="6807460" y="535972"/>
            <a:ext cx="4673060" cy="801815"/>
            <a:chOff x="0" y="0"/>
            <a:chExt cx="6230747" cy="1069086"/>
          </a:xfrm>
        </p:grpSpPr>
        <p:sp>
          <p:nvSpPr>
            <p:cNvPr id="14" name="Freeform 14"/>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en-US"/>
            </a:p>
          </p:txBody>
        </p:sp>
      </p:grpSp>
      <p:grpSp>
        <p:nvGrpSpPr>
          <p:cNvPr id="15" name="Group 15"/>
          <p:cNvGrpSpPr/>
          <p:nvPr/>
        </p:nvGrpSpPr>
        <p:grpSpPr>
          <a:xfrm>
            <a:off x="9436446" y="362541"/>
            <a:ext cx="1163288" cy="1152620"/>
            <a:chOff x="0" y="0"/>
            <a:chExt cx="1551051" cy="1536827"/>
          </a:xfrm>
        </p:grpSpPr>
        <p:sp>
          <p:nvSpPr>
            <p:cNvPr id="16" name="Freeform 16"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211" r="-210"/>
              </a:stretch>
            </a:blipFill>
          </p:spPr>
          <p:txBody>
            <a:bodyPr/>
            <a:lstStyle/>
            <a:p>
              <a:endParaRPr lang="en-US"/>
            </a:p>
          </p:txBody>
        </p:sp>
      </p:grpSp>
      <p:grpSp>
        <p:nvGrpSpPr>
          <p:cNvPr id="17" name="Group 17"/>
          <p:cNvGrpSpPr/>
          <p:nvPr/>
        </p:nvGrpSpPr>
        <p:grpSpPr>
          <a:xfrm>
            <a:off x="7688247" y="398078"/>
            <a:ext cx="1307497" cy="1081564"/>
            <a:chOff x="0" y="0"/>
            <a:chExt cx="1743329" cy="1442085"/>
          </a:xfrm>
        </p:grpSpPr>
        <p:sp>
          <p:nvSpPr>
            <p:cNvPr id="18" name="Freeform 18"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l="-38" r="-37"/>
              </a:stretch>
            </a:blipFill>
          </p:spPr>
          <p:txBody>
            <a:bodyPr/>
            <a:lstStyle/>
            <a:p>
              <a:endParaRPr lang="en-US"/>
            </a:p>
          </p:txBody>
        </p:sp>
      </p:grpSp>
      <p:grpSp>
        <p:nvGrpSpPr>
          <p:cNvPr id="19" name="Group 19"/>
          <p:cNvGrpSpPr/>
          <p:nvPr/>
        </p:nvGrpSpPr>
        <p:grpSpPr>
          <a:xfrm>
            <a:off x="908999" y="1555147"/>
            <a:ext cx="16470001" cy="1335996"/>
            <a:chOff x="0" y="0"/>
            <a:chExt cx="21960002" cy="1781327"/>
          </a:xfrm>
        </p:grpSpPr>
        <p:sp>
          <p:nvSpPr>
            <p:cNvPr id="20" name="Freeform 20"/>
            <p:cNvSpPr/>
            <p:nvPr/>
          </p:nvSpPr>
          <p:spPr>
            <a:xfrm>
              <a:off x="0" y="0"/>
              <a:ext cx="21959951" cy="1781302"/>
            </a:xfrm>
            <a:custGeom>
              <a:avLst/>
              <a:gdLst/>
              <a:ahLst/>
              <a:cxnLst/>
              <a:rect l="l" t="t" r="r" b="b"/>
              <a:pathLst>
                <a:path w="21959951" h="1781302">
                  <a:moveTo>
                    <a:pt x="0" y="0"/>
                  </a:moveTo>
                  <a:lnTo>
                    <a:pt x="21959951" y="0"/>
                  </a:lnTo>
                  <a:lnTo>
                    <a:pt x="21959951" y="1781302"/>
                  </a:lnTo>
                  <a:lnTo>
                    <a:pt x="0" y="1781302"/>
                  </a:lnTo>
                  <a:close/>
                </a:path>
              </a:pathLst>
            </a:custGeom>
            <a:blipFill>
              <a:blip r:embed="rId5">
                <a:alphaModFix amt="0"/>
              </a:blip>
              <a:stretch>
                <a:fillRect t="-190044" b="-190046"/>
              </a:stretch>
            </a:blipFill>
          </p:spPr>
          <p:txBody>
            <a:bodyPr/>
            <a:lstStyle/>
            <a:p>
              <a:endParaRPr lang="en-US"/>
            </a:p>
          </p:txBody>
        </p:sp>
      </p:grpSp>
      <p:grpSp>
        <p:nvGrpSpPr>
          <p:cNvPr id="21" name="Group 21"/>
          <p:cNvGrpSpPr/>
          <p:nvPr/>
        </p:nvGrpSpPr>
        <p:grpSpPr>
          <a:xfrm>
            <a:off x="908999" y="1576578"/>
            <a:ext cx="16470001" cy="1314564"/>
            <a:chOff x="0" y="0"/>
            <a:chExt cx="21960002" cy="1752752"/>
          </a:xfrm>
        </p:grpSpPr>
        <p:sp>
          <p:nvSpPr>
            <p:cNvPr id="22" name="Freeform 22"/>
            <p:cNvSpPr/>
            <p:nvPr/>
          </p:nvSpPr>
          <p:spPr>
            <a:xfrm>
              <a:off x="0" y="0"/>
              <a:ext cx="21960001" cy="1752750"/>
            </a:xfrm>
            <a:custGeom>
              <a:avLst/>
              <a:gdLst/>
              <a:ahLst/>
              <a:cxnLst/>
              <a:rect l="l" t="t" r="r" b="b"/>
              <a:pathLst>
                <a:path w="21960001" h="1752750">
                  <a:moveTo>
                    <a:pt x="0" y="0"/>
                  </a:moveTo>
                  <a:lnTo>
                    <a:pt x="21960001" y="0"/>
                  </a:lnTo>
                  <a:lnTo>
                    <a:pt x="21960001" y="1752750"/>
                  </a:lnTo>
                  <a:lnTo>
                    <a:pt x="0" y="1752750"/>
                  </a:lnTo>
                  <a:close/>
                </a:path>
              </a:pathLst>
            </a:custGeom>
            <a:blipFill>
              <a:blip r:embed="rId6">
                <a:alphaModFix amt="0"/>
              </a:blip>
              <a:stretch>
                <a:fillRect t="-194125" b="-194125"/>
              </a:stretch>
            </a:blipFill>
          </p:spPr>
          <p:txBody>
            <a:bodyPr/>
            <a:lstStyle/>
            <a:p>
              <a:endParaRPr lang="en-US"/>
            </a:p>
          </p:txBody>
        </p:sp>
        <p:sp>
          <p:nvSpPr>
            <p:cNvPr id="23" name="TextBox 23"/>
            <p:cNvSpPr txBox="1"/>
            <p:nvPr/>
          </p:nvSpPr>
          <p:spPr>
            <a:xfrm>
              <a:off x="0" y="28575"/>
              <a:ext cx="21960002" cy="1724177"/>
            </a:xfrm>
            <a:prstGeom prst="rect">
              <a:avLst/>
            </a:prstGeom>
          </p:spPr>
          <p:txBody>
            <a:bodyPr lIns="0" tIns="0" rIns="0" bIns="0" rtlCol="0" anchor="ctr"/>
            <a:lstStyle/>
            <a:p>
              <a:pPr algn="l">
                <a:lnSpc>
                  <a:spcPts val="6048"/>
                </a:lnSpc>
              </a:pPr>
              <a:r>
                <a:rPr lang="en-US" sz="5599" b="1">
                  <a:solidFill>
                    <a:srgbClr val="017058"/>
                  </a:solidFill>
                  <a:latin typeface="Times New Roman Bold"/>
                  <a:ea typeface="Times New Roman Bold"/>
                  <a:cs typeface="Times New Roman Bold"/>
                  <a:sym typeface="Times New Roman Bold"/>
                </a:rPr>
                <a:t>3. Thiết kế hệ thống phần cứng </a:t>
              </a:r>
            </a:p>
          </p:txBody>
        </p:sp>
      </p:grpSp>
      <p:sp>
        <p:nvSpPr>
          <p:cNvPr id="24" name="Freeform 24"/>
          <p:cNvSpPr/>
          <p:nvPr/>
        </p:nvSpPr>
        <p:spPr>
          <a:xfrm>
            <a:off x="1028700" y="3430581"/>
            <a:ext cx="8214856" cy="4579782"/>
          </a:xfrm>
          <a:custGeom>
            <a:avLst/>
            <a:gdLst/>
            <a:ahLst/>
            <a:cxnLst/>
            <a:rect l="l" t="t" r="r" b="b"/>
            <a:pathLst>
              <a:path w="8214856" h="4579782">
                <a:moveTo>
                  <a:pt x="0" y="0"/>
                </a:moveTo>
                <a:lnTo>
                  <a:pt x="8214856" y="0"/>
                </a:lnTo>
                <a:lnTo>
                  <a:pt x="8214856" y="4579782"/>
                </a:lnTo>
                <a:lnTo>
                  <a:pt x="0" y="4579782"/>
                </a:lnTo>
                <a:lnTo>
                  <a:pt x="0" y="0"/>
                </a:lnTo>
                <a:close/>
              </a:path>
            </a:pathLst>
          </a:custGeom>
          <a:blipFill>
            <a:blip r:embed="rId7"/>
            <a:stretch>
              <a:fillRect/>
            </a:stretch>
          </a:blipFill>
        </p:spPr>
        <p:txBody>
          <a:bodyPr/>
          <a:lstStyle/>
          <a:p>
            <a:endParaRPr lang="en-US"/>
          </a:p>
        </p:txBody>
      </p:sp>
      <p:sp>
        <p:nvSpPr>
          <p:cNvPr id="25" name="Freeform 25"/>
          <p:cNvSpPr/>
          <p:nvPr/>
        </p:nvSpPr>
        <p:spPr>
          <a:xfrm>
            <a:off x="10018090" y="3821106"/>
            <a:ext cx="6912212" cy="3326502"/>
          </a:xfrm>
          <a:custGeom>
            <a:avLst/>
            <a:gdLst/>
            <a:ahLst/>
            <a:cxnLst/>
            <a:rect l="l" t="t" r="r" b="b"/>
            <a:pathLst>
              <a:path w="6912212" h="3326502">
                <a:moveTo>
                  <a:pt x="0" y="0"/>
                </a:moveTo>
                <a:lnTo>
                  <a:pt x="6912213" y="0"/>
                </a:lnTo>
                <a:lnTo>
                  <a:pt x="6912213" y="3326502"/>
                </a:lnTo>
                <a:lnTo>
                  <a:pt x="0" y="3326502"/>
                </a:lnTo>
                <a:lnTo>
                  <a:pt x="0" y="0"/>
                </a:lnTo>
                <a:close/>
              </a:path>
            </a:pathLst>
          </a:custGeom>
          <a:blipFill>
            <a:blip r:embed="rId8"/>
            <a:stretch>
              <a:fillRect/>
            </a:stretch>
          </a:blipFill>
        </p:spPr>
        <p:txBody>
          <a:bodyPr/>
          <a:lstStyle/>
          <a:p>
            <a:endParaRPr lang="en-US"/>
          </a:p>
        </p:txBody>
      </p:sp>
      <p:sp>
        <p:nvSpPr>
          <p:cNvPr id="26" name="TextBox 26"/>
          <p:cNvSpPr txBox="1"/>
          <p:nvPr/>
        </p:nvSpPr>
        <p:spPr>
          <a:xfrm>
            <a:off x="68570" y="-2318490"/>
            <a:ext cx="18150850" cy="569719"/>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sp>
        <p:nvSpPr>
          <p:cNvPr id="27" name="TextBox 27"/>
          <p:cNvSpPr txBox="1"/>
          <p:nvPr/>
        </p:nvSpPr>
        <p:spPr>
          <a:xfrm>
            <a:off x="1070182" y="2637272"/>
            <a:ext cx="12739354" cy="565785"/>
          </a:xfrm>
          <a:prstGeom prst="rect">
            <a:avLst/>
          </a:prstGeom>
        </p:spPr>
        <p:txBody>
          <a:bodyPr lIns="0" tIns="0" rIns="0" bIns="0" rtlCol="0" anchor="t">
            <a:spAutoFit/>
          </a:bodyPr>
          <a:lstStyle/>
          <a:p>
            <a:pPr algn="l">
              <a:lnSpc>
                <a:spcPts val="4320"/>
              </a:lnSpc>
            </a:pPr>
            <a:r>
              <a:rPr lang="en-US" sz="4000" b="1">
                <a:solidFill>
                  <a:srgbClr val="017058"/>
                </a:solidFill>
                <a:latin typeface="Times New Roman Bold"/>
                <a:ea typeface="Times New Roman Bold"/>
                <a:cs typeface="Times New Roman Bold"/>
                <a:sym typeface="Times New Roman Bold"/>
              </a:rPr>
              <a:t>3.2 IP RSA ( rsa_accelerator_0)</a:t>
            </a:r>
          </a:p>
        </p:txBody>
      </p:sp>
      <p:sp>
        <p:nvSpPr>
          <p:cNvPr id="28" name="TextBox 28"/>
          <p:cNvSpPr txBox="1"/>
          <p:nvPr/>
        </p:nvSpPr>
        <p:spPr>
          <a:xfrm>
            <a:off x="17447714" y="9144000"/>
            <a:ext cx="508635" cy="1143000"/>
          </a:xfrm>
          <a:prstGeom prst="rect">
            <a:avLst/>
          </a:prstGeom>
        </p:spPr>
        <p:txBody>
          <a:bodyPr lIns="0" tIns="0" rIns="0" bIns="0" rtlCol="0" anchor="t">
            <a:spAutoFit/>
          </a:bodyPr>
          <a:lstStyle/>
          <a:p>
            <a:pPr algn="ctr">
              <a:lnSpc>
                <a:spcPts val="4320"/>
              </a:lnSpc>
            </a:pPr>
            <a:r>
              <a:rPr lang="en-US" sz="3600">
                <a:solidFill>
                  <a:srgbClr val="000000"/>
                </a:solidFill>
                <a:latin typeface="Arial"/>
                <a:ea typeface="Arial"/>
                <a:cs typeface="Arial"/>
                <a:sym typeface="Arial"/>
              </a:rPr>
              <a:t>12</a:t>
            </a:r>
          </a:p>
          <a:p>
            <a:pPr algn="ctr">
              <a:lnSpc>
                <a:spcPts val="4320"/>
              </a:lnSpc>
            </a:pPr>
            <a:endParaRPr lang="en-US" sz="3600">
              <a:solidFill>
                <a:srgbClr val="000000"/>
              </a:solidFill>
              <a:latin typeface="Arial"/>
              <a:ea typeface="Arial"/>
              <a:cs typeface="Arial"/>
              <a:sym typeface="Arial"/>
            </a:endParaRPr>
          </a:p>
        </p:txBody>
      </p:sp>
      <p:sp>
        <p:nvSpPr>
          <p:cNvPr id="29" name="AutoShape 29"/>
          <p:cNvSpPr/>
          <p:nvPr/>
        </p:nvSpPr>
        <p:spPr>
          <a:xfrm flipH="1" flipV="1">
            <a:off x="9630823" y="3203057"/>
            <a:ext cx="0" cy="7094544"/>
          </a:xfrm>
          <a:prstGeom prst="line">
            <a:avLst/>
          </a:prstGeom>
          <a:ln w="38100" cap="flat">
            <a:solidFill>
              <a:srgbClr val="000000"/>
            </a:solidFill>
            <a:prstDash val="solid"/>
            <a:headEnd type="none" w="sm" len="sm"/>
            <a:tailEnd type="none" w="sm" len="sm"/>
          </a:ln>
        </p:spPr>
        <p:txBody>
          <a:bodyPr/>
          <a:lstStyle/>
          <a:p>
            <a:endParaRPr lang="en-US"/>
          </a:p>
        </p:txBody>
      </p:sp>
      <p:sp>
        <p:nvSpPr>
          <p:cNvPr id="30" name="TextBox 30"/>
          <p:cNvSpPr txBox="1"/>
          <p:nvPr/>
        </p:nvSpPr>
        <p:spPr>
          <a:xfrm>
            <a:off x="1222246" y="8686800"/>
            <a:ext cx="7827764" cy="571500"/>
          </a:xfrm>
          <a:prstGeom prst="rect">
            <a:avLst/>
          </a:prstGeom>
        </p:spPr>
        <p:txBody>
          <a:bodyPr lIns="0" tIns="0" rIns="0" bIns="0" rtlCol="0" anchor="t">
            <a:spAutoFit/>
          </a:bodyPr>
          <a:lstStyle/>
          <a:p>
            <a:pPr algn="ctr">
              <a:lnSpc>
                <a:spcPts val="4320"/>
              </a:lnSpc>
              <a:spcBef>
                <a:spcPct val="0"/>
              </a:spcBef>
            </a:pPr>
            <a:r>
              <a:rPr lang="en-US" sz="3600">
                <a:solidFill>
                  <a:srgbClr val="000000"/>
                </a:solidFill>
                <a:latin typeface="Arial"/>
                <a:ea typeface="Arial"/>
                <a:cs typeface="Arial"/>
                <a:sym typeface="Arial"/>
              </a:rPr>
              <a:t>Các file cấu thành nên module lõi RSA</a:t>
            </a:r>
          </a:p>
        </p:txBody>
      </p:sp>
      <p:sp>
        <p:nvSpPr>
          <p:cNvPr id="31" name="TextBox 31"/>
          <p:cNvSpPr txBox="1"/>
          <p:nvPr/>
        </p:nvSpPr>
        <p:spPr>
          <a:xfrm>
            <a:off x="11181950" y="8143875"/>
            <a:ext cx="4955620" cy="571500"/>
          </a:xfrm>
          <a:prstGeom prst="rect">
            <a:avLst/>
          </a:prstGeom>
        </p:spPr>
        <p:txBody>
          <a:bodyPr lIns="0" tIns="0" rIns="0" bIns="0" rtlCol="0" anchor="t">
            <a:spAutoFit/>
          </a:bodyPr>
          <a:lstStyle/>
          <a:p>
            <a:pPr algn="ctr">
              <a:lnSpc>
                <a:spcPts val="4320"/>
              </a:lnSpc>
              <a:spcBef>
                <a:spcPct val="0"/>
              </a:spcBef>
            </a:pPr>
            <a:r>
              <a:rPr lang="en-US" sz="3600">
                <a:solidFill>
                  <a:srgbClr val="000000"/>
                </a:solidFill>
                <a:latin typeface="Arial"/>
                <a:ea typeface="Arial"/>
                <a:cs typeface="Arial"/>
                <a:sym typeface="Arial"/>
              </a:rPr>
              <a:t>Các tín hiện của lõi RSA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124"/>
            <a:ext cx="18291715" cy="10295477"/>
            <a:chOff x="0" y="0"/>
            <a:chExt cx="24388953" cy="13727303"/>
          </a:xfrm>
        </p:grpSpPr>
        <p:sp>
          <p:nvSpPr>
            <p:cNvPr id="3" name="Freeform 3"/>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4" name="Group 4"/>
          <p:cNvGrpSpPr/>
          <p:nvPr/>
        </p:nvGrpSpPr>
        <p:grpSpPr>
          <a:xfrm>
            <a:off x="0" y="2124"/>
            <a:ext cx="18291715" cy="10295477"/>
            <a:chOff x="0" y="0"/>
            <a:chExt cx="24388953" cy="13727303"/>
          </a:xfrm>
        </p:grpSpPr>
        <p:sp>
          <p:nvSpPr>
            <p:cNvPr id="5" name="Freeform 5"/>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6" name="Group 6"/>
          <p:cNvGrpSpPr/>
          <p:nvPr/>
        </p:nvGrpSpPr>
        <p:grpSpPr>
          <a:xfrm rot="5400000">
            <a:off x="8668464" y="-8670055"/>
            <a:ext cx="947356" cy="18291715"/>
            <a:chOff x="0" y="0"/>
            <a:chExt cx="1263142" cy="24388953"/>
          </a:xfrm>
        </p:grpSpPr>
        <p:sp>
          <p:nvSpPr>
            <p:cNvPr id="7" name="Freeform 7"/>
            <p:cNvSpPr/>
            <p:nvPr/>
          </p:nvSpPr>
          <p:spPr>
            <a:xfrm>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gradFill rotWithShape="1">
              <a:gsLst>
                <a:gs pos="0">
                  <a:srgbClr val="10CC57">
                    <a:alpha val="100000"/>
                  </a:srgbClr>
                </a:gs>
                <a:gs pos="100000">
                  <a:srgbClr val="017058">
                    <a:alpha val="100000"/>
                  </a:srgbClr>
                </a:gs>
              </a:gsLst>
              <a:lin ang="0"/>
            </a:gradFill>
          </p:spPr>
          <p:txBody>
            <a:bodyPr/>
            <a:lstStyle/>
            <a:p>
              <a:endParaRPr lang="en-US"/>
            </a:p>
          </p:txBody>
        </p:sp>
      </p:grpSp>
      <p:grpSp>
        <p:nvGrpSpPr>
          <p:cNvPr id="8" name="Group 8"/>
          <p:cNvGrpSpPr/>
          <p:nvPr/>
        </p:nvGrpSpPr>
        <p:grpSpPr>
          <a:xfrm rot="-5400000">
            <a:off x="8670312" y="-8672208"/>
            <a:ext cx="947356" cy="18291715"/>
            <a:chOff x="0" y="0"/>
            <a:chExt cx="1263142" cy="24388953"/>
          </a:xfrm>
        </p:grpSpPr>
        <p:sp>
          <p:nvSpPr>
            <p:cNvPr id="9" name="Freeform 9"/>
            <p:cNvSpPr/>
            <p:nvPr/>
          </p:nvSpPr>
          <p:spPr>
            <a:xfrm flipH="1">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blipFill>
              <a:blip r:embed="rId2"/>
              <a:stretch>
                <a:fillRect l="-35092" r="-35091"/>
              </a:stretch>
            </a:blipFill>
          </p:spPr>
          <p:txBody>
            <a:bodyPr/>
            <a:lstStyle/>
            <a:p>
              <a:endParaRPr lang="en-US"/>
            </a:p>
          </p:txBody>
        </p:sp>
      </p:grpSp>
      <p:sp>
        <p:nvSpPr>
          <p:cNvPr id="10" name="TextBox 10"/>
          <p:cNvSpPr txBox="1"/>
          <p:nvPr/>
        </p:nvSpPr>
        <p:spPr>
          <a:xfrm>
            <a:off x="428996" y="227362"/>
            <a:ext cx="10993288" cy="456571"/>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11" name="Group 11"/>
          <p:cNvGrpSpPr/>
          <p:nvPr/>
        </p:nvGrpSpPr>
        <p:grpSpPr>
          <a:xfrm>
            <a:off x="6719983" y="457933"/>
            <a:ext cx="4848130" cy="958024"/>
            <a:chOff x="0" y="0"/>
            <a:chExt cx="6464173" cy="1277366"/>
          </a:xfrm>
        </p:grpSpPr>
        <p:sp>
          <p:nvSpPr>
            <p:cNvPr id="12" name="Freeform 12"/>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2700000"/>
            </a:gradFill>
          </p:spPr>
          <p:txBody>
            <a:bodyPr/>
            <a:lstStyle/>
            <a:p>
              <a:endParaRPr lang="en-US"/>
            </a:p>
          </p:txBody>
        </p:sp>
      </p:grpSp>
      <p:grpSp>
        <p:nvGrpSpPr>
          <p:cNvPr id="13" name="Group 13"/>
          <p:cNvGrpSpPr/>
          <p:nvPr/>
        </p:nvGrpSpPr>
        <p:grpSpPr>
          <a:xfrm>
            <a:off x="6807460" y="535972"/>
            <a:ext cx="4673060" cy="801815"/>
            <a:chOff x="0" y="0"/>
            <a:chExt cx="6230747" cy="1069086"/>
          </a:xfrm>
        </p:grpSpPr>
        <p:sp>
          <p:nvSpPr>
            <p:cNvPr id="14" name="Freeform 14"/>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en-US"/>
            </a:p>
          </p:txBody>
        </p:sp>
      </p:grpSp>
      <p:grpSp>
        <p:nvGrpSpPr>
          <p:cNvPr id="15" name="Group 15"/>
          <p:cNvGrpSpPr/>
          <p:nvPr/>
        </p:nvGrpSpPr>
        <p:grpSpPr>
          <a:xfrm>
            <a:off x="9436446" y="362541"/>
            <a:ext cx="1163288" cy="1152620"/>
            <a:chOff x="0" y="0"/>
            <a:chExt cx="1551051" cy="1536827"/>
          </a:xfrm>
        </p:grpSpPr>
        <p:sp>
          <p:nvSpPr>
            <p:cNvPr id="16" name="Freeform 16"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211" r="-210"/>
              </a:stretch>
            </a:blipFill>
          </p:spPr>
          <p:txBody>
            <a:bodyPr/>
            <a:lstStyle/>
            <a:p>
              <a:endParaRPr lang="en-US"/>
            </a:p>
          </p:txBody>
        </p:sp>
      </p:grpSp>
      <p:grpSp>
        <p:nvGrpSpPr>
          <p:cNvPr id="17" name="Group 17"/>
          <p:cNvGrpSpPr/>
          <p:nvPr/>
        </p:nvGrpSpPr>
        <p:grpSpPr>
          <a:xfrm>
            <a:off x="7688247" y="398078"/>
            <a:ext cx="1307497" cy="1081564"/>
            <a:chOff x="0" y="0"/>
            <a:chExt cx="1743329" cy="1442085"/>
          </a:xfrm>
        </p:grpSpPr>
        <p:sp>
          <p:nvSpPr>
            <p:cNvPr id="18" name="Freeform 18"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l="-38" r="-37"/>
              </a:stretch>
            </a:blipFill>
          </p:spPr>
          <p:txBody>
            <a:bodyPr/>
            <a:lstStyle/>
            <a:p>
              <a:endParaRPr lang="en-US"/>
            </a:p>
          </p:txBody>
        </p:sp>
      </p:grpSp>
      <p:grpSp>
        <p:nvGrpSpPr>
          <p:cNvPr id="19" name="Group 19"/>
          <p:cNvGrpSpPr/>
          <p:nvPr/>
        </p:nvGrpSpPr>
        <p:grpSpPr>
          <a:xfrm>
            <a:off x="908999" y="1555147"/>
            <a:ext cx="16470001" cy="1335996"/>
            <a:chOff x="0" y="0"/>
            <a:chExt cx="21960002" cy="1781327"/>
          </a:xfrm>
        </p:grpSpPr>
        <p:sp>
          <p:nvSpPr>
            <p:cNvPr id="20" name="Freeform 20"/>
            <p:cNvSpPr/>
            <p:nvPr/>
          </p:nvSpPr>
          <p:spPr>
            <a:xfrm>
              <a:off x="0" y="0"/>
              <a:ext cx="21959951" cy="1781302"/>
            </a:xfrm>
            <a:custGeom>
              <a:avLst/>
              <a:gdLst/>
              <a:ahLst/>
              <a:cxnLst/>
              <a:rect l="l" t="t" r="r" b="b"/>
              <a:pathLst>
                <a:path w="21959951" h="1781302">
                  <a:moveTo>
                    <a:pt x="0" y="0"/>
                  </a:moveTo>
                  <a:lnTo>
                    <a:pt x="21959951" y="0"/>
                  </a:lnTo>
                  <a:lnTo>
                    <a:pt x="21959951" y="1781302"/>
                  </a:lnTo>
                  <a:lnTo>
                    <a:pt x="0" y="1781302"/>
                  </a:lnTo>
                  <a:close/>
                </a:path>
              </a:pathLst>
            </a:custGeom>
            <a:blipFill>
              <a:blip r:embed="rId5">
                <a:alphaModFix amt="0"/>
              </a:blip>
              <a:stretch>
                <a:fillRect t="-190044" b="-190046"/>
              </a:stretch>
            </a:blipFill>
          </p:spPr>
          <p:txBody>
            <a:bodyPr/>
            <a:lstStyle/>
            <a:p>
              <a:endParaRPr lang="en-US"/>
            </a:p>
          </p:txBody>
        </p:sp>
      </p:grpSp>
      <p:grpSp>
        <p:nvGrpSpPr>
          <p:cNvPr id="21" name="Group 21"/>
          <p:cNvGrpSpPr/>
          <p:nvPr/>
        </p:nvGrpSpPr>
        <p:grpSpPr>
          <a:xfrm>
            <a:off x="908999" y="1576578"/>
            <a:ext cx="16470001" cy="1314564"/>
            <a:chOff x="0" y="0"/>
            <a:chExt cx="21960002" cy="1752752"/>
          </a:xfrm>
        </p:grpSpPr>
        <p:sp>
          <p:nvSpPr>
            <p:cNvPr id="22" name="Freeform 22"/>
            <p:cNvSpPr/>
            <p:nvPr/>
          </p:nvSpPr>
          <p:spPr>
            <a:xfrm>
              <a:off x="0" y="0"/>
              <a:ext cx="21960001" cy="1752750"/>
            </a:xfrm>
            <a:custGeom>
              <a:avLst/>
              <a:gdLst/>
              <a:ahLst/>
              <a:cxnLst/>
              <a:rect l="l" t="t" r="r" b="b"/>
              <a:pathLst>
                <a:path w="21960001" h="1752750">
                  <a:moveTo>
                    <a:pt x="0" y="0"/>
                  </a:moveTo>
                  <a:lnTo>
                    <a:pt x="21960001" y="0"/>
                  </a:lnTo>
                  <a:lnTo>
                    <a:pt x="21960001" y="1752750"/>
                  </a:lnTo>
                  <a:lnTo>
                    <a:pt x="0" y="1752750"/>
                  </a:lnTo>
                  <a:close/>
                </a:path>
              </a:pathLst>
            </a:custGeom>
            <a:blipFill>
              <a:blip r:embed="rId6">
                <a:alphaModFix amt="0"/>
              </a:blip>
              <a:stretch>
                <a:fillRect t="-194125" b="-194125"/>
              </a:stretch>
            </a:blipFill>
          </p:spPr>
          <p:txBody>
            <a:bodyPr/>
            <a:lstStyle/>
            <a:p>
              <a:endParaRPr lang="en-US"/>
            </a:p>
          </p:txBody>
        </p:sp>
        <p:sp>
          <p:nvSpPr>
            <p:cNvPr id="23" name="TextBox 23"/>
            <p:cNvSpPr txBox="1"/>
            <p:nvPr/>
          </p:nvSpPr>
          <p:spPr>
            <a:xfrm>
              <a:off x="0" y="28575"/>
              <a:ext cx="21960002" cy="1724177"/>
            </a:xfrm>
            <a:prstGeom prst="rect">
              <a:avLst/>
            </a:prstGeom>
          </p:spPr>
          <p:txBody>
            <a:bodyPr lIns="0" tIns="0" rIns="0" bIns="0" rtlCol="0" anchor="ctr"/>
            <a:lstStyle/>
            <a:p>
              <a:pPr algn="l">
                <a:lnSpc>
                  <a:spcPts val="6048"/>
                </a:lnSpc>
              </a:pPr>
              <a:r>
                <a:rPr lang="en-US" sz="5599" b="1">
                  <a:solidFill>
                    <a:srgbClr val="017058"/>
                  </a:solidFill>
                  <a:latin typeface="Times New Roman Bold"/>
                  <a:ea typeface="Times New Roman Bold"/>
                  <a:cs typeface="Times New Roman Bold"/>
                  <a:sym typeface="Times New Roman Bold"/>
                </a:rPr>
                <a:t>3. Thiết kế hệ thống phần cứng </a:t>
              </a:r>
            </a:p>
          </p:txBody>
        </p:sp>
      </p:grpSp>
      <p:sp>
        <p:nvSpPr>
          <p:cNvPr id="24" name="Freeform 24"/>
          <p:cNvSpPr/>
          <p:nvPr/>
        </p:nvSpPr>
        <p:spPr>
          <a:xfrm>
            <a:off x="9600479" y="3519792"/>
            <a:ext cx="7304234" cy="5454583"/>
          </a:xfrm>
          <a:custGeom>
            <a:avLst/>
            <a:gdLst/>
            <a:ahLst/>
            <a:cxnLst/>
            <a:rect l="l" t="t" r="r" b="b"/>
            <a:pathLst>
              <a:path w="7304234" h="5454583">
                <a:moveTo>
                  <a:pt x="0" y="0"/>
                </a:moveTo>
                <a:lnTo>
                  <a:pt x="7304233" y="0"/>
                </a:lnTo>
                <a:lnTo>
                  <a:pt x="7304233" y="5454583"/>
                </a:lnTo>
                <a:lnTo>
                  <a:pt x="0" y="5454583"/>
                </a:lnTo>
                <a:lnTo>
                  <a:pt x="0" y="0"/>
                </a:lnTo>
                <a:close/>
              </a:path>
            </a:pathLst>
          </a:custGeom>
          <a:blipFill>
            <a:blip r:embed="rId7"/>
            <a:stretch>
              <a:fillRect/>
            </a:stretch>
          </a:blipFill>
        </p:spPr>
        <p:txBody>
          <a:bodyPr/>
          <a:lstStyle/>
          <a:p>
            <a:endParaRPr lang="en-US"/>
          </a:p>
        </p:txBody>
      </p:sp>
      <p:sp>
        <p:nvSpPr>
          <p:cNvPr id="25" name="TextBox 25"/>
          <p:cNvSpPr txBox="1"/>
          <p:nvPr/>
        </p:nvSpPr>
        <p:spPr>
          <a:xfrm>
            <a:off x="68570" y="-2318490"/>
            <a:ext cx="18150850" cy="569719"/>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sp>
        <p:nvSpPr>
          <p:cNvPr id="26" name="TextBox 26"/>
          <p:cNvSpPr txBox="1"/>
          <p:nvPr/>
        </p:nvSpPr>
        <p:spPr>
          <a:xfrm>
            <a:off x="1070182" y="2637272"/>
            <a:ext cx="7925562" cy="584835"/>
          </a:xfrm>
          <a:prstGeom prst="rect">
            <a:avLst/>
          </a:prstGeom>
        </p:spPr>
        <p:txBody>
          <a:bodyPr lIns="0" tIns="0" rIns="0" bIns="0" rtlCol="0" anchor="t">
            <a:spAutoFit/>
          </a:bodyPr>
          <a:lstStyle/>
          <a:p>
            <a:pPr algn="l">
              <a:lnSpc>
                <a:spcPts val="4320"/>
              </a:lnSpc>
            </a:pPr>
            <a:r>
              <a:rPr lang="en-US" sz="4000" b="1">
                <a:solidFill>
                  <a:srgbClr val="017058"/>
                </a:solidFill>
                <a:latin typeface="Times New Roman Bold"/>
                <a:ea typeface="Times New Roman Bold"/>
                <a:cs typeface="Times New Roman Bold"/>
                <a:sym typeface="Times New Roman Bold"/>
              </a:rPr>
              <a:t>3.2.1 Module MontgomeryMul</a:t>
            </a:r>
          </a:p>
        </p:txBody>
      </p:sp>
      <p:sp>
        <p:nvSpPr>
          <p:cNvPr id="27" name="TextBox 27"/>
          <p:cNvSpPr txBox="1"/>
          <p:nvPr/>
        </p:nvSpPr>
        <p:spPr>
          <a:xfrm>
            <a:off x="17447714" y="9144000"/>
            <a:ext cx="508635" cy="1114425"/>
          </a:xfrm>
          <a:prstGeom prst="rect">
            <a:avLst/>
          </a:prstGeom>
        </p:spPr>
        <p:txBody>
          <a:bodyPr lIns="0" tIns="0" rIns="0" bIns="0" rtlCol="0" anchor="t">
            <a:spAutoFit/>
          </a:bodyPr>
          <a:lstStyle/>
          <a:p>
            <a:pPr algn="ctr">
              <a:lnSpc>
                <a:spcPts val="4320"/>
              </a:lnSpc>
            </a:pPr>
            <a:r>
              <a:rPr lang="en-US" sz="3600">
                <a:solidFill>
                  <a:srgbClr val="000000"/>
                </a:solidFill>
                <a:latin typeface="Arial"/>
                <a:ea typeface="Arial"/>
                <a:cs typeface="Arial"/>
                <a:sym typeface="Arial"/>
              </a:rPr>
              <a:t>13</a:t>
            </a:r>
          </a:p>
          <a:p>
            <a:pPr algn="ctr">
              <a:lnSpc>
                <a:spcPts val="4320"/>
              </a:lnSpc>
            </a:pPr>
            <a:endParaRPr lang="en-US" sz="3600">
              <a:solidFill>
                <a:srgbClr val="000000"/>
              </a:solidFill>
              <a:latin typeface="Arial"/>
              <a:ea typeface="Arial"/>
              <a:cs typeface="Arial"/>
              <a:sym typeface="Arial"/>
            </a:endParaRPr>
          </a:p>
        </p:txBody>
      </p:sp>
      <p:sp>
        <p:nvSpPr>
          <p:cNvPr id="28" name="TextBox 28"/>
          <p:cNvSpPr txBox="1"/>
          <p:nvPr/>
        </p:nvSpPr>
        <p:spPr>
          <a:xfrm>
            <a:off x="1028700" y="3663470"/>
            <a:ext cx="8407746" cy="5514975"/>
          </a:xfrm>
          <a:prstGeom prst="rect">
            <a:avLst/>
          </a:prstGeom>
        </p:spPr>
        <p:txBody>
          <a:bodyPr lIns="0" tIns="0" rIns="0" bIns="0" rtlCol="0" anchor="t">
            <a:spAutoFit/>
          </a:bodyPr>
          <a:lstStyle/>
          <a:p>
            <a:pPr algn="l">
              <a:lnSpc>
                <a:spcPts val="3000"/>
              </a:lnSpc>
              <a:spcBef>
                <a:spcPct val="0"/>
              </a:spcBef>
            </a:pPr>
            <a:r>
              <a:rPr lang="en-US" sz="2500">
                <a:solidFill>
                  <a:srgbClr val="000000"/>
                </a:solidFill>
                <a:latin typeface="Arial"/>
                <a:ea typeface="Arial"/>
                <a:cs typeface="Arial"/>
                <a:sym typeface="Arial"/>
              </a:rPr>
              <a:t>Khối nhân Montgomery (A*B*</a:t>
            </a:r>
            <a:r>
              <a:rPr lang="vi-VN" sz="2500">
                <a:solidFill>
                  <a:srgbClr val="000000"/>
                </a:solidFill>
                <a:latin typeface="Arial"/>
                <a:ea typeface="Arial"/>
                <a:cs typeface="Arial"/>
                <a:sym typeface="Arial"/>
              </a:rPr>
              <a:t>R</a:t>
            </a:r>
            <a:r>
              <a:rPr lang="en-US" sz="2500" baseline="30000">
                <a:solidFill>
                  <a:srgbClr val="000000"/>
                </a:solidFill>
                <a:latin typeface="Arial"/>
                <a:ea typeface="Arial"/>
                <a:cs typeface="Arial"/>
                <a:sym typeface="Arial"/>
              </a:rPr>
              <a:t>-1</a:t>
            </a:r>
            <a:r>
              <a:rPr lang="en-US" sz="2500">
                <a:solidFill>
                  <a:srgbClr val="000000"/>
                </a:solidFill>
                <a:latin typeface="Arial"/>
                <a:ea typeface="Arial"/>
                <a:cs typeface="Arial"/>
                <a:sym typeface="Arial"/>
              </a:rPr>
              <a:t>mod M) thay thế phép chia modulo phức tạp bằng các phép cộng và dịch bit. Để tối ưu xung nhịp và diện tích chip, hệ thống không dùng bộ cộng 1024-bit khổng lồ mà tính toán cắt khúc theo từng từ 32-bit, sử dụng các thanh ghi xoay vòng 1056-bit (đệm chống tràn).</a:t>
            </a:r>
          </a:p>
          <a:p>
            <a:pPr algn="l">
              <a:lnSpc>
                <a:spcPts val="3000"/>
              </a:lnSpc>
              <a:spcBef>
                <a:spcPct val="0"/>
              </a:spcBef>
            </a:pPr>
            <a:r>
              <a:rPr lang="en-US" sz="2500">
                <a:solidFill>
                  <a:srgbClr val="000000"/>
                </a:solidFill>
                <a:latin typeface="Arial"/>
                <a:ea typeface="Arial"/>
                <a:cs typeface="Arial"/>
                <a:sym typeface="Arial"/>
              </a:rPr>
              <a:t>Điều khiển qua 3 giai đoạn:</a:t>
            </a:r>
          </a:p>
          <a:p>
            <a:pPr marL="539751" lvl="1" indent="-269876" algn="l">
              <a:lnSpc>
                <a:spcPts val="3000"/>
              </a:lnSpc>
              <a:spcBef>
                <a:spcPct val="0"/>
              </a:spcBef>
              <a:buFont typeface="Arial"/>
              <a:buChar char="•"/>
            </a:pPr>
            <a:r>
              <a:rPr lang="en-US" sz="2500">
                <a:solidFill>
                  <a:srgbClr val="000000"/>
                </a:solidFill>
                <a:latin typeface="Arial"/>
                <a:ea typeface="Arial"/>
                <a:cs typeface="Arial"/>
                <a:sym typeface="Arial"/>
              </a:rPr>
              <a:t>Khởi tạo: Nạp dữ liệu vào thanh ghi 1056-bit.</a:t>
            </a:r>
          </a:p>
          <a:p>
            <a:pPr marL="539751" lvl="1" indent="-269876" algn="l">
              <a:lnSpc>
                <a:spcPts val="3000"/>
              </a:lnSpc>
              <a:spcBef>
                <a:spcPct val="0"/>
              </a:spcBef>
              <a:buFont typeface="Arial"/>
              <a:buChar char="•"/>
            </a:pPr>
            <a:r>
              <a:rPr lang="en-US" sz="2500">
                <a:solidFill>
                  <a:srgbClr val="000000"/>
                </a:solidFill>
                <a:latin typeface="Arial"/>
                <a:ea typeface="Arial"/>
                <a:cs typeface="Arial"/>
                <a:sym typeface="Arial"/>
              </a:rPr>
              <a:t>Tính toán (1024 vòng): Xét từng bit của A để quyết định cộng dồn B và M (chia làm 33 nhịp 32-bit), sau đó dịch phải toàn bộ 1 bit (chia 2).</a:t>
            </a:r>
          </a:p>
          <a:p>
            <a:pPr marL="539751" lvl="1" indent="-269876" algn="l">
              <a:lnSpc>
                <a:spcPts val="3000"/>
              </a:lnSpc>
              <a:spcBef>
                <a:spcPct val="0"/>
              </a:spcBef>
              <a:buFont typeface="Arial"/>
              <a:buChar char="•"/>
            </a:pPr>
            <a:r>
              <a:rPr lang="en-US" sz="2500">
                <a:solidFill>
                  <a:srgbClr val="000000"/>
                </a:solidFill>
                <a:latin typeface="Arial"/>
                <a:ea typeface="Arial"/>
                <a:cs typeface="Arial"/>
                <a:sym typeface="Arial"/>
              </a:rPr>
              <a:t>Chuẩn hóa: Trừ kết quả cho M (cũng theo cụm 32-bit) nếu bị lố, và chốt kết quả cuối cùng.</a:t>
            </a:r>
          </a:p>
          <a:p>
            <a:pPr algn="l">
              <a:lnSpc>
                <a:spcPts val="4320"/>
              </a:lnSpc>
              <a:spcBef>
                <a:spcPct val="0"/>
              </a:spcBef>
            </a:pPr>
            <a:endParaRPr lang="en-US" sz="2500">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124"/>
            <a:ext cx="18291715" cy="10295477"/>
            <a:chOff x="0" y="0"/>
            <a:chExt cx="24388953" cy="13727303"/>
          </a:xfrm>
        </p:grpSpPr>
        <p:sp>
          <p:nvSpPr>
            <p:cNvPr id="3" name="Freeform 3"/>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4" name="Group 4"/>
          <p:cNvGrpSpPr/>
          <p:nvPr/>
        </p:nvGrpSpPr>
        <p:grpSpPr>
          <a:xfrm>
            <a:off x="0" y="2124"/>
            <a:ext cx="18291715" cy="10295477"/>
            <a:chOff x="0" y="0"/>
            <a:chExt cx="24388953" cy="13727303"/>
          </a:xfrm>
        </p:grpSpPr>
        <p:sp>
          <p:nvSpPr>
            <p:cNvPr id="5" name="Freeform 5"/>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6" name="Group 6"/>
          <p:cNvGrpSpPr/>
          <p:nvPr/>
        </p:nvGrpSpPr>
        <p:grpSpPr>
          <a:xfrm rot="5400000">
            <a:off x="8668464" y="-8670055"/>
            <a:ext cx="947356" cy="18291715"/>
            <a:chOff x="0" y="0"/>
            <a:chExt cx="1263142" cy="24388953"/>
          </a:xfrm>
        </p:grpSpPr>
        <p:sp>
          <p:nvSpPr>
            <p:cNvPr id="7" name="Freeform 7"/>
            <p:cNvSpPr/>
            <p:nvPr/>
          </p:nvSpPr>
          <p:spPr>
            <a:xfrm>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gradFill rotWithShape="1">
              <a:gsLst>
                <a:gs pos="0">
                  <a:srgbClr val="10CC57">
                    <a:alpha val="100000"/>
                  </a:srgbClr>
                </a:gs>
                <a:gs pos="100000">
                  <a:srgbClr val="017058">
                    <a:alpha val="100000"/>
                  </a:srgbClr>
                </a:gs>
              </a:gsLst>
              <a:lin ang="0"/>
            </a:gradFill>
          </p:spPr>
          <p:txBody>
            <a:bodyPr/>
            <a:lstStyle/>
            <a:p>
              <a:endParaRPr lang="en-US"/>
            </a:p>
          </p:txBody>
        </p:sp>
      </p:grpSp>
      <p:grpSp>
        <p:nvGrpSpPr>
          <p:cNvPr id="8" name="Group 8"/>
          <p:cNvGrpSpPr/>
          <p:nvPr/>
        </p:nvGrpSpPr>
        <p:grpSpPr>
          <a:xfrm rot="-5400000">
            <a:off x="8670312" y="-8672208"/>
            <a:ext cx="947356" cy="18291715"/>
            <a:chOff x="0" y="0"/>
            <a:chExt cx="1263142" cy="24388953"/>
          </a:xfrm>
        </p:grpSpPr>
        <p:sp>
          <p:nvSpPr>
            <p:cNvPr id="9" name="Freeform 9"/>
            <p:cNvSpPr/>
            <p:nvPr/>
          </p:nvSpPr>
          <p:spPr>
            <a:xfrm flipH="1">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blipFill>
              <a:blip r:embed="rId2"/>
              <a:stretch>
                <a:fillRect l="-35092" r="-35091"/>
              </a:stretch>
            </a:blipFill>
          </p:spPr>
          <p:txBody>
            <a:bodyPr/>
            <a:lstStyle/>
            <a:p>
              <a:endParaRPr lang="en-US"/>
            </a:p>
          </p:txBody>
        </p:sp>
      </p:grpSp>
      <p:sp>
        <p:nvSpPr>
          <p:cNvPr id="10" name="TextBox 10"/>
          <p:cNvSpPr txBox="1"/>
          <p:nvPr/>
        </p:nvSpPr>
        <p:spPr>
          <a:xfrm>
            <a:off x="428996" y="227362"/>
            <a:ext cx="10993288" cy="456571"/>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11" name="Group 11"/>
          <p:cNvGrpSpPr/>
          <p:nvPr/>
        </p:nvGrpSpPr>
        <p:grpSpPr>
          <a:xfrm>
            <a:off x="6719983" y="457933"/>
            <a:ext cx="4848130" cy="958024"/>
            <a:chOff x="0" y="0"/>
            <a:chExt cx="6464173" cy="1277366"/>
          </a:xfrm>
        </p:grpSpPr>
        <p:sp>
          <p:nvSpPr>
            <p:cNvPr id="12" name="Freeform 12"/>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2700000"/>
            </a:gradFill>
          </p:spPr>
          <p:txBody>
            <a:bodyPr/>
            <a:lstStyle/>
            <a:p>
              <a:endParaRPr lang="en-US"/>
            </a:p>
          </p:txBody>
        </p:sp>
      </p:grpSp>
      <p:grpSp>
        <p:nvGrpSpPr>
          <p:cNvPr id="13" name="Group 13"/>
          <p:cNvGrpSpPr/>
          <p:nvPr/>
        </p:nvGrpSpPr>
        <p:grpSpPr>
          <a:xfrm>
            <a:off x="6807460" y="535972"/>
            <a:ext cx="4673060" cy="801815"/>
            <a:chOff x="0" y="0"/>
            <a:chExt cx="6230747" cy="1069086"/>
          </a:xfrm>
        </p:grpSpPr>
        <p:sp>
          <p:nvSpPr>
            <p:cNvPr id="14" name="Freeform 14"/>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en-US"/>
            </a:p>
          </p:txBody>
        </p:sp>
      </p:grpSp>
      <p:grpSp>
        <p:nvGrpSpPr>
          <p:cNvPr id="15" name="Group 15"/>
          <p:cNvGrpSpPr/>
          <p:nvPr/>
        </p:nvGrpSpPr>
        <p:grpSpPr>
          <a:xfrm>
            <a:off x="9436446" y="362541"/>
            <a:ext cx="1163288" cy="1152620"/>
            <a:chOff x="0" y="0"/>
            <a:chExt cx="1551051" cy="1536827"/>
          </a:xfrm>
        </p:grpSpPr>
        <p:sp>
          <p:nvSpPr>
            <p:cNvPr id="16" name="Freeform 16"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211" r="-210"/>
              </a:stretch>
            </a:blipFill>
          </p:spPr>
          <p:txBody>
            <a:bodyPr/>
            <a:lstStyle/>
            <a:p>
              <a:endParaRPr lang="en-US"/>
            </a:p>
          </p:txBody>
        </p:sp>
      </p:grpSp>
      <p:grpSp>
        <p:nvGrpSpPr>
          <p:cNvPr id="17" name="Group 17"/>
          <p:cNvGrpSpPr/>
          <p:nvPr/>
        </p:nvGrpSpPr>
        <p:grpSpPr>
          <a:xfrm>
            <a:off x="7688247" y="398078"/>
            <a:ext cx="1307497" cy="1081564"/>
            <a:chOff x="0" y="0"/>
            <a:chExt cx="1743329" cy="1442085"/>
          </a:xfrm>
        </p:grpSpPr>
        <p:sp>
          <p:nvSpPr>
            <p:cNvPr id="18" name="Freeform 18"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l="-38" r="-37"/>
              </a:stretch>
            </a:blipFill>
          </p:spPr>
          <p:txBody>
            <a:bodyPr/>
            <a:lstStyle/>
            <a:p>
              <a:endParaRPr lang="en-US"/>
            </a:p>
          </p:txBody>
        </p:sp>
      </p:grpSp>
      <p:grpSp>
        <p:nvGrpSpPr>
          <p:cNvPr id="19" name="Group 19"/>
          <p:cNvGrpSpPr/>
          <p:nvPr/>
        </p:nvGrpSpPr>
        <p:grpSpPr>
          <a:xfrm>
            <a:off x="908999" y="1555147"/>
            <a:ext cx="16470001" cy="1335996"/>
            <a:chOff x="0" y="0"/>
            <a:chExt cx="21960002" cy="1781327"/>
          </a:xfrm>
        </p:grpSpPr>
        <p:sp>
          <p:nvSpPr>
            <p:cNvPr id="20" name="Freeform 20"/>
            <p:cNvSpPr/>
            <p:nvPr/>
          </p:nvSpPr>
          <p:spPr>
            <a:xfrm>
              <a:off x="0" y="0"/>
              <a:ext cx="21959951" cy="1781302"/>
            </a:xfrm>
            <a:custGeom>
              <a:avLst/>
              <a:gdLst/>
              <a:ahLst/>
              <a:cxnLst/>
              <a:rect l="l" t="t" r="r" b="b"/>
              <a:pathLst>
                <a:path w="21959951" h="1781302">
                  <a:moveTo>
                    <a:pt x="0" y="0"/>
                  </a:moveTo>
                  <a:lnTo>
                    <a:pt x="21959951" y="0"/>
                  </a:lnTo>
                  <a:lnTo>
                    <a:pt x="21959951" y="1781302"/>
                  </a:lnTo>
                  <a:lnTo>
                    <a:pt x="0" y="1781302"/>
                  </a:lnTo>
                  <a:close/>
                </a:path>
              </a:pathLst>
            </a:custGeom>
            <a:blipFill>
              <a:blip r:embed="rId5">
                <a:alphaModFix amt="0"/>
              </a:blip>
              <a:stretch>
                <a:fillRect t="-190044" b="-190046"/>
              </a:stretch>
            </a:blipFill>
          </p:spPr>
          <p:txBody>
            <a:bodyPr/>
            <a:lstStyle/>
            <a:p>
              <a:endParaRPr lang="en-US"/>
            </a:p>
          </p:txBody>
        </p:sp>
      </p:grpSp>
      <p:grpSp>
        <p:nvGrpSpPr>
          <p:cNvPr id="21" name="Group 21"/>
          <p:cNvGrpSpPr/>
          <p:nvPr/>
        </p:nvGrpSpPr>
        <p:grpSpPr>
          <a:xfrm>
            <a:off x="908999" y="1576578"/>
            <a:ext cx="16470001" cy="1314564"/>
            <a:chOff x="0" y="0"/>
            <a:chExt cx="21960002" cy="1752752"/>
          </a:xfrm>
        </p:grpSpPr>
        <p:sp>
          <p:nvSpPr>
            <p:cNvPr id="22" name="Freeform 22"/>
            <p:cNvSpPr/>
            <p:nvPr/>
          </p:nvSpPr>
          <p:spPr>
            <a:xfrm>
              <a:off x="0" y="0"/>
              <a:ext cx="21960001" cy="1752750"/>
            </a:xfrm>
            <a:custGeom>
              <a:avLst/>
              <a:gdLst/>
              <a:ahLst/>
              <a:cxnLst/>
              <a:rect l="l" t="t" r="r" b="b"/>
              <a:pathLst>
                <a:path w="21960001" h="1752750">
                  <a:moveTo>
                    <a:pt x="0" y="0"/>
                  </a:moveTo>
                  <a:lnTo>
                    <a:pt x="21960001" y="0"/>
                  </a:lnTo>
                  <a:lnTo>
                    <a:pt x="21960001" y="1752750"/>
                  </a:lnTo>
                  <a:lnTo>
                    <a:pt x="0" y="1752750"/>
                  </a:lnTo>
                  <a:close/>
                </a:path>
              </a:pathLst>
            </a:custGeom>
            <a:blipFill>
              <a:blip r:embed="rId6">
                <a:alphaModFix amt="0"/>
              </a:blip>
              <a:stretch>
                <a:fillRect t="-194125" b="-194125"/>
              </a:stretch>
            </a:blipFill>
          </p:spPr>
          <p:txBody>
            <a:bodyPr/>
            <a:lstStyle/>
            <a:p>
              <a:endParaRPr lang="en-US"/>
            </a:p>
          </p:txBody>
        </p:sp>
        <p:sp>
          <p:nvSpPr>
            <p:cNvPr id="23" name="TextBox 23"/>
            <p:cNvSpPr txBox="1"/>
            <p:nvPr/>
          </p:nvSpPr>
          <p:spPr>
            <a:xfrm>
              <a:off x="0" y="28575"/>
              <a:ext cx="21960002" cy="1724177"/>
            </a:xfrm>
            <a:prstGeom prst="rect">
              <a:avLst/>
            </a:prstGeom>
          </p:spPr>
          <p:txBody>
            <a:bodyPr lIns="0" tIns="0" rIns="0" bIns="0" rtlCol="0" anchor="ctr"/>
            <a:lstStyle/>
            <a:p>
              <a:pPr algn="l">
                <a:lnSpc>
                  <a:spcPts val="6048"/>
                </a:lnSpc>
              </a:pPr>
              <a:r>
                <a:rPr lang="en-US" sz="5599" b="1">
                  <a:solidFill>
                    <a:srgbClr val="017058"/>
                  </a:solidFill>
                  <a:latin typeface="Times New Roman Bold"/>
                  <a:ea typeface="Times New Roman Bold"/>
                  <a:cs typeface="Times New Roman Bold"/>
                  <a:sym typeface="Times New Roman Bold"/>
                </a:rPr>
                <a:t>3. Thiết kế hệ thống phần cứng </a:t>
              </a:r>
            </a:p>
          </p:txBody>
        </p:sp>
      </p:grpSp>
      <p:sp>
        <p:nvSpPr>
          <p:cNvPr id="24" name="Freeform 24"/>
          <p:cNvSpPr/>
          <p:nvPr/>
        </p:nvSpPr>
        <p:spPr>
          <a:xfrm>
            <a:off x="1028700" y="3441182"/>
            <a:ext cx="7534307" cy="5893688"/>
          </a:xfrm>
          <a:custGeom>
            <a:avLst/>
            <a:gdLst/>
            <a:ahLst/>
            <a:cxnLst/>
            <a:rect l="l" t="t" r="r" b="b"/>
            <a:pathLst>
              <a:path w="7534307" h="5893688">
                <a:moveTo>
                  <a:pt x="0" y="0"/>
                </a:moveTo>
                <a:lnTo>
                  <a:pt x="7534307" y="0"/>
                </a:lnTo>
                <a:lnTo>
                  <a:pt x="7534307" y="5893688"/>
                </a:lnTo>
                <a:lnTo>
                  <a:pt x="0" y="5893688"/>
                </a:lnTo>
                <a:lnTo>
                  <a:pt x="0" y="0"/>
                </a:lnTo>
                <a:close/>
              </a:path>
            </a:pathLst>
          </a:custGeom>
          <a:blipFill>
            <a:blip r:embed="rId7"/>
            <a:stretch>
              <a:fillRect/>
            </a:stretch>
          </a:blipFill>
        </p:spPr>
        <p:txBody>
          <a:bodyPr/>
          <a:lstStyle/>
          <a:p>
            <a:endParaRPr lang="en-US"/>
          </a:p>
        </p:txBody>
      </p:sp>
      <p:sp>
        <p:nvSpPr>
          <p:cNvPr id="25" name="TextBox 25"/>
          <p:cNvSpPr txBox="1"/>
          <p:nvPr/>
        </p:nvSpPr>
        <p:spPr>
          <a:xfrm>
            <a:off x="68570" y="-2318490"/>
            <a:ext cx="18150850" cy="569719"/>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sp>
        <p:nvSpPr>
          <p:cNvPr id="26" name="TextBox 26"/>
          <p:cNvSpPr txBox="1"/>
          <p:nvPr/>
        </p:nvSpPr>
        <p:spPr>
          <a:xfrm>
            <a:off x="1070182" y="2637272"/>
            <a:ext cx="7925562" cy="584835"/>
          </a:xfrm>
          <a:prstGeom prst="rect">
            <a:avLst/>
          </a:prstGeom>
        </p:spPr>
        <p:txBody>
          <a:bodyPr lIns="0" tIns="0" rIns="0" bIns="0" rtlCol="0" anchor="t">
            <a:spAutoFit/>
          </a:bodyPr>
          <a:lstStyle/>
          <a:p>
            <a:pPr algn="l">
              <a:lnSpc>
                <a:spcPts val="4320"/>
              </a:lnSpc>
            </a:pPr>
            <a:r>
              <a:rPr lang="en-US" sz="4000" b="1">
                <a:solidFill>
                  <a:srgbClr val="017058"/>
                </a:solidFill>
                <a:latin typeface="Times New Roman Bold"/>
                <a:ea typeface="Times New Roman Bold"/>
                <a:cs typeface="Times New Roman Bold"/>
                <a:sym typeface="Times New Roman Bold"/>
              </a:rPr>
              <a:t>3.2.1 Module ModExp</a:t>
            </a:r>
          </a:p>
        </p:txBody>
      </p:sp>
      <p:sp>
        <p:nvSpPr>
          <p:cNvPr id="27" name="TextBox 27"/>
          <p:cNvSpPr txBox="1"/>
          <p:nvPr/>
        </p:nvSpPr>
        <p:spPr>
          <a:xfrm>
            <a:off x="17447714" y="9144000"/>
            <a:ext cx="508635" cy="1114425"/>
          </a:xfrm>
          <a:prstGeom prst="rect">
            <a:avLst/>
          </a:prstGeom>
        </p:spPr>
        <p:txBody>
          <a:bodyPr lIns="0" tIns="0" rIns="0" bIns="0" rtlCol="0" anchor="t">
            <a:spAutoFit/>
          </a:bodyPr>
          <a:lstStyle/>
          <a:p>
            <a:pPr algn="ctr">
              <a:lnSpc>
                <a:spcPts val="4320"/>
              </a:lnSpc>
            </a:pPr>
            <a:r>
              <a:rPr lang="en-US" sz="3600">
                <a:solidFill>
                  <a:srgbClr val="000000"/>
                </a:solidFill>
                <a:latin typeface="Arial"/>
                <a:ea typeface="Arial"/>
                <a:cs typeface="Arial"/>
                <a:sym typeface="Arial"/>
              </a:rPr>
              <a:t>14</a:t>
            </a:r>
          </a:p>
          <a:p>
            <a:pPr algn="ctr">
              <a:lnSpc>
                <a:spcPts val="4320"/>
              </a:lnSpc>
            </a:pPr>
            <a:endParaRPr lang="en-US" sz="3600">
              <a:solidFill>
                <a:srgbClr val="000000"/>
              </a:solidFill>
              <a:latin typeface="Arial"/>
              <a:ea typeface="Arial"/>
              <a:cs typeface="Arial"/>
              <a:sym typeface="Arial"/>
            </a:endParaRPr>
          </a:p>
        </p:txBody>
      </p:sp>
      <p:sp>
        <p:nvSpPr>
          <p:cNvPr id="28" name="TextBox 28"/>
          <p:cNvSpPr txBox="1"/>
          <p:nvPr/>
        </p:nvSpPr>
        <p:spPr>
          <a:xfrm>
            <a:off x="8851554" y="3441182"/>
            <a:ext cx="8407746" cy="6276975"/>
          </a:xfrm>
          <a:prstGeom prst="rect">
            <a:avLst/>
          </a:prstGeom>
        </p:spPr>
        <p:txBody>
          <a:bodyPr lIns="0" tIns="0" rIns="0" bIns="0" rtlCol="0" anchor="t">
            <a:spAutoFit/>
          </a:bodyPr>
          <a:lstStyle/>
          <a:p>
            <a:pPr algn="l">
              <a:lnSpc>
                <a:spcPts val="3000"/>
              </a:lnSpc>
            </a:pPr>
            <a:r>
              <a:rPr lang="en-US" sz="2500">
                <a:solidFill>
                  <a:srgbClr val="000000"/>
                </a:solidFill>
                <a:latin typeface="Arial"/>
                <a:ea typeface="Arial"/>
                <a:cs typeface="Arial"/>
                <a:sym typeface="Arial"/>
              </a:rPr>
              <a:t>Khối ModExp giải phương trình cốt lõi Result = </a:t>
            </a:r>
            <a:r>
              <a:rPr lang="vi-VN" sz="2500">
                <a:solidFill>
                  <a:srgbClr val="000000"/>
                </a:solidFill>
                <a:latin typeface="Arial"/>
                <a:ea typeface="Arial"/>
                <a:cs typeface="Arial"/>
                <a:sym typeface="Arial"/>
              </a:rPr>
              <a:t>A</a:t>
            </a:r>
            <a:r>
              <a:rPr lang="en-US" sz="2500" baseline="30000">
                <a:solidFill>
                  <a:srgbClr val="000000"/>
                </a:solidFill>
                <a:latin typeface="Arial"/>
                <a:ea typeface="Arial"/>
                <a:cs typeface="Arial"/>
                <a:sym typeface="Arial"/>
              </a:rPr>
              <a:t>B</a:t>
            </a:r>
            <a:r>
              <a:rPr lang="en-US" sz="2500">
                <a:solidFill>
                  <a:srgbClr val="000000"/>
                </a:solidFill>
                <a:latin typeface="Arial"/>
                <a:ea typeface="Arial"/>
                <a:cs typeface="Arial"/>
                <a:sym typeface="Arial"/>
              </a:rPr>
              <a:t> mod M</a:t>
            </a:r>
          </a:p>
          <a:p>
            <a:pPr algn="l">
              <a:lnSpc>
                <a:spcPts val="3000"/>
              </a:lnSpc>
              <a:spcBef>
                <a:spcPct val="0"/>
              </a:spcBef>
            </a:pPr>
            <a:r>
              <a:rPr lang="en-US" sz="2500">
                <a:solidFill>
                  <a:srgbClr val="000000"/>
                </a:solidFill>
                <a:latin typeface="Arial"/>
                <a:ea typeface="Arial"/>
                <a:cs typeface="Arial"/>
                <a:sym typeface="Arial"/>
              </a:rPr>
              <a:t>của hệ mật mã RSA. Để tính lũy thừa số cực lớn (1024-bit) mà không cần phép chia modulo tốn kém, khối này kết hợp thuật toán "Bình phương và Nhân" và ánh xạ toán hạng sang "Miền Montgomery".</a:t>
            </a:r>
          </a:p>
          <a:p>
            <a:pPr algn="l">
              <a:lnSpc>
                <a:spcPts val="3000"/>
              </a:lnSpc>
              <a:spcBef>
                <a:spcPct val="0"/>
              </a:spcBef>
            </a:pPr>
            <a:r>
              <a:rPr lang="en-US" sz="2500">
                <a:solidFill>
                  <a:srgbClr val="000000"/>
                </a:solidFill>
                <a:latin typeface="Arial"/>
                <a:ea typeface="Arial"/>
                <a:cs typeface="Arial"/>
                <a:sym typeface="Arial"/>
              </a:rPr>
              <a:t>Gồm 3 bước chính:</a:t>
            </a:r>
          </a:p>
          <a:p>
            <a:pPr marL="539751" lvl="1" indent="-269876" algn="l">
              <a:lnSpc>
                <a:spcPts val="3000"/>
              </a:lnSpc>
              <a:spcBef>
                <a:spcPct val="0"/>
              </a:spcBef>
              <a:buFont typeface="Arial"/>
              <a:buChar char="•"/>
            </a:pPr>
            <a:r>
              <a:rPr lang="en-US" sz="2500">
                <a:solidFill>
                  <a:srgbClr val="000000"/>
                </a:solidFill>
                <a:latin typeface="Arial"/>
                <a:ea typeface="Arial"/>
                <a:cs typeface="Arial"/>
                <a:sym typeface="Arial"/>
              </a:rPr>
              <a:t>Nhập miền: Đưa A và kết quả khởi tạo vào không gian Montgomery (X’ := X*R mod M).</a:t>
            </a:r>
          </a:p>
          <a:p>
            <a:pPr marL="539751" lvl="1" indent="-269876" algn="l">
              <a:lnSpc>
                <a:spcPts val="3000"/>
              </a:lnSpc>
              <a:spcBef>
                <a:spcPct val="0"/>
              </a:spcBef>
              <a:buFont typeface="Arial"/>
              <a:buChar char="•"/>
            </a:pPr>
            <a:r>
              <a:rPr lang="en-US" sz="2500">
                <a:solidFill>
                  <a:srgbClr val="000000"/>
                </a:solidFill>
                <a:latin typeface="Arial"/>
                <a:ea typeface="Arial"/>
                <a:cs typeface="Arial"/>
                <a:sym typeface="Arial"/>
              </a:rPr>
              <a:t>Vòng lặp (1024 lần): Quét từng bit của khóa B từ trái sang phải. Luôn thực hiện phép Bình phương; nếu bit hiện tại là 1 thì Nhân thêm với X’.</a:t>
            </a:r>
          </a:p>
          <a:p>
            <a:pPr marL="539751" lvl="1" indent="-269876" algn="l">
              <a:lnSpc>
                <a:spcPts val="3000"/>
              </a:lnSpc>
              <a:spcBef>
                <a:spcPct val="0"/>
              </a:spcBef>
              <a:buFont typeface="Arial"/>
              <a:buChar char="•"/>
            </a:pPr>
            <a:r>
              <a:rPr lang="en-US" sz="2500">
                <a:solidFill>
                  <a:srgbClr val="000000"/>
                </a:solidFill>
                <a:latin typeface="Arial"/>
                <a:ea typeface="Arial"/>
                <a:cs typeface="Arial"/>
                <a:sym typeface="Arial"/>
              </a:rPr>
              <a:t>Thoát miền: Thực hiện phép nhân với 1 qua lõi Montgomery để triệt tiêu hằng số R, trả về giá trị thực tế của bản mã/bản rõ và hoàn tất.</a:t>
            </a:r>
          </a:p>
          <a:p>
            <a:pPr algn="l">
              <a:lnSpc>
                <a:spcPts val="3000"/>
              </a:lnSpc>
              <a:spcBef>
                <a:spcPct val="0"/>
              </a:spcBef>
            </a:pPr>
            <a:endParaRPr lang="en-US" sz="2500">
              <a:solidFill>
                <a:srgbClr val="000000"/>
              </a:solidFill>
              <a:latin typeface="Arial"/>
              <a:ea typeface="Arial"/>
              <a:cs typeface="Arial"/>
              <a:sym typeface="Arial"/>
            </a:endParaRPr>
          </a:p>
          <a:p>
            <a:pPr algn="l">
              <a:lnSpc>
                <a:spcPts val="4320"/>
              </a:lnSpc>
              <a:spcBef>
                <a:spcPct val="0"/>
              </a:spcBef>
            </a:pPr>
            <a:endParaRPr lang="en-US" sz="2500">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124"/>
            <a:ext cx="18291715" cy="10295477"/>
            <a:chOff x="0" y="0"/>
            <a:chExt cx="24388953" cy="13727303"/>
          </a:xfrm>
        </p:grpSpPr>
        <p:sp>
          <p:nvSpPr>
            <p:cNvPr id="3" name="Freeform 3"/>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4" name="Group 4"/>
          <p:cNvGrpSpPr/>
          <p:nvPr/>
        </p:nvGrpSpPr>
        <p:grpSpPr>
          <a:xfrm>
            <a:off x="0" y="2124"/>
            <a:ext cx="18291715" cy="10295477"/>
            <a:chOff x="0" y="0"/>
            <a:chExt cx="24388953" cy="13727303"/>
          </a:xfrm>
        </p:grpSpPr>
        <p:sp>
          <p:nvSpPr>
            <p:cNvPr id="5" name="Freeform 5"/>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6" name="Group 6"/>
          <p:cNvGrpSpPr/>
          <p:nvPr/>
        </p:nvGrpSpPr>
        <p:grpSpPr>
          <a:xfrm rot="5400000">
            <a:off x="8668464" y="-8670055"/>
            <a:ext cx="947356" cy="18291715"/>
            <a:chOff x="0" y="0"/>
            <a:chExt cx="1263142" cy="24388953"/>
          </a:xfrm>
        </p:grpSpPr>
        <p:sp>
          <p:nvSpPr>
            <p:cNvPr id="7" name="Freeform 7"/>
            <p:cNvSpPr/>
            <p:nvPr/>
          </p:nvSpPr>
          <p:spPr>
            <a:xfrm>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gradFill rotWithShape="1">
              <a:gsLst>
                <a:gs pos="0">
                  <a:srgbClr val="10CC57">
                    <a:alpha val="100000"/>
                  </a:srgbClr>
                </a:gs>
                <a:gs pos="100000">
                  <a:srgbClr val="017058">
                    <a:alpha val="100000"/>
                  </a:srgbClr>
                </a:gs>
              </a:gsLst>
              <a:lin ang="0"/>
            </a:gradFill>
          </p:spPr>
          <p:txBody>
            <a:bodyPr/>
            <a:lstStyle/>
            <a:p>
              <a:endParaRPr lang="en-US"/>
            </a:p>
          </p:txBody>
        </p:sp>
      </p:grpSp>
      <p:grpSp>
        <p:nvGrpSpPr>
          <p:cNvPr id="8" name="Group 8"/>
          <p:cNvGrpSpPr/>
          <p:nvPr/>
        </p:nvGrpSpPr>
        <p:grpSpPr>
          <a:xfrm rot="-5400000">
            <a:off x="8670312" y="-8672208"/>
            <a:ext cx="947356" cy="18291715"/>
            <a:chOff x="0" y="0"/>
            <a:chExt cx="1263142" cy="24388953"/>
          </a:xfrm>
        </p:grpSpPr>
        <p:sp>
          <p:nvSpPr>
            <p:cNvPr id="9" name="Freeform 9"/>
            <p:cNvSpPr/>
            <p:nvPr/>
          </p:nvSpPr>
          <p:spPr>
            <a:xfrm flipH="1">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blipFill>
              <a:blip r:embed="rId2"/>
              <a:stretch>
                <a:fillRect l="-35092" r="-35091"/>
              </a:stretch>
            </a:blipFill>
          </p:spPr>
          <p:txBody>
            <a:bodyPr/>
            <a:lstStyle/>
            <a:p>
              <a:endParaRPr lang="en-US"/>
            </a:p>
          </p:txBody>
        </p:sp>
      </p:grpSp>
      <p:sp>
        <p:nvSpPr>
          <p:cNvPr id="10" name="TextBox 10"/>
          <p:cNvSpPr txBox="1"/>
          <p:nvPr/>
        </p:nvSpPr>
        <p:spPr>
          <a:xfrm>
            <a:off x="428996" y="227362"/>
            <a:ext cx="10993288" cy="456571"/>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11" name="Group 11"/>
          <p:cNvGrpSpPr/>
          <p:nvPr/>
        </p:nvGrpSpPr>
        <p:grpSpPr>
          <a:xfrm>
            <a:off x="6719983" y="457933"/>
            <a:ext cx="4848130" cy="958024"/>
            <a:chOff x="0" y="0"/>
            <a:chExt cx="6464173" cy="1277366"/>
          </a:xfrm>
        </p:grpSpPr>
        <p:sp>
          <p:nvSpPr>
            <p:cNvPr id="12" name="Freeform 12"/>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2700000"/>
            </a:gradFill>
          </p:spPr>
          <p:txBody>
            <a:bodyPr/>
            <a:lstStyle/>
            <a:p>
              <a:endParaRPr lang="en-US"/>
            </a:p>
          </p:txBody>
        </p:sp>
      </p:grpSp>
      <p:grpSp>
        <p:nvGrpSpPr>
          <p:cNvPr id="13" name="Group 13"/>
          <p:cNvGrpSpPr/>
          <p:nvPr/>
        </p:nvGrpSpPr>
        <p:grpSpPr>
          <a:xfrm>
            <a:off x="6807460" y="535972"/>
            <a:ext cx="4673060" cy="801815"/>
            <a:chOff x="0" y="0"/>
            <a:chExt cx="6230747" cy="1069086"/>
          </a:xfrm>
        </p:grpSpPr>
        <p:sp>
          <p:nvSpPr>
            <p:cNvPr id="14" name="Freeform 14"/>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en-US"/>
            </a:p>
          </p:txBody>
        </p:sp>
      </p:grpSp>
      <p:grpSp>
        <p:nvGrpSpPr>
          <p:cNvPr id="15" name="Group 15"/>
          <p:cNvGrpSpPr/>
          <p:nvPr/>
        </p:nvGrpSpPr>
        <p:grpSpPr>
          <a:xfrm>
            <a:off x="9436446" y="362541"/>
            <a:ext cx="1163288" cy="1152620"/>
            <a:chOff x="0" y="0"/>
            <a:chExt cx="1551051" cy="1536827"/>
          </a:xfrm>
        </p:grpSpPr>
        <p:sp>
          <p:nvSpPr>
            <p:cNvPr id="16" name="Freeform 16"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211" r="-210"/>
              </a:stretch>
            </a:blipFill>
          </p:spPr>
          <p:txBody>
            <a:bodyPr/>
            <a:lstStyle/>
            <a:p>
              <a:endParaRPr lang="en-US"/>
            </a:p>
          </p:txBody>
        </p:sp>
      </p:grpSp>
      <p:grpSp>
        <p:nvGrpSpPr>
          <p:cNvPr id="17" name="Group 17"/>
          <p:cNvGrpSpPr/>
          <p:nvPr/>
        </p:nvGrpSpPr>
        <p:grpSpPr>
          <a:xfrm>
            <a:off x="7688247" y="398078"/>
            <a:ext cx="1307497" cy="1081564"/>
            <a:chOff x="0" y="0"/>
            <a:chExt cx="1743329" cy="1442085"/>
          </a:xfrm>
        </p:grpSpPr>
        <p:sp>
          <p:nvSpPr>
            <p:cNvPr id="18" name="Freeform 18"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l="-38" r="-37"/>
              </a:stretch>
            </a:blipFill>
          </p:spPr>
          <p:txBody>
            <a:bodyPr/>
            <a:lstStyle/>
            <a:p>
              <a:endParaRPr lang="en-US"/>
            </a:p>
          </p:txBody>
        </p:sp>
      </p:grpSp>
      <p:grpSp>
        <p:nvGrpSpPr>
          <p:cNvPr id="19" name="Group 19"/>
          <p:cNvGrpSpPr/>
          <p:nvPr/>
        </p:nvGrpSpPr>
        <p:grpSpPr>
          <a:xfrm>
            <a:off x="908999" y="1555147"/>
            <a:ext cx="16470001" cy="1335996"/>
            <a:chOff x="0" y="0"/>
            <a:chExt cx="21960002" cy="1781327"/>
          </a:xfrm>
        </p:grpSpPr>
        <p:sp>
          <p:nvSpPr>
            <p:cNvPr id="20" name="Freeform 20"/>
            <p:cNvSpPr/>
            <p:nvPr/>
          </p:nvSpPr>
          <p:spPr>
            <a:xfrm>
              <a:off x="0" y="0"/>
              <a:ext cx="21959951" cy="1781302"/>
            </a:xfrm>
            <a:custGeom>
              <a:avLst/>
              <a:gdLst/>
              <a:ahLst/>
              <a:cxnLst/>
              <a:rect l="l" t="t" r="r" b="b"/>
              <a:pathLst>
                <a:path w="21959951" h="1781302">
                  <a:moveTo>
                    <a:pt x="0" y="0"/>
                  </a:moveTo>
                  <a:lnTo>
                    <a:pt x="21959951" y="0"/>
                  </a:lnTo>
                  <a:lnTo>
                    <a:pt x="21959951" y="1781302"/>
                  </a:lnTo>
                  <a:lnTo>
                    <a:pt x="0" y="1781302"/>
                  </a:lnTo>
                  <a:close/>
                </a:path>
              </a:pathLst>
            </a:custGeom>
            <a:blipFill>
              <a:blip r:embed="rId5">
                <a:alphaModFix amt="0"/>
              </a:blip>
              <a:stretch>
                <a:fillRect t="-190044" b="-190046"/>
              </a:stretch>
            </a:blipFill>
          </p:spPr>
          <p:txBody>
            <a:bodyPr/>
            <a:lstStyle/>
            <a:p>
              <a:endParaRPr lang="en-US"/>
            </a:p>
          </p:txBody>
        </p:sp>
      </p:grpSp>
      <p:grpSp>
        <p:nvGrpSpPr>
          <p:cNvPr id="21" name="Group 21"/>
          <p:cNvGrpSpPr/>
          <p:nvPr/>
        </p:nvGrpSpPr>
        <p:grpSpPr>
          <a:xfrm>
            <a:off x="908999" y="1576578"/>
            <a:ext cx="16470001" cy="1314564"/>
            <a:chOff x="0" y="0"/>
            <a:chExt cx="21960002" cy="1752752"/>
          </a:xfrm>
        </p:grpSpPr>
        <p:sp>
          <p:nvSpPr>
            <p:cNvPr id="22" name="Freeform 22"/>
            <p:cNvSpPr/>
            <p:nvPr/>
          </p:nvSpPr>
          <p:spPr>
            <a:xfrm>
              <a:off x="0" y="0"/>
              <a:ext cx="21960001" cy="1752750"/>
            </a:xfrm>
            <a:custGeom>
              <a:avLst/>
              <a:gdLst/>
              <a:ahLst/>
              <a:cxnLst/>
              <a:rect l="l" t="t" r="r" b="b"/>
              <a:pathLst>
                <a:path w="21960001" h="1752750">
                  <a:moveTo>
                    <a:pt x="0" y="0"/>
                  </a:moveTo>
                  <a:lnTo>
                    <a:pt x="21960001" y="0"/>
                  </a:lnTo>
                  <a:lnTo>
                    <a:pt x="21960001" y="1752750"/>
                  </a:lnTo>
                  <a:lnTo>
                    <a:pt x="0" y="1752750"/>
                  </a:lnTo>
                  <a:close/>
                </a:path>
              </a:pathLst>
            </a:custGeom>
            <a:blipFill>
              <a:blip r:embed="rId6">
                <a:alphaModFix amt="0"/>
              </a:blip>
              <a:stretch>
                <a:fillRect t="-194125" b="-194125"/>
              </a:stretch>
            </a:blipFill>
          </p:spPr>
          <p:txBody>
            <a:bodyPr/>
            <a:lstStyle/>
            <a:p>
              <a:endParaRPr lang="en-US"/>
            </a:p>
          </p:txBody>
        </p:sp>
        <p:sp>
          <p:nvSpPr>
            <p:cNvPr id="23" name="TextBox 23"/>
            <p:cNvSpPr txBox="1"/>
            <p:nvPr/>
          </p:nvSpPr>
          <p:spPr>
            <a:xfrm>
              <a:off x="0" y="28575"/>
              <a:ext cx="21960002" cy="1724177"/>
            </a:xfrm>
            <a:prstGeom prst="rect">
              <a:avLst/>
            </a:prstGeom>
          </p:spPr>
          <p:txBody>
            <a:bodyPr lIns="0" tIns="0" rIns="0" bIns="0" rtlCol="0" anchor="ctr"/>
            <a:lstStyle/>
            <a:p>
              <a:pPr algn="l">
                <a:lnSpc>
                  <a:spcPts val="6048"/>
                </a:lnSpc>
              </a:pPr>
              <a:r>
                <a:rPr lang="en-US" sz="5599" b="1">
                  <a:solidFill>
                    <a:srgbClr val="017058"/>
                  </a:solidFill>
                  <a:latin typeface="Times New Roman Bold"/>
                  <a:ea typeface="Times New Roman Bold"/>
                  <a:cs typeface="Times New Roman Bold"/>
                  <a:sym typeface="Times New Roman Bold"/>
                </a:rPr>
                <a:t>3. Thiết kế hệ thống phần cứng </a:t>
              </a:r>
            </a:p>
          </p:txBody>
        </p:sp>
      </p:grpSp>
      <p:sp>
        <p:nvSpPr>
          <p:cNvPr id="24" name="TextBox 24"/>
          <p:cNvSpPr txBox="1"/>
          <p:nvPr/>
        </p:nvSpPr>
        <p:spPr>
          <a:xfrm>
            <a:off x="68570" y="-2318490"/>
            <a:ext cx="18150850" cy="569719"/>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sp>
        <p:nvSpPr>
          <p:cNvPr id="25" name="TextBox 25"/>
          <p:cNvSpPr txBox="1"/>
          <p:nvPr/>
        </p:nvSpPr>
        <p:spPr>
          <a:xfrm>
            <a:off x="1070182" y="2637272"/>
            <a:ext cx="9313332" cy="584835"/>
          </a:xfrm>
          <a:prstGeom prst="rect">
            <a:avLst/>
          </a:prstGeom>
        </p:spPr>
        <p:txBody>
          <a:bodyPr lIns="0" tIns="0" rIns="0" bIns="0" rtlCol="0" anchor="t">
            <a:spAutoFit/>
          </a:bodyPr>
          <a:lstStyle/>
          <a:p>
            <a:pPr algn="l">
              <a:lnSpc>
                <a:spcPts val="4320"/>
              </a:lnSpc>
            </a:pPr>
            <a:r>
              <a:rPr lang="en-US" sz="4000" b="1">
                <a:solidFill>
                  <a:srgbClr val="017058"/>
                </a:solidFill>
                <a:latin typeface="Times New Roman Bold"/>
                <a:ea typeface="Times New Roman Bold"/>
                <a:cs typeface="Times New Roman Bold"/>
                <a:sym typeface="Times New Roman Bold"/>
              </a:rPr>
              <a:t>3.2.1 Module Avalon_RSA_Wrapper</a:t>
            </a:r>
          </a:p>
        </p:txBody>
      </p:sp>
      <p:sp>
        <p:nvSpPr>
          <p:cNvPr id="26" name="TextBox 26"/>
          <p:cNvSpPr txBox="1"/>
          <p:nvPr/>
        </p:nvSpPr>
        <p:spPr>
          <a:xfrm>
            <a:off x="17447714" y="9144000"/>
            <a:ext cx="508635" cy="1114425"/>
          </a:xfrm>
          <a:prstGeom prst="rect">
            <a:avLst/>
          </a:prstGeom>
        </p:spPr>
        <p:txBody>
          <a:bodyPr lIns="0" tIns="0" rIns="0" bIns="0" rtlCol="0" anchor="t">
            <a:spAutoFit/>
          </a:bodyPr>
          <a:lstStyle/>
          <a:p>
            <a:pPr algn="ctr">
              <a:lnSpc>
                <a:spcPts val="4320"/>
              </a:lnSpc>
            </a:pPr>
            <a:r>
              <a:rPr lang="en-US" sz="3600">
                <a:solidFill>
                  <a:srgbClr val="000000"/>
                </a:solidFill>
                <a:latin typeface="Arial"/>
                <a:ea typeface="Arial"/>
                <a:cs typeface="Arial"/>
                <a:sym typeface="Arial"/>
              </a:rPr>
              <a:t>15</a:t>
            </a:r>
          </a:p>
          <a:p>
            <a:pPr algn="ctr">
              <a:lnSpc>
                <a:spcPts val="4320"/>
              </a:lnSpc>
            </a:pPr>
            <a:endParaRPr lang="en-US" sz="3600">
              <a:solidFill>
                <a:srgbClr val="000000"/>
              </a:solidFill>
              <a:latin typeface="Arial"/>
              <a:ea typeface="Arial"/>
              <a:cs typeface="Arial"/>
              <a:sym typeface="Arial"/>
            </a:endParaRPr>
          </a:p>
        </p:txBody>
      </p:sp>
      <p:sp>
        <p:nvSpPr>
          <p:cNvPr id="27" name="TextBox 27"/>
          <p:cNvSpPr txBox="1"/>
          <p:nvPr/>
        </p:nvSpPr>
        <p:spPr>
          <a:xfrm>
            <a:off x="1206085" y="3831707"/>
            <a:ext cx="15579317" cy="4752975"/>
          </a:xfrm>
          <a:prstGeom prst="rect">
            <a:avLst/>
          </a:prstGeom>
        </p:spPr>
        <p:txBody>
          <a:bodyPr lIns="0" tIns="0" rIns="0" bIns="0" rtlCol="0" anchor="t">
            <a:spAutoFit/>
          </a:bodyPr>
          <a:lstStyle/>
          <a:p>
            <a:pPr algn="l">
              <a:lnSpc>
                <a:spcPts val="3000"/>
              </a:lnSpc>
              <a:spcBef>
                <a:spcPct val="0"/>
              </a:spcBef>
            </a:pPr>
            <a:r>
              <a:rPr lang="en-US" sz="2500">
                <a:solidFill>
                  <a:srgbClr val="000000"/>
                </a:solidFill>
                <a:latin typeface="Arial"/>
                <a:ea typeface="Arial"/>
                <a:cs typeface="Arial"/>
                <a:sym typeface="Arial"/>
              </a:rPr>
              <a:t>Khối Avalon_RSA_Wrapper (Tầng 3) đóng vai trò là giao diện kết nối (Interface/Bridge) giữa hệ thống vi xử lý trung tâm (CPU) trên SoC và lõi tăng tốc phần cứng RSA (ModExp và MontgomeryMul). Thiết kế này giải quyết hai bài toán trọng tâm trong hệ thống nhúng:</a:t>
            </a:r>
          </a:p>
          <a:p>
            <a:pPr algn="l">
              <a:lnSpc>
                <a:spcPts val="3000"/>
              </a:lnSpc>
              <a:spcBef>
                <a:spcPct val="0"/>
              </a:spcBef>
            </a:pPr>
            <a:endParaRPr lang="en-US" sz="2500">
              <a:solidFill>
                <a:srgbClr val="000000"/>
              </a:solidFill>
              <a:latin typeface="Arial"/>
              <a:ea typeface="Arial"/>
              <a:cs typeface="Arial"/>
              <a:sym typeface="Arial"/>
            </a:endParaRPr>
          </a:p>
          <a:p>
            <a:pPr marL="539751" lvl="1" indent="-269876" algn="l">
              <a:lnSpc>
                <a:spcPts val="3000"/>
              </a:lnSpc>
              <a:spcBef>
                <a:spcPct val="0"/>
              </a:spcBef>
              <a:buFont typeface="Arial"/>
              <a:buChar char="•"/>
            </a:pPr>
            <a:r>
              <a:rPr lang="en-US" sz="2500">
                <a:solidFill>
                  <a:srgbClr val="000000"/>
                </a:solidFill>
                <a:latin typeface="Arial"/>
                <a:ea typeface="Arial"/>
                <a:cs typeface="Arial"/>
                <a:sym typeface="Arial"/>
              </a:rPr>
              <a:t>Đồng bộ hóa độ rộng dữ liệu: Giao thức chuẩn Avalon Memory-Mapped Bus chỉ hỗ trợ truyền tải dữ liệu ở mức 32-bit mỗi chu kỳ. Trong khi đó, bộ tăng tốc RSA yêu cầu các toán hạng đầu vào và đầu ra lên tới 1024-bit. Khối Wrapper hoạt động như một bộ đệm (Buffer) để tháo dỡ và lắp ghép các gói dữ liệu này.</a:t>
            </a:r>
          </a:p>
          <a:p>
            <a:pPr algn="l">
              <a:lnSpc>
                <a:spcPts val="3000"/>
              </a:lnSpc>
              <a:spcBef>
                <a:spcPct val="0"/>
              </a:spcBef>
            </a:pPr>
            <a:endParaRPr lang="en-US" sz="2500">
              <a:solidFill>
                <a:srgbClr val="000000"/>
              </a:solidFill>
              <a:latin typeface="Arial"/>
              <a:ea typeface="Arial"/>
              <a:cs typeface="Arial"/>
              <a:sym typeface="Arial"/>
            </a:endParaRPr>
          </a:p>
          <a:p>
            <a:pPr marL="539751" lvl="1" indent="-269876" algn="l">
              <a:lnSpc>
                <a:spcPts val="3000"/>
              </a:lnSpc>
              <a:spcBef>
                <a:spcPct val="0"/>
              </a:spcBef>
              <a:buFont typeface="Arial"/>
              <a:buChar char="•"/>
            </a:pPr>
            <a:r>
              <a:rPr lang="en-US" sz="2500">
                <a:solidFill>
                  <a:srgbClr val="000000"/>
                </a:solidFill>
                <a:latin typeface="Arial"/>
                <a:ea typeface="Arial"/>
                <a:cs typeface="Arial"/>
                <a:sym typeface="Arial"/>
              </a:rPr>
              <a:t>Tách biệt Điều khiển và Tính toán: Cho phép CPU điều khiển quá trình mã hóa/giải mã thông qua cơ chế Memory-Mapped I/O (Đọc/Ghi vào các địa chỉ bộ nhớ cụ thể) mà không cần can thiệp vào logic tính toán phức tạp ở các tầng dưới.</a:t>
            </a:r>
          </a:p>
          <a:p>
            <a:pPr algn="l">
              <a:lnSpc>
                <a:spcPts val="4320"/>
              </a:lnSpc>
              <a:spcBef>
                <a:spcPct val="0"/>
              </a:spcBef>
            </a:pPr>
            <a:endParaRPr lang="en-US" sz="2500">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124"/>
            <a:ext cx="18291715" cy="10295477"/>
            <a:chOff x="0" y="0"/>
            <a:chExt cx="24388953" cy="13727303"/>
          </a:xfrm>
        </p:grpSpPr>
        <p:sp>
          <p:nvSpPr>
            <p:cNvPr id="3" name="Freeform 3"/>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4" name="Group 4"/>
          <p:cNvGrpSpPr/>
          <p:nvPr/>
        </p:nvGrpSpPr>
        <p:grpSpPr>
          <a:xfrm>
            <a:off x="0" y="2124"/>
            <a:ext cx="18291715" cy="10295477"/>
            <a:chOff x="0" y="0"/>
            <a:chExt cx="24388953" cy="13727303"/>
          </a:xfrm>
        </p:grpSpPr>
        <p:sp>
          <p:nvSpPr>
            <p:cNvPr id="5" name="Freeform 5"/>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6" name="Group 6"/>
          <p:cNvGrpSpPr/>
          <p:nvPr/>
        </p:nvGrpSpPr>
        <p:grpSpPr>
          <a:xfrm rot="5400000">
            <a:off x="8668464" y="-8670055"/>
            <a:ext cx="947356" cy="18291715"/>
            <a:chOff x="0" y="0"/>
            <a:chExt cx="1263142" cy="24388953"/>
          </a:xfrm>
        </p:grpSpPr>
        <p:sp>
          <p:nvSpPr>
            <p:cNvPr id="7" name="Freeform 7"/>
            <p:cNvSpPr/>
            <p:nvPr/>
          </p:nvSpPr>
          <p:spPr>
            <a:xfrm>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gradFill rotWithShape="1">
              <a:gsLst>
                <a:gs pos="0">
                  <a:srgbClr val="10CC57">
                    <a:alpha val="100000"/>
                  </a:srgbClr>
                </a:gs>
                <a:gs pos="100000">
                  <a:srgbClr val="017058">
                    <a:alpha val="100000"/>
                  </a:srgbClr>
                </a:gs>
              </a:gsLst>
              <a:lin ang="0"/>
            </a:gradFill>
          </p:spPr>
          <p:txBody>
            <a:bodyPr/>
            <a:lstStyle/>
            <a:p>
              <a:endParaRPr lang="en-US"/>
            </a:p>
          </p:txBody>
        </p:sp>
      </p:grpSp>
      <p:grpSp>
        <p:nvGrpSpPr>
          <p:cNvPr id="8" name="Group 8"/>
          <p:cNvGrpSpPr/>
          <p:nvPr/>
        </p:nvGrpSpPr>
        <p:grpSpPr>
          <a:xfrm rot="-5400000">
            <a:off x="8670312" y="-8672208"/>
            <a:ext cx="947356" cy="18291715"/>
            <a:chOff x="0" y="0"/>
            <a:chExt cx="1263142" cy="24388953"/>
          </a:xfrm>
        </p:grpSpPr>
        <p:sp>
          <p:nvSpPr>
            <p:cNvPr id="9" name="Freeform 9"/>
            <p:cNvSpPr/>
            <p:nvPr/>
          </p:nvSpPr>
          <p:spPr>
            <a:xfrm flipH="1">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blipFill>
              <a:blip r:embed="rId2"/>
              <a:stretch>
                <a:fillRect l="-35092" r="-35091"/>
              </a:stretch>
            </a:blipFill>
          </p:spPr>
          <p:txBody>
            <a:bodyPr/>
            <a:lstStyle/>
            <a:p>
              <a:endParaRPr lang="en-US"/>
            </a:p>
          </p:txBody>
        </p:sp>
      </p:grpSp>
      <p:sp>
        <p:nvSpPr>
          <p:cNvPr id="10" name="TextBox 10"/>
          <p:cNvSpPr txBox="1"/>
          <p:nvPr/>
        </p:nvSpPr>
        <p:spPr>
          <a:xfrm>
            <a:off x="428996" y="227362"/>
            <a:ext cx="10993288" cy="456571"/>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11" name="Group 11"/>
          <p:cNvGrpSpPr/>
          <p:nvPr/>
        </p:nvGrpSpPr>
        <p:grpSpPr>
          <a:xfrm>
            <a:off x="6719983" y="457933"/>
            <a:ext cx="4848130" cy="958024"/>
            <a:chOff x="0" y="0"/>
            <a:chExt cx="6464173" cy="1277366"/>
          </a:xfrm>
        </p:grpSpPr>
        <p:sp>
          <p:nvSpPr>
            <p:cNvPr id="12" name="Freeform 12"/>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2700000"/>
            </a:gradFill>
          </p:spPr>
          <p:txBody>
            <a:bodyPr/>
            <a:lstStyle/>
            <a:p>
              <a:endParaRPr lang="en-US"/>
            </a:p>
          </p:txBody>
        </p:sp>
      </p:grpSp>
      <p:grpSp>
        <p:nvGrpSpPr>
          <p:cNvPr id="13" name="Group 13"/>
          <p:cNvGrpSpPr/>
          <p:nvPr/>
        </p:nvGrpSpPr>
        <p:grpSpPr>
          <a:xfrm>
            <a:off x="6807460" y="535972"/>
            <a:ext cx="4673060" cy="801815"/>
            <a:chOff x="0" y="0"/>
            <a:chExt cx="6230747" cy="1069086"/>
          </a:xfrm>
        </p:grpSpPr>
        <p:sp>
          <p:nvSpPr>
            <p:cNvPr id="14" name="Freeform 14"/>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en-US"/>
            </a:p>
          </p:txBody>
        </p:sp>
      </p:grpSp>
      <p:grpSp>
        <p:nvGrpSpPr>
          <p:cNvPr id="15" name="Group 15"/>
          <p:cNvGrpSpPr/>
          <p:nvPr/>
        </p:nvGrpSpPr>
        <p:grpSpPr>
          <a:xfrm>
            <a:off x="9436446" y="362541"/>
            <a:ext cx="1163288" cy="1152620"/>
            <a:chOff x="0" y="0"/>
            <a:chExt cx="1551051" cy="1536827"/>
          </a:xfrm>
        </p:grpSpPr>
        <p:sp>
          <p:nvSpPr>
            <p:cNvPr id="16" name="Freeform 16"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211" r="-210"/>
              </a:stretch>
            </a:blipFill>
          </p:spPr>
          <p:txBody>
            <a:bodyPr/>
            <a:lstStyle/>
            <a:p>
              <a:endParaRPr lang="en-US"/>
            </a:p>
          </p:txBody>
        </p:sp>
      </p:grpSp>
      <p:grpSp>
        <p:nvGrpSpPr>
          <p:cNvPr id="17" name="Group 17"/>
          <p:cNvGrpSpPr/>
          <p:nvPr/>
        </p:nvGrpSpPr>
        <p:grpSpPr>
          <a:xfrm>
            <a:off x="7688247" y="398078"/>
            <a:ext cx="1307497" cy="1081564"/>
            <a:chOff x="0" y="0"/>
            <a:chExt cx="1743329" cy="1442085"/>
          </a:xfrm>
        </p:grpSpPr>
        <p:sp>
          <p:nvSpPr>
            <p:cNvPr id="18" name="Freeform 18"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l="-38" r="-37"/>
              </a:stretch>
            </a:blipFill>
          </p:spPr>
          <p:txBody>
            <a:bodyPr/>
            <a:lstStyle/>
            <a:p>
              <a:endParaRPr lang="en-US"/>
            </a:p>
          </p:txBody>
        </p:sp>
      </p:grpSp>
      <p:grpSp>
        <p:nvGrpSpPr>
          <p:cNvPr id="19" name="Group 19"/>
          <p:cNvGrpSpPr/>
          <p:nvPr/>
        </p:nvGrpSpPr>
        <p:grpSpPr>
          <a:xfrm>
            <a:off x="908999" y="1555147"/>
            <a:ext cx="16470001" cy="1335996"/>
            <a:chOff x="0" y="0"/>
            <a:chExt cx="21960002" cy="1781327"/>
          </a:xfrm>
        </p:grpSpPr>
        <p:sp>
          <p:nvSpPr>
            <p:cNvPr id="20" name="Freeform 20"/>
            <p:cNvSpPr/>
            <p:nvPr/>
          </p:nvSpPr>
          <p:spPr>
            <a:xfrm>
              <a:off x="0" y="0"/>
              <a:ext cx="21959951" cy="1781302"/>
            </a:xfrm>
            <a:custGeom>
              <a:avLst/>
              <a:gdLst/>
              <a:ahLst/>
              <a:cxnLst/>
              <a:rect l="l" t="t" r="r" b="b"/>
              <a:pathLst>
                <a:path w="21959951" h="1781302">
                  <a:moveTo>
                    <a:pt x="0" y="0"/>
                  </a:moveTo>
                  <a:lnTo>
                    <a:pt x="21959951" y="0"/>
                  </a:lnTo>
                  <a:lnTo>
                    <a:pt x="21959951" y="1781302"/>
                  </a:lnTo>
                  <a:lnTo>
                    <a:pt x="0" y="1781302"/>
                  </a:lnTo>
                  <a:close/>
                </a:path>
              </a:pathLst>
            </a:custGeom>
            <a:blipFill>
              <a:blip r:embed="rId5">
                <a:alphaModFix amt="0"/>
              </a:blip>
              <a:stretch>
                <a:fillRect t="-190044" b="-190046"/>
              </a:stretch>
            </a:blipFill>
          </p:spPr>
          <p:txBody>
            <a:bodyPr/>
            <a:lstStyle/>
            <a:p>
              <a:endParaRPr lang="en-US"/>
            </a:p>
          </p:txBody>
        </p:sp>
      </p:grpSp>
      <p:grpSp>
        <p:nvGrpSpPr>
          <p:cNvPr id="21" name="Group 21"/>
          <p:cNvGrpSpPr/>
          <p:nvPr/>
        </p:nvGrpSpPr>
        <p:grpSpPr>
          <a:xfrm>
            <a:off x="908999" y="1576578"/>
            <a:ext cx="16470001" cy="1314564"/>
            <a:chOff x="0" y="0"/>
            <a:chExt cx="21960002" cy="1752752"/>
          </a:xfrm>
        </p:grpSpPr>
        <p:sp>
          <p:nvSpPr>
            <p:cNvPr id="22" name="Freeform 22"/>
            <p:cNvSpPr/>
            <p:nvPr/>
          </p:nvSpPr>
          <p:spPr>
            <a:xfrm>
              <a:off x="0" y="0"/>
              <a:ext cx="21960001" cy="1752750"/>
            </a:xfrm>
            <a:custGeom>
              <a:avLst/>
              <a:gdLst/>
              <a:ahLst/>
              <a:cxnLst/>
              <a:rect l="l" t="t" r="r" b="b"/>
              <a:pathLst>
                <a:path w="21960001" h="1752750">
                  <a:moveTo>
                    <a:pt x="0" y="0"/>
                  </a:moveTo>
                  <a:lnTo>
                    <a:pt x="21960001" y="0"/>
                  </a:lnTo>
                  <a:lnTo>
                    <a:pt x="21960001" y="1752750"/>
                  </a:lnTo>
                  <a:lnTo>
                    <a:pt x="0" y="1752750"/>
                  </a:lnTo>
                  <a:close/>
                </a:path>
              </a:pathLst>
            </a:custGeom>
            <a:blipFill>
              <a:blip r:embed="rId6">
                <a:alphaModFix amt="0"/>
              </a:blip>
              <a:stretch>
                <a:fillRect t="-194125" b="-194125"/>
              </a:stretch>
            </a:blipFill>
          </p:spPr>
          <p:txBody>
            <a:bodyPr/>
            <a:lstStyle/>
            <a:p>
              <a:endParaRPr lang="en-US"/>
            </a:p>
          </p:txBody>
        </p:sp>
        <p:sp>
          <p:nvSpPr>
            <p:cNvPr id="23" name="TextBox 23"/>
            <p:cNvSpPr txBox="1"/>
            <p:nvPr/>
          </p:nvSpPr>
          <p:spPr>
            <a:xfrm>
              <a:off x="0" y="28575"/>
              <a:ext cx="21960002" cy="1724177"/>
            </a:xfrm>
            <a:prstGeom prst="rect">
              <a:avLst/>
            </a:prstGeom>
          </p:spPr>
          <p:txBody>
            <a:bodyPr lIns="0" tIns="0" rIns="0" bIns="0" rtlCol="0" anchor="ctr"/>
            <a:lstStyle/>
            <a:p>
              <a:pPr algn="l">
                <a:lnSpc>
                  <a:spcPts val="6048"/>
                </a:lnSpc>
              </a:pPr>
              <a:r>
                <a:rPr lang="en-US" sz="5599" b="1">
                  <a:solidFill>
                    <a:srgbClr val="017058"/>
                  </a:solidFill>
                  <a:latin typeface="Times New Roman Bold"/>
                  <a:ea typeface="Times New Roman Bold"/>
                  <a:cs typeface="Times New Roman Bold"/>
                  <a:sym typeface="Times New Roman Bold"/>
                </a:rPr>
                <a:t>3. Thiết kế hệ thống phần cứng </a:t>
              </a:r>
            </a:p>
          </p:txBody>
        </p:sp>
      </p:grpSp>
      <p:sp>
        <p:nvSpPr>
          <p:cNvPr id="25" name="TextBox 25"/>
          <p:cNvSpPr txBox="1"/>
          <p:nvPr/>
        </p:nvSpPr>
        <p:spPr>
          <a:xfrm>
            <a:off x="68570" y="-2318490"/>
            <a:ext cx="18150850" cy="569719"/>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sp>
        <p:nvSpPr>
          <p:cNvPr id="26" name="TextBox 26"/>
          <p:cNvSpPr txBox="1"/>
          <p:nvPr/>
        </p:nvSpPr>
        <p:spPr>
          <a:xfrm>
            <a:off x="1070182" y="2637272"/>
            <a:ext cx="9313332" cy="584835"/>
          </a:xfrm>
          <a:prstGeom prst="rect">
            <a:avLst/>
          </a:prstGeom>
        </p:spPr>
        <p:txBody>
          <a:bodyPr lIns="0" tIns="0" rIns="0" bIns="0" rtlCol="0" anchor="t">
            <a:spAutoFit/>
          </a:bodyPr>
          <a:lstStyle/>
          <a:p>
            <a:pPr algn="l">
              <a:lnSpc>
                <a:spcPts val="4320"/>
              </a:lnSpc>
            </a:pPr>
            <a:r>
              <a:rPr lang="en-US" sz="4000" b="1">
                <a:solidFill>
                  <a:srgbClr val="017058"/>
                </a:solidFill>
                <a:latin typeface="Times New Roman Bold"/>
                <a:ea typeface="Times New Roman Bold"/>
                <a:cs typeface="Times New Roman Bold"/>
                <a:sym typeface="Times New Roman Bold"/>
              </a:rPr>
              <a:t>3.2.1 Module Avalon_RSA_Wrapper</a:t>
            </a:r>
          </a:p>
        </p:txBody>
      </p:sp>
      <p:sp>
        <p:nvSpPr>
          <p:cNvPr id="27" name="TextBox 27"/>
          <p:cNvSpPr txBox="1"/>
          <p:nvPr/>
        </p:nvSpPr>
        <p:spPr>
          <a:xfrm>
            <a:off x="17447714" y="9144000"/>
            <a:ext cx="508635" cy="1114425"/>
          </a:xfrm>
          <a:prstGeom prst="rect">
            <a:avLst/>
          </a:prstGeom>
        </p:spPr>
        <p:txBody>
          <a:bodyPr lIns="0" tIns="0" rIns="0" bIns="0" rtlCol="0" anchor="t">
            <a:spAutoFit/>
          </a:bodyPr>
          <a:lstStyle/>
          <a:p>
            <a:pPr algn="ctr">
              <a:lnSpc>
                <a:spcPts val="4320"/>
              </a:lnSpc>
            </a:pPr>
            <a:r>
              <a:rPr lang="en-US" sz="3600">
                <a:solidFill>
                  <a:srgbClr val="000000"/>
                </a:solidFill>
                <a:latin typeface="Arial"/>
                <a:ea typeface="Arial"/>
                <a:cs typeface="Arial"/>
                <a:sym typeface="Arial"/>
              </a:rPr>
              <a:t>16</a:t>
            </a:r>
          </a:p>
          <a:p>
            <a:pPr algn="ctr">
              <a:lnSpc>
                <a:spcPts val="4320"/>
              </a:lnSpc>
            </a:pPr>
            <a:endParaRPr lang="en-US" sz="3600">
              <a:solidFill>
                <a:srgbClr val="000000"/>
              </a:solidFill>
              <a:latin typeface="Arial"/>
              <a:ea typeface="Arial"/>
              <a:cs typeface="Arial"/>
              <a:sym typeface="Arial"/>
            </a:endParaRPr>
          </a:p>
        </p:txBody>
      </p:sp>
      <p:sp>
        <p:nvSpPr>
          <p:cNvPr id="28" name="TextBox 28"/>
          <p:cNvSpPr txBox="1"/>
          <p:nvPr/>
        </p:nvSpPr>
        <p:spPr>
          <a:xfrm>
            <a:off x="1070182" y="3841232"/>
            <a:ext cx="4873663" cy="4838700"/>
          </a:xfrm>
          <a:prstGeom prst="rect">
            <a:avLst/>
          </a:prstGeom>
        </p:spPr>
        <p:txBody>
          <a:bodyPr lIns="0" tIns="0" rIns="0" bIns="0" rtlCol="0" anchor="t">
            <a:spAutoFit/>
          </a:bodyPr>
          <a:lstStyle/>
          <a:p>
            <a:pPr algn="ctr">
              <a:lnSpc>
                <a:spcPts val="2999"/>
              </a:lnSpc>
            </a:pPr>
            <a:r>
              <a:rPr lang="en-US" sz="2499" b="1">
                <a:solidFill>
                  <a:srgbClr val="000000"/>
                </a:solidFill>
                <a:latin typeface="Arial Bold"/>
                <a:ea typeface="Arial Bold"/>
                <a:cs typeface="Arial Bold"/>
                <a:sym typeface="Arial Bold"/>
              </a:rPr>
              <a:t>Bản đồ Bộ nhớ (Memory Map):</a:t>
            </a:r>
          </a:p>
          <a:p>
            <a:pPr marL="539749" lvl="1" indent="-269875" algn="l">
              <a:lnSpc>
                <a:spcPts val="2999"/>
              </a:lnSpc>
              <a:buFont typeface="Arial"/>
              <a:buChar char="•"/>
            </a:pPr>
            <a:r>
              <a:rPr lang="en-US" sz="2499">
                <a:solidFill>
                  <a:srgbClr val="000000"/>
                </a:solidFill>
                <a:latin typeface="Arial"/>
                <a:ea typeface="Arial"/>
                <a:cs typeface="Arial"/>
                <a:sym typeface="Arial"/>
              </a:rPr>
              <a:t>Để CPU có thể giao tiếp với các thanh ghi 1024-bit, không gian bộ nhớ của phần cứng được quy hoạch thành các phân vùng địa chỉ cụ thể. </a:t>
            </a:r>
          </a:p>
          <a:p>
            <a:pPr marL="539749" lvl="1" indent="-269875" algn="l">
              <a:lnSpc>
                <a:spcPts val="2999"/>
              </a:lnSpc>
              <a:buFont typeface="Arial"/>
              <a:buChar char="•"/>
            </a:pPr>
            <a:r>
              <a:rPr lang="en-US" sz="2499">
                <a:solidFill>
                  <a:srgbClr val="000000"/>
                </a:solidFill>
                <a:latin typeface="Arial"/>
                <a:ea typeface="Arial"/>
                <a:cs typeface="Arial"/>
                <a:sym typeface="Arial"/>
              </a:rPr>
              <a:t>Mỗi địa chỉ tương ứng với một từ (word) 32-bit. Để chứa một toán hạng 1024-bit, hệ thống cần cấp phát 32 địa chỉ liên tiếp 32 words * 32 bits = 1024 bits.</a:t>
            </a:r>
          </a:p>
          <a:p>
            <a:pPr algn="l">
              <a:lnSpc>
                <a:spcPts val="2999"/>
              </a:lnSpc>
              <a:spcBef>
                <a:spcPct val="0"/>
              </a:spcBef>
            </a:pPr>
            <a:endParaRPr lang="en-US" sz="2499">
              <a:solidFill>
                <a:srgbClr val="000000"/>
              </a:solidFill>
              <a:latin typeface="Arial"/>
              <a:ea typeface="Arial"/>
              <a:cs typeface="Arial"/>
              <a:sym typeface="Arial"/>
            </a:endParaRPr>
          </a:p>
        </p:txBody>
      </p:sp>
      <p:graphicFrame>
        <p:nvGraphicFramePr>
          <p:cNvPr id="29" name="Table 28">
            <a:extLst>
              <a:ext uri="{FF2B5EF4-FFF2-40B4-BE49-F238E27FC236}">
                <a16:creationId xmlns:a16="http://schemas.microsoft.com/office/drawing/2014/main" id="{59DF2236-0058-EEEC-D283-48B0F3C13847}"/>
              </a:ext>
            </a:extLst>
          </p:cNvPr>
          <p:cNvGraphicFramePr>
            <a:graphicFrameLocks noGrp="1"/>
          </p:cNvGraphicFramePr>
          <p:nvPr>
            <p:extLst>
              <p:ext uri="{D42A27DB-BD31-4B8C-83A1-F6EECF244321}">
                <p14:modId xmlns:p14="http://schemas.microsoft.com/office/powerpoint/2010/main" val="2816981082"/>
              </p:ext>
            </p:extLst>
          </p:nvPr>
        </p:nvGraphicFramePr>
        <p:xfrm>
          <a:off x="8001000" y="3879332"/>
          <a:ext cx="7848600" cy="4619631"/>
        </p:xfrm>
        <a:graphic>
          <a:graphicData uri="http://schemas.openxmlformats.org/drawingml/2006/table">
            <a:tbl>
              <a:tblPr/>
              <a:tblGrid>
                <a:gridCol w="1847850">
                  <a:extLst>
                    <a:ext uri="{9D8B030D-6E8A-4147-A177-3AD203B41FA5}">
                      <a16:colId xmlns:a16="http://schemas.microsoft.com/office/drawing/2014/main" val="344908001"/>
                    </a:ext>
                  </a:extLst>
                </a:gridCol>
                <a:gridCol w="1847850">
                  <a:extLst>
                    <a:ext uri="{9D8B030D-6E8A-4147-A177-3AD203B41FA5}">
                      <a16:colId xmlns:a16="http://schemas.microsoft.com/office/drawing/2014/main" val="4215332899"/>
                    </a:ext>
                  </a:extLst>
                </a:gridCol>
                <a:gridCol w="1638300">
                  <a:extLst>
                    <a:ext uri="{9D8B030D-6E8A-4147-A177-3AD203B41FA5}">
                      <a16:colId xmlns:a16="http://schemas.microsoft.com/office/drawing/2014/main" val="639465308"/>
                    </a:ext>
                  </a:extLst>
                </a:gridCol>
                <a:gridCol w="2514600">
                  <a:extLst>
                    <a:ext uri="{9D8B030D-6E8A-4147-A177-3AD203B41FA5}">
                      <a16:colId xmlns:a16="http://schemas.microsoft.com/office/drawing/2014/main" val="870660065"/>
                    </a:ext>
                  </a:extLst>
                </a:gridCol>
              </a:tblGrid>
              <a:tr h="694578">
                <a:tc>
                  <a:txBody>
                    <a:bodyPr/>
                    <a:lstStyle/>
                    <a:p>
                      <a:pPr algn="ctr" rtl="0">
                        <a:buNone/>
                      </a:pPr>
                      <a:r>
                        <a:rPr lang="en-US" sz="1400" b="1" i="0">
                          <a:solidFill>
                            <a:srgbClr val="000000"/>
                          </a:solidFill>
                          <a:effectLst/>
                        </a:rPr>
                        <a:t>Phân vùng Địa chỉ (Hệ thập phân)</a:t>
                      </a:r>
                      <a:endParaRPr lang="en-US" sz="1400" b="1">
                        <a:effectLst/>
                      </a:endParaRPr>
                    </a:p>
                  </a:txBody>
                  <a:tcPr marL="67217" marR="67217" marT="33609" marB="33609"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buNone/>
                      </a:pPr>
                      <a:r>
                        <a:rPr lang="en-US" sz="1400" b="1">
                          <a:effectLst/>
                        </a:rPr>
                        <a:t>Tên Thanh ghi (Kích thước)</a:t>
                      </a:r>
                    </a:p>
                  </a:txBody>
                  <a:tcPr marL="67217" marR="67217" marT="33609" marB="33609"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buNone/>
                      </a:pPr>
                      <a:r>
                        <a:rPr lang="en-US" sz="1400" b="1">
                          <a:effectLst/>
                        </a:rPr>
                        <a:t>Quyền truy cập</a:t>
                      </a:r>
                    </a:p>
                  </a:txBody>
                  <a:tcPr marL="67217" marR="67217" marT="33609" marB="33609"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buNone/>
                      </a:pPr>
                      <a:r>
                        <a:rPr lang="en-US" sz="1400" b="1">
                          <a:effectLst/>
                        </a:rPr>
                        <a:t>Chức năng</a:t>
                      </a:r>
                    </a:p>
                  </a:txBody>
                  <a:tcPr marL="67217" marR="67217" marT="33609" marB="33609"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55031629"/>
                  </a:ext>
                </a:extLst>
              </a:tr>
              <a:tr h="470521">
                <a:tc>
                  <a:txBody>
                    <a:bodyPr/>
                    <a:lstStyle/>
                    <a:p>
                      <a:pPr>
                        <a:buNone/>
                      </a:pPr>
                      <a:r>
                        <a:rPr lang="en-US" sz="1400">
                          <a:effectLst/>
                        </a:rPr>
                        <a:t>0-31</a:t>
                      </a:r>
                    </a:p>
                  </a:txBody>
                  <a:tcPr marL="67217" marR="67217" marT="33609" marB="33609"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buNone/>
                      </a:pPr>
                      <a:r>
                        <a:rPr lang="en-US" sz="1400">
                          <a:effectLst/>
                        </a:rPr>
                        <a:t>ADDR_A_BASE (1024-bit)</a:t>
                      </a:r>
                    </a:p>
                  </a:txBody>
                  <a:tcPr marL="67217" marR="67217" marT="33609" marB="33609"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buNone/>
                      </a:pPr>
                      <a:r>
                        <a:rPr lang="en-US" sz="1400">
                          <a:effectLst/>
                        </a:rPr>
                        <a:t>Read/Write</a:t>
                      </a:r>
                    </a:p>
                  </a:txBody>
                  <a:tcPr marL="67217" marR="67217" marT="33609" marB="33609"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lgn="l" rtl="0">
                        <a:buNone/>
                      </a:pPr>
                      <a:r>
                        <a:rPr lang="en-US" sz="1400" b="0" i="0">
                          <a:solidFill>
                            <a:srgbClr val="000000"/>
                          </a:solidFill>
                          <a:effectLst/>
                        </a:rPr>
                        <a:t>Chứa Bản rõ / Bản mã đầu vào A.</a:t>
                      </a:r>
                      <a:endParaRPr lang="en-US" sz="1400">
                        <a:effectLst/>
                      </a:endParaRPr>
                    </a:p>
                  </a:txBody>
                  <a:tcPr marL="67217" marR="67217" marT="33609" marB="33609"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05710123"/>
                  </a:ext>
                </a:extLst>
              </a:tr>
              <a:tr h="470521">
                <a:tc>
                  <a:txBody>
                    <a:bodyPr/>
                    <a:lstStyle/>
                    <a:p>
                      <a:pPr>
                        <a:buNone/>
                      </a:pPr>
                      <a:r>
                        <a:rPr lang="en-US" sz="1400">
                          <a:effectLst/>
                        </a:rPr>
                        <a:t>32-63</a:t>
                      </a:r>
                    </a:p>
                  </a:txBody>
                  <a:tcPr marL="67217" marR="67217" marT="33609" marB="33609"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buNone/>
                      </a:pPr>
                      <a:r>
                        <a:rPr lang="en-US" sz="1400">
                          <a:effectLst/>
                        </a:rPr>
                        <a:t>ADDR_B_BASE (1024-bit)</a:t>
                      </a:r>
                    </a:p>
                  </a:txBody>
                  <a:tcPr marL="67217" marR="67217" marT="33609" marB="33609"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buNone/>
                      </a:pPr>
                      <a:r>
                        <a:rPr lang="en-US" sz="1400">
                          <a:effectLst/>
                        </a:rPr>
                        <a:t>Read/Write</a:t>
                      </a:r>
                    </a:p>
                  </a:txBody>
                  <a:tcPr marL="67217" marR="67217" marT="33609" marB="33609"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lgn="l" rtl="0">
                        <a:buNone/>
                      </a:pPr>
                      <a:r>
                        <a:rPr lang="en-US" sz="1400" b="0" i="0">
                          <a:solidFill>
                            <a:srgbClr val="000000"/>
                          </a:solidFill>
                          <a:effectLst/>
                        </a:rPr>
                        <a:t>Chứa Khóa mã hóa / Giải mã B.</a:t>
                      </a:r>
                      <a:endParaRPr lang="en-US" sz="1400">
                        <a:effectLst/>
                      </a:endParaRPr>
                    </a:p>
                  </a:txBody>
                  <a:tcPr marL="67217" marR="67217" marT="33609" marB="33609"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26781118"/>
                  </a:ext>
                </a:extLst>
              </a:tr>
              <a:tr h="470521">
                <a:tc>
                  <a:txBody>
                    <a:bodyPr/>
                    <a:lstStyle/>
                    <a:p>
                      <a:pPr>
                        <a:buNone/>
                      </a:pPr>
                      <a:r>
                        <a:rPr lang="en-US" sz="1400">
                          <a:effectLst/>
                        </a:rPr>
                        <a:t>64-95</a:t>
                      </a:r>
                    </a:p>
                  </a:txBody>
                  <a:tcPr marL="67217" marR="67217" marT="33609" marB="33609"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buNone/>
                      </a:pPr>
                      <a:r>
                        <a:rPr lang="en-US" sz="1400">
                          <a:effectLst/>
                        </a:rPr>
                        <a:t>ADDR_M_BASE (1024-bit)</a:t>
                      </a:r>
                    </a:p>
                  </a:txBody>
                  <a:tcPr marL="67217" marR="67217" marT="33609" marB="33609"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buNone/>
                      </a:pPr>
                      <a:r>
                        <a:rPr lang="en-US" sz="1400">
                          <a:effectLst/>
                        </a:rPr>
                        <a:t>Read/Write</a:t>
                      </a:r>
                    </a:p>
                  </a:txBody>
                  <a:tcPr marL="67217" marR="67217" marT="33609" marB="33609"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lgn="l" rtl="0">
                        <a:buNone/>
                      </a:pPr>
                      <a:r>
                        <a:rPr lang="en-US" sz="1400" b="0" i="0">
                          <a:solidFill>
                            <a:srgbClr val="000000"/>
                          </a:solidFill>
                          <a:effectLst/>
                        </a:rPr>
                        <a:t>Chứa Module M.</a:t>
                      </a:r>
                      <a:endParaRPr lang="en-US" sz="1400">
                        <a:effectLst/>
                      </a:endParaRPr>
                    </a:p>
                  </a:txBody>
                  <a:tcPr marL="67217" marR="67217" marT="33609" marB="33609"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593717178"/>
                  </a:ext>
                </a:extLst>
              </a:tr>
              <a:tr h="672173">
                <a:tc>
                  <a:txBody>
                    <a:bodyPr/>
                    <a:lstStyle/>
                    <a:p>
                      <a:pPr>
                        <a:buNone/>
                      </a:pPr>
                      <a:r>
                        <a:rPr lang="en-US" sz="1400">
                          <a:effectLst/>
                        </a:rPr>
                        <a:t>96-127</a:t>
                      </a:r>
                    </a:p>
                  </a:txBody>
                  <a:tcPr marL="67217" marR="67217" marT="33609" marB="33609"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buNone/>
                      </a:pPr>
                      <a:r>
                        <a:rPr lang="en-US" sz="1400">
                          <a:effectLst/>
                        </a:rPr>
                        <a:t>ADDR_R2_BASE (1024-bit)</a:t>
                      </a:r>
                    </a:p>
                  </a:txBody>
                  <a:tcPr marL="67217" marR="67217" marT="33609" marB="33609"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buNone/>
                      </a:pPr>
                      <a:r>
                        <a:rPr lang="en-US" sz="1400">
                          <a:effectLst/>
                        </a:rPr>
                        <a:t>Read/Write</a:t>
                      </a:r>
                    </a:p>
                  </a:txBody>
                  <a:tcPr marL="67217" marR="67217" marT="33609" marB="33609"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lgn="l" rtl="0">
                        <a:buNone/>
                      </a:pPr>
                      <a:r>
                        <a:rPr lang="en-US" sz="1400" b="0" i="0">
                          <a:solidFill>
                            <a:srgbClr val="000000"/>
                          </a:solidFill>
                          <a:effectLst/>
                        </a:rPr>
                        <a:t>Chứa hằng số miền Montgomery (R2 mod M).</a:t>
                      </a:r>
                      <a:endParaRPr lang="en-US" sz="1400">
                        <a:effectLst/>
                      </a:endParaRPr>
                    </a:p>
                  </a:txBody>
                  <a:tcPr marL="67217" marR="67217" marT="33609" marB="33609"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571779576"/>
                  </a:ext>
                </a:extLst>
              </a:tr>
              <a:tr h="470521">
                <a:tc>
                  <a:txBody>
                    <a:bodyPr/>
                    <a:lstStyle/>
                    <a:p>
                      <a:pPr>
                        <a:buNone/>
                      </a:pPr>
                      <a:r>
                        <a:rPr lang="en-US" sz="1400">
                          <a:effectLst/>
                        </a:rPr>
                        <a:t>128-159</a:t>
                      </a:r>
                    </a:p>
                  </a:txBody>
                  <a:tcPr marL="67217" marR="67217" marT="33609" marB="33609"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buNone/>
                      </a:pPr>
                      <a:r>
                        <a:rPr lang="en-US" sz="1400">
                          <a:effectLst/>
                        </a:rPr>
                        <a:t>ADDR_RES_BASE (1024-bit)</a:t>
                      </a:r>
                    </a:p>
                  </a:txBody>
                  <a:tcPr marL="67217" marR="67217" marT="33609" marB="33609"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buNone/>
                      </a:pPr>
                      <a:r>
                        <a:rPr lang="en-US" sz="1400">
                          <a:effectLst/>
                        </a:rPr>
                        <a:t>Read-Only</a:t>
                      </a:r>
                    </a:p>
                  </a:txBody>
                  <a:tcPr marL="67217" marR="67217" marT="33609" marB="33609"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lgn="l" rtl="0">
                        <a:buNone/>
                      </a:pPr>
                      <a:r>
                        <a:rPr lang="en-US" sz="1400" b="0" i="0">
                          <a:solidFill>
                            <a:srgbClr val="000000"/>
                          </a:solidFill>
                          <a:effectLst/>
                        </a:rPr>
                        <a:t>Chứa Kết quả tính toán Result.</a:t>
                      </a:r>
                      <a:endParaRPr lang="en-US" sz="1400">
                        <a:effectLst/>
                      </a:endParaRPr>
                    </a:p>
                  </a:txBody>
                  <a:tcPr marL="67217" marR="67217" marT="33609" marB="33609"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555050049"/>
                  </a:ext>
                </a:extLst>
              </a:tr>
              <a:tr h="1277128">
                <a:tc>
                  <a:txBody>
                    <a:bodyPr/>
                    <a:lstStyle/>
                    <a:p>
                      <a:pPr>
                        <a:buNone/>
                      </a:pPr>
                      <a:r>
                        <a:rPr lang="en-US" sz="1400">
                          <a:effectLst/>
                        </a:rPr>
                        <a:t>160</a:t>
                      </a:r>
                    </a:p>
                  </a:txBody>
                  <a:tcPr marL="67217" marR="67217" marT="33609" marB="33609"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buNone/>
                      </a:pPr>
                      <a:r>
                        <a:rPr lang="en-US" sz="1400">
                          <a:effectLst/>
                        </a:rPr>
                        <a:t>ADDR_CTRL_STAT (32-bit)</a:t>
                      </a:r>
                    </a:p>
                  </a:txBody>
                  <a:tcPr marL="67217" marR="67217" marT="33609" marB="33609"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buNone/>
                      </a:pPr>
                      <a:r>
                        <a:rPr lang="en-US" sz="1400">
                          <a:effectLst/>
                        </a:rPr>
                        <a:t>Read/Write</a:t>
                      </a:r>
                    </a:p>
                  </a:txBody>
                  <a:tcPr marL="67217" marR="67217" marT="33609" marB="33609"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lgn="l" rtl="0">
                        <a:buNone/>
                      </a:pPr>
                      <a:r>
                        <a:rPr lang="en-US" sz="1400" b="0" i="0">
                          <a:solidFill>
                            <a:srgbClr val="000000"/>
                          </a:solidFill>
                          <a:effectLst/>
                        </a:rPr>
                        <a:t>Thanh ghi Điều khiển và Trạng thái.</a:t>
                      </a:r>
                      <a:endParaRPr lang="en-US" sz="1400">
                        <a:effectLst/>
                      </a:endParaRPr>
                    </a:p>
                    <a:p>
                      <a:pPr algn="l" rtl="0">
                        <a:buNone/>
                      </a:pPr>
                      <a:r>
                        <a:rPr lang="en-US" sz="1400" b="0" i="0">
                          <a:solidFill>
                            <a:srgbClr val="000000"/>
                          </a:solidFill>
                          <a:effectLst/>
                        </a:rPr>
                        <a:t>- </a:t>
                      </a:r>
                      <a:r>
                        <a:rPr lang="en-US" sz="1400" b="1" i="0">
                          <a:solidFill>
                            <a:srgbClr val="000000"/>
                          </a:solidFill>
                          <a:effectLst/>
                        </a:rPr>
                        <a:t>Bit 0 (Write):</a:t>
                      </a:r>
                      <a:r>
                        <a:rPr lang="en-US" sz="1400" b="0" i="0">
                          <a:solidFill>
                            <a:srgbClr val="000000"/>
                          </a:solidFill>
                          <a:effectLst/>
                        </a:rPr>
                        <a:t> Kích hoạt start.</a:t>
                      </a:r>
                      <a:endParaRPr lang="en-US" sz="1400">
                        <a:effectLst/>
                      </a:endParaRPr>
                    </a:p>
                    <a:p>
                      <a:pPr algn="l" rtl="0">
                        <a:buNone/>
                      </a:pPr>
                      <a:r>
                        <a:rPr lang="en-US" sz="1400" b="0" i="0">
                          <a:solidFill>
                            <a:srgbClr val="000000"/>
                          </a:solidFill>
                          <a:effectLst/>
                        </a:rPr>
                        <a:t>- </a:t>
                      </a:r>
                      <a:r>
                        <a:rPr lang="en-US" sz="1400" b="1" i="0">
                          <a:solidFill>
                            <a:srgbClr val="000000"/>
                          </a:solidFill>
                          <a:effectLst/>
                        </a:rPr>
                        <a:t>Bit 1 (Read):</a:t>
                      </a:r>
                      <a:r>
                        <a:rPr lang="en-US" sz="1400" b="0" i="0">
                          <a:solidFill>
                            <a:srgbClr val="000000"/>
                          </a:solidFill>
                          <a:effectLst/>
                        </a:rPr>
                        <a:t> Cờ trạng thái done.</a:t>
                      </a:r>
                      <a:endParaRPr lang="en-US" sz="1400">
                        <a:effectLst/>
                      </a:endParaRPr>
                    </a:p>
                  </a:txBody>
                  <a:tcPr marL="67217" marR="67217" marT="33609" marB="33609"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505891909"/>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124"/>
            <a:ext cx="18291715" cy="10295477"/>
            <a:chOff x="0" y="0"/>
            <a:chExt cx="24388953" cy="13727303"/>
          </a:xfrm>
        </p:grpSpPr>
        <p:sp>
          <p:nvSpPr>
            <p:cNvPr id="3" name="Freeform 3"/>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4" name="Group 4"/>
          <p:cNvGrpSpPr/>
          <p:nvPr/>
        </p:nvGrpSpPr>
        <p:grpSpPr>
          <a:xfrm>
            <a:off x="0" y="2124"/>
            <a:ext cx="18291715" cy="10295477"/>
            <a:chOff x="0" y="0"/>
            <a:chExt cx="24388953" cy="13727303"/>
          </a:xfrm>
        </p:grpSpPr>
        <p:sp>
          <p:nvSpPr>
            <p:cNvPr id="5" name="Freeform 5"/>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6" name="Group 6"/>
          <p:cNvGrpSpPr/>
          <p:nvPr/>
        </p:nvGrpSpPr>
        <p:grpSpPr>
          <a:xfrm rot="5400000">
            <a:off x="8668464" y="-8670055"/>
            <a:ext cx="947356" cy="18291715"/>
            <a:chOff x="0" y="0"/>
            <a:chExt cx="1263142" cy="24388953"/>
          </a:xfrm>
        </p:grpSpPr>
        <p:sp>
          <p:nvSpPr>
            <p:cNvPr id="7" name="Freeform 7"/>
            <p:cNvSpPr/>
            <p:nvPr/>
          </p:nvSpPr>
          <p:spPr>
            <a:xfrm>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gradFill rotWithShape="1">
              <a:gsLst>
                <a:gs pos="0">
                  <a:srgbClr val="10CC57">
                    <a:alpha val="100000"/>
                  </a:srgbClr>
                </a:gs>
                <a:gs pos="100000">
                  <a:srgbClr val="017058">
                    <a:alpha val="100000"/>
                  </a:srgbClr>
                </a:gs>
              </a:gsLst>
              <a:lin ang="0"/>
            </a:gradFill>
          </p:spPr>
          <p:txBody>
            <a:bodyPr/>
            <a:lstStyle/>
            <a:p>
              <a:endParaRPr lang="en-US"/>
            </a:p>
          </p:txBody>
        </p:sp>
      </p:grpSp>
      <p:grpSp>
        <p:nvGrpSpPr>
          <p:cNvPr id="8" name="Group 8"/>
          <p:cNvGrpSpPr/>
          <p:nvPr/>
        </p:nvGrpSpPr>
        <p:grpSpPr>
          <a:xfrm rot="-5400000">
            <a:off x="8670312" y="-8672208"/>
            <a:ext cx="947356" cy="18291715"/>
            <a:chOff x="0" y="0"/>
            <a:chExt cx="1263142" cy="24388953"/>
          </a:xfrm>
        </p:grpSpPr>
        <p:sp>
          <p:nvSpPr>
            <p:cNvPr id="9" name="Freeform 9"/>
            <p:cNvSpPr/>
            <p:nvPr/>
          </p:nvSpPr>
          <p:spPr>
            <a:xfrm flipH="1">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blipFill>
              <a:blip r:embed="rId2"/>
              <a:stretch>
                <a:fillRect l="-35092" r="-35091"/>
              </a:stretch>
            </a:blipFill>
          </p:spPr>
          <p:txBody>
            <a:bodyPr/>
            <a:lstStyle/>
            <a:p>
              <a:endParaRPr lang="en-US"/>
            </a:p>
          </p:txBody>
        </p:sp>
      </p:grpSp>
      <p:sp>
        <p:nvSpPr>
          <p:cNvPr id="10" name="TextBox 10"/>
          <p:cNvSpPr txBox="1"/>
          <p:nvPr/>
        </p:nvSpPr>
        <p:spPr>
          <a:xfrm>
            <a:off x="428996" y="227362"/>
            <a:ext cx="10993288" cy="456571"/>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11" name="Group 11"/>
          <p:cNvGrpSpPr/>
          <p:nvPr/>
        </p:nvGrpSpPr>
        <p:grpSpPr>
          <a:xfrm>
            <a:off x="6719983" y="457933"/>
            <a:ext cx="4848130" cy="958024"/>
            <a:chOff x="0" y="0"/>
            <a:chExt cx="6464173" cy="1277366"/>
          </a:xfrm>
        </p:grpSpPr>
        <p:sp>
          <p:nvSpPr>
            <p:cNvPr id="12" name="Freeform 12"/>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2700000"/>
            </a:gradFill>
          </p:spPr>
          <p:txBody>
            <a:bodyPr/>
            <a:lstStyle/>
            <a:p>
              <a:endParaRPr lang="en-US"/>
            </a:p>
          </p:txBody>
        </p:sp>
      </p:grpSp>
      <p:grpSp>
        <p:nvGrpSpPr>
          <p:cNvPr id="13" name="Group 13"/>
          <p:cNvGrpSpPr/>
          <p:nvPr/>
        </p:nvGrpSpPr>
        <p:grpSpPr>
          <a:xfrm>
            <a:off x="6807460" y="535972"/>
            <a:ext cx="4673060" cy="801815"/>
            <a:chOff x="0" y="0"/>
            <a:chExt cx="6230747" cy="1069086"/>
          </a:xfrm>
        </p:grpSpPr>
        <p:sp>
          <p:nvSpPr>
            <p:cNvPr id="14" name="Freeform 14"/>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en-US"/>
            </a:p>
          </p:txBody>
        </p:sp>
      </p:grpSp>
      <p:grpSp>
        <p:nvGrpSpPr>
          <p:cNvPr id="15" name="Group 15"/>
          <p:cNvGrpSpPr/>
          <p:nvPr/>
        </p:nvGrpSpPr>
        <p:grpSpPr>
          <a:xfrm>
            <a:off x="9436446" y="362541"/>
            <a:ext cx="1163288" cy="1152620"/>
            <a:chOff x="0" y="0"/>
            <a:chExt cx="1551051" cy="1536827"/>
          </a:xfrm>
        </p:grpSpPr>
        <p:sp>
          <p:nvSpPr>
            <p:cNvPr id="16" name="Freeform 16"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211" r="-210"/>
              </a:stretch>
            </a:blipFill>
          </p:spPr>
          <p:txBody>
            <a:bodyPr/>
            <a:lstStyle/>
            <a:p>
              <a:endParaRPr lang="en-US"/>
            </a:p>
          </p:txBody>
        </p:sp>
      </p:grpSp>
      <p:grpSp>
        <p:nvGrpSpPr>
          <p:cNvPr id="17" name="Group 17"/>
          <p:cNvGrpSpPr/>
          <p:nvPr/>
        </p:nvGrpSpPr>
        <p:grpSpPr>
          <a:xfrm>
            <a:off x="7688247" y="398078"/>
            <a:ext cx="1307497" cy="1081564"/>
            <a:chOff x="0" y="0"/>
            <a:chExt cx="1743329" cy="1442085"/>
          </a:xfrm>
        </p:grpSpPr>
        <p:sp>
          <p:nvSpPr>
            <p:cNvPr id="18" name="Freeform 18"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l="-38" r="-37"/>
              </a:stretch>
            </a:blipFill>
          </p:spPr>
          <p:txBody>
            <a:bodyPr/>
            <a:lstStyle/>
            <a:p>
              <a:endParaRPr lang="en-US"/>
            </a:p>
          </p:txBody>
        </p:sp>
      </p:grpSp>
      <p:grpSp>
        <p:nvGrpSpPr>
          <p:cNvPr id="19" name="Group 19"/>
          <p:cNvGrpSpPr/>
          <p:nvPr/>
        </p:nvGrpSpPr>
        <p:grpSpPr>
          <a:xfrm>
            <a:off x="908999" y="1555147"/>
            <a:ext cx="16470001" cy="1335996"/>
            <a:chOff x="0" y="0"/>
            <a:chExt cx="21960002" cy="1781327"/>
          </a:xfrm>
        </p:grpSpPr>
        <p:sp>
          <p:nvSpPr>
            <p:cNvPr id="20" name="Freeform 20"/>
            <p:cNvSpPr/>
            <p:nvPr/>
          </p:nvSpPr>
          <p:spPr>
            <a:xfrm>
              <a:off x="0" y="0"/>
              <a:ext cx="21959951" cy="1781302"/>
            </a:xfrm>
            <a:custGeom>
              <a:avLst/>
              <a:gdLst/>
              <a:ahLst/>
              <a:cxnLst/>
              <a:rect l="l" t="t" r="r" b="b"/>
              <a:pathLst>
                <a:path w="21959951" h="1781302">
                  <a:moveTo>
                    <a:pt x="0" y="0"/>
                  </a:moveTo>
                  <a:lnTo>
                    <a:pt x="21959951" y="0"/>
                  </a:lnTo>
                  <a:lnTo>
                    <a:pt x="21959951" y="1781302"/>
                  </a:lnTo>
                  <a:lnTo>
                    <a:pt x="0" y="1781302"/>
                  </a:lnTo>
                  <a:close/>
                </a:path>
              </a:pathLst>
            </a:custGeom>
            <a:blipFill>
              <a:blip r:embed="rId5">
                <a:alphaModFix amt="0"/>
              </a:blip>
              <a:stretch>
                <a:fillRect t="-190044" b="-190046"/>
              </a:stretch>
            </a:blipFill>
          </p:spPr>
          <p:txBody>
            <a:bodyPr/>
            <a:lstStyle/>
            <a:p>
              <a:endParaRPr lang="en-US"/>
            </a:p>
          </p:txBody>
        </p:sp>
      </p:grpSp>
      <p:grpSp>
        <p:nvGrpSpPr>
          <p:cNvPr id="21" name="Group 21"/>
          <p:cNvGrpSpPr/>
          <p:nvPr/>
        </p:nvGrpSpPr>
        <p:grpSpPr>
          <a:xfrm>
            <a:off x="908999" y="1576578"/>
            <a:ext cx="16470001" cy="1314564"/>
            <a:chOff x="0" y="0"/>
            <a:chExt cx="21960002" cy="1752752"/>
          </a:xfrm>
        </p:grpSpPr>
        <p:sp>
          <p:nvSpPr>
            <p:cNvPr id="22" name="Freeform 22"/>
            <p:cNvSpPr/>
            <p:nvPr/>
          </p:nvSpPr>
          <p:spPr>
            <a:xfrm>
              <a:off x="0" y="0"/>
              <a:ext cx="21960001" cy="1752750"/>
            </a:xfrm>
            <a:custGeom>
              <a:avLst/>
              <a:gdLst/>
              <a:ahLst/>
              <a:cxnLst/>
              <a:rect l="l" t="t" r="r" b="b"/>
              <a:pathLst>
                <a:path w="21960001" h="1752750">
                  <a:moveTo>
                    <a:pt x="0" y="0"/>
                  </a:moveTo>
                  <a:lnTo>
                    <a:pt x="21960001" y="0"/>
                  </a:lnTo>
                  <a:lnTo>
                    <a:pt x="21960001" y="1752750"/>
                  </a:lnTo>
                  <a:lnTo>
                    <a:pt x="0" y="1752750"/>
                  </a:lnTo>
                  <a:close/>
                </a:path>
              </a:pathLst>
            </a:custGeom>
            <a:blipFill>
              <a:blip r:embed="rId6">
                <a:alphaModFix amt="0"/>
              </a:blip>
              <a:stretch>
                <a:fillRect t="-194125" b="-194125"/>
              </a:stretch>
            </a:blipFill>
          </p:spPr>
          <p:txBody>
            <a:bodyPr/>
            <a:lstStyle/>
            <a:p>
              <a:endParaRPr lang="en-US"/>
            </a:p>
          </p:txBody>
        </p:sp>
        <p:sp>
          <p:nvSpPr>
            <p:cNvPr id="23" name="TextBox 23"/>
            <p:cNvSpPr txBox="1"/>
            <p:nvPr/>
          </p:nvSpPr>
          <p:spPr>
            <a:xfrm>
              <a:off x="0" y="28575"/>
              <a:ext cx="21960002" cy="1724177"/>
            </a:xfrm>
            <a:prstGeom prst="rect">
              <a:avLst/>
            </a:prstGeom>
          </p:spPr>
          <p:txBody>
            <a:bodyPr lIns="0" tIns="0" rIns="0" bIns="0" rtlCol="0" anchor="ctr"/>
            <a:lstStyle/>
            <a:p>
              <a:pPr algn="l">
                <a:lnSpc>
                  <a:spcPts val="6048"/>
                </a:lnSpc>
              </a:pPr>
              <a:r>
                <a:rPr lang="en-US" sz="5599" b="1">
                  <a:solidFill>
                    <a:srgbClr val="017058"/>
                  </a:solidFill>
                  <a:latin typeface="Times New Roman Bold"/>
                  <a:ea typeface="Times New Roman Bold"/>
                  <a:cs typeface="Times New Roman Bold"/>
                  <a:sym typeface="Times New Roman Bold"/>
                </a:rPr>
                <a:t>3. Thiết kế hệ thống phần cứng </a:t>
              </a:r>
            </a:p>
          </p:txBody>
        </p:sp>
      </p:grpSp>
      <p:sp>
        <p:nvSpPr>
          <p:cNvPr id="24" name="Freeform 24"/>
          <p:cNvSpPr/>
          <p:nvPr/>
        </p:nvSpPr>
        <p:spPr>
          <a:xfrm>
            <a:off x="908999" y="4238280"/>
            <a:ext cx="8989390" cy="4607062"/>
          </a:xfrm>
          <a:custGeom>
            <a:avLst/>
            <a:gdLst/>
            <a:ahLst/>
            <a:cxnLst/>
            <a:rect l="l" t="t" r="r" b="b"/>
            <a:pathLst>
              <a:path w="8989390" h="4607062">
                <a:moveTo>
                  <a:pt x="0" y="0"/>
                </a:moveTo>
                <a:lnTo>
                  <a:pt x="8989391" y="0"/>
                </a:lnTo>
                <a:lnTo>
                  <a:pt x="8989391" y="4607062"/>
                </a:lnTo>
                <a:lnTo>
                  <a:pt x="0" y="4607062"/>
                </a:lnTo>
                <a:lnTo>
                  <a:pt x="0" y="0"/>
                </a:lnTo>
                <a:close/>
              </a:path>
            </a:pathLst>
          </a:custGeom>
          <a:blipFill>
            <a:blip r:embed="rId7"/>
            <a:stretch>
              <a:fillRect/>
            </a:stretch>
          </a:blipFill>
        </p:spPr>
        <p:txBody>
          <a:bodyPr/>
          <a:lstStyle/>
          <a:p>
            <a:endParaRPr lang="en-US"/>
          </a:p>
        </p:txBody>
      </p:sp>
      <p:sp>
        <p:nvSpPr>
          <p:cNvPr id="25" name="Freeform 25"/>
          <p:cNvSpPr/>
          <p:nvPr/>
        </p:nvSpPr>
        <p:spPr>
          <a:xfrm>
            <a:off x="10383513" y="3814340"/>
            <a:ext cx="6519886" cy="710763"/>
          </a:xfrm>
          <a:custGeom>
            <a:avLst/>
            <a:gdLst/>
            <a:ahLst/>
            <a:cxnLst/>
            <a:rect l="l" t="t" r="r" b="b"/>
            <a:pathLst>
              <a:path w="6519886" h="710763">
                <a:moveTo>
                  <a:pt x="0" y="0"/>
                </a:moveTo>
                <a:lnTo>
                  <a:pt x="6519887" y="0"/>
                </a:lnTo>
                <a:lnTo>
                  <a:pt x="6519887" y="710763"/>
                </a:lnTo>
                <a:lnTo>
                  <a:pt x="0" y="710763"/>
                </a:lnTo>
                <a:lnTo>
                  <a:pt x="0" y="0"/>
                </a:lnTo>
                <a:close/>
              </a:path>
            </a:pathLst>
          </a:custGeom>
          <a:blipFill>
            <a:blip r:embed="rId8"/>
            <a:stretch>
              <a:fillRect/>
            </a:stretch>
          </a:blipFill>
        </p:spPr>
        <p:txBody>
          <a:bodyPr/>
          <a:lstStyle/>
          <a:p>
            <a:endParaRPr lang="en-US"/>
          </a:p>
        </p:txBody>
      </p:sp>
      <p:sp>
        <p:nvSpPr>
          <p:cNvPr id="26" name="TextBox 26"/>
          <p:cNvSpPr txBox="1"/>
          <p:nvPr/>
        </p:nvSpPr>
        <p:spPr>
          <a:xfrm>
            <a:off x="68570" y="-2318490"/>
            <a:ext cx="18150850" cy="569719"/>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sp>
        <p:nvSpPr>
          <p:cNvPr id="27" name="TextBox 27"/>
          <p:cNvSpPr txBox="1"/>
          <p:nvPr/>
        </p:nvSpPr>
        <p:spPr>
          <a:xfrm>
            <a:off x="1070182" y="2637272"/>
            <a:ext cx="9313332" cy="584835"/>
          </a:xfrm>
          <a:prstGeom prst="rect">
            <a:avLst/>
          </a:prstGeom>
        </p:spPr>
        <p:txBody>
          <a:bodyPr lIns="0" tIns="0" rIns="0" bIns="0" rtlCol="0" anchor="t">
            <a:spAutoFit/>
          </a:bodyPr>
          <a:lstStyle/>
          <a:p>
            <a:pPr algn="l">
              <a:lnSpc>
                <a:spcPts val="4320"/>
              </a:lnSpc>
            </a:pPr>
            <a:r>
              <a:rPr lang="en-US" sz="4000" b="1">
                <a:solidFill>
                  <a:srgbClr val="017058"/>
                </a:solidFill>
                <a:latin typeface="Times New Roman Bold"/>
                <a:ea typeface="Times New Roman Bold"/>
                <a:cs typeface="Times New Roman Bold"/>
                <a:sym typeface="Times New Roman Bold"/>
              </a:rPr>
              <a:t>3.2.1 Module Avalon_RSA_Wrapper</a:t>
            </a:r>
          </a:p>
        </p:txBody>
      </p:sp>
      <p:sp>
        <p:nvSpPr>
          <p:cNvPr id="28" name="TextBox 28"/>
          <p:cNvSpPr txBox="1"/>
          <p:nvPr/>
        </p:nvSpPr>
        <p:spPr>
          <a:xfrm>
            <a:off x="17447714" y="9144000"/>
            <a:ext cx="508635" cy="1114425"/>
          </a:xfrm>
          <a:prstGeom prst="rect">
            <a:avLst/>
          </a:prstGeom>
        </p:spPr>
        <p:txBody>
          <a:bodyPr lIns="0" tIns="0" rIns="0" bIns="0" rtlCol="0" anchor="t">
            <a:spAutoFit/>
          </a:bodyPr>
          <a:lstStyle/>
          <a:p>
            <a:pPr algn="ctr">
              <a:lnSpc>
                <a:spcPts val="4320"/>
              </a:lnSpc>
            </a:pPr>
            <a:r>
              <a:rPr lang="en-US" sz="3600">
                <a:solidFill>
                  <a:srgbClr val="000000"/>
                </a:solidFill>
                <a:latin typeface="Arial"/>
                <a:ea typeface="Arial"/>
                <a:cs typeface="Arial"/>
                <a:sym typeface="Arial"/>
              </a:rPr>
              <a:t>17</a:t>
            </a:r>
          </a:p>
          <a:p>
            <a:pPr algn="ctr">
              <a:lnSpc>
                <a:spcPts val="4320"/>
              </a:lnSpc>
            </a:pPr>
            <a:endParaRPr lang="en-US" sz="3600">
              <a:solidFill>
                <a:srgbClr val="000000"/>
              </a:solidFill>
              <a:latin typeface="Arial"/>
              <a:ea typeface="Arial"/>
              <a:cs typeface="Arial"/>
              <a:sym typeface="Arial"/>
            </a:endParaRPr>
          </a:p>
        </p:txBody>
      </p:sp>
      <p:sp>
        <p:nvSpPr>
          <p:cNvPr id="29" name="TextBox 29"/>
          <p:cNvSpPr txBox="1"/>
          <p:nvPr/>
        </p:nvSpPr>
        <p:spPr>
          <a:xfrm>
            <a:off x="1246236" y="3428655"/>
            <a:ext cx="4935677" cy="571500"/>
          </a:xfrm>
          <a:prstGeom prst="rect">
            <a:avLst/>
          </a:prstGeom>
        </p:spPr>
        <p:txBody>
          <a:bodyPr lIns="0" tIns="0" rIns="0" bIns="0" rtlCol="0" anchor="t">
            <a:spAutoFit/>
          </a:bodyPr>
          <a:lstStyle/>
          <a:p>
            <a:pPr algn="ctr">
              <a:lnSpc>
                <a:spcPts val="4320"/>
              </a:lnSpc>
              <a:spcBef>
                <a:spcPct val="0"/>
              </a:spcBef>
            </a:pPr>
            <a:r>
              <a:rPr lang="en-US" sz="3600">
                <a:solidFill>
                  <a:srgbClr val="000000"/>
                </a:solidFill>
                <a:latin typeface="Arial"/>
                <a:ea typeface="Arial"/>
                <a:cs typeface="Arial"/>
                <a:sym typeface="Arial"/>
              </a:rPr>
              <a:t>Cơ chế điều khiển ghi:</a:t>
            </a:r>
          </a:p>
        </p:txBody>
      </p:sp>
      <p:sp>
        <p:nvSpPr>
          <p:cNvPr id="30" name="TextBox 30"/>
          <p:cNvSpPr txBox="1"/>
          <p:nvPr/>
        </p:nvSpPr>
        <p:spPr>
          <a:xfrm>
            <a:off x="10383513" y="5429978"/>
            <a:ext cx="7128872" cy="3448050"/>
          </a:xfrm>
          <a:prstGeom prst="rect">
            <a:avLst/>
          </a:prstGeom>
        </p:spPr>
        <p:txBody>
          <a:bodyPr lIns="0" tIns="0" rIns="0" bIns="0" rtlCol="0" anchor="t">
            <a:spAutoFit/>
          </a:bodyPr>
          <a:lstStyle/>
          <a:p>
            <a:pPr marL="539751" lvl="1" indent="-269876" algn="l">
              <a:lnSpc>
                <a:spcPts val="3000"/>
              </a:lnSpc>
              <a:spcBef>
                <a:spcPct val="0"/>
              </a:spcBef>
              <a:buFont typeface="Arial"/>
              <a:buChar char="•"/>
            </a:pPr>
            <a:r>
              <a:rPr lang="en-US" sz="2500">
                <a:solidFill>
                  <a:srgbClr val="000000"/>
                </a:solidFill>
                <a:latin typeface="Arial"/>
                <a:ea typeface="Arial"/>
                <a:cs typeface="Arial"/>
                <a:sym typeface="Arial"/>
              </a:rPr>
              <a:t>Nạp dữ liệu: Do bus Avalon rộng 32-bit, hệ thống dùng 5 bit cuối của địa chỉ để tính độ dời (bit_shift), nạp lần lượt dữ liệu 32-bit vào đúng vị trí của thanh ghi 1024-bit bằng cú pháp [bit_shift +: 32].</a:t>
            </a:r>
          </a:p>
          <a:p>
            <a:pPr algn="l">
              <a:lnSpc>
                <a:spcPts val="3000"/>
              </a:lnSpc>
              <a:spcBef>
                <a:spcPct val="0"/>
              </a:spcBef>
            </a:pPr>
            <a:endParaRPr lang="en-US" sz="2500">
              <a:solidFill>
                <a:srgbClr val="000000"/>
              </a:solidFill>
              <a:latin typeface="Arial"/>
              <a:ea typeface="Arial"/>
              <a:cs typeface="Arial"/>
              <a:sym typeface="Arial"/>
            </a:endParaRPr>
          </a:p>
          <a:p>
            <a:pPr marL="539751" lvl="1" indent="-269876" algn="l">
              <a:lnSpc>
                <a:spcPts val="3000"/>
              </a:lnSpc>
              <a:spcBef>
                <a:spcPct val="0"/>
              </a:spcBef>
              <a:buFont typeface="Arial"/>
              <a:buChar char="•"/>
            </a:pPr>
            <a:r>
              <a:rPr lang="en-US" sz="2500">
                <a:solidFill>
                  <a:srgbClr val="000000"/>
                </a:solidFill>
                <a:latin typeface="Arial"/>
                <a:ea typeface="Arial"/>
                <a:cs typeface="Arial"/>
                <a:sym typeface="Arial"/>
              </a:rPr>
              <a:t>Kích hoạt: Ghi bit 1 vào ADDR_CTRL_STAT sẽ tạo xung start_pulse để bắt đầu tính toán.</a:t>
            </a:r>
          </a:p>
          <a:p>
            <a:pPr algn="l">
              <a:lnSpc>
                <a:spcPts val="3000"/>
              </a:lnSpc>
              <a:spcBef>
                <a:spcPct val="0"/>
              </a:spcBef>
            </a:pPr>
            <a:endParaRPr lang="en-US" sz="2500">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124"/>
            <a:ext cx="18291715" cy="10295477"/>
            <a:chOff x="0" y="0"/>
            <a:chExt cx="24388953" cy="13727303"/>
          </a:xfrm>
        </p:grpSpPr>
        <p:sp>
          <p:nvSpPr>
            <p:cNvPr id="3" name="Freeform 3"/>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4" name="Group 4"/>
          <p:cNvGrpSpPr/>
          <p:nvPr/>
        </p:nvGrpSpPr>
        <p:grpSpPr>
          <a:xfrm>
            <a:off x="0" y="2124"/>
            <a:ext cx="18291715" cy="10295477"/>
            <a:chOff x="0" y="0"/>
            <a:chExt cx="24388953" cy="13727303"/>
          </a:xfrm>
        </p:grpSpPr>
        <p:sp>
          <p:nvSpPr>
            <p:cNvPr id="5" name="Freeform 5"/>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6" name="Group 6"/>
          <p:cNvGrpSpPr/>
          <p:nvPr/>
        </p:nvGrpSpPr>
        <p:grpSpPr>
          <a:xfrm rot="5400000">
            <a:off x="8668464" y="-8670055"/>
            <a:ext cx="947356" cy="18291715"/>
            <a:chOff x="0" y="0"/>
            <a:chExt cx="1263142" cy="24388953"/>
          </a:xfrm>
        </p:grpSpPr>
        <p:sp>
          <p:nvSpPr>
            <p:cNvPr id="7" name="Freeform 7"/>
            <p:cNvSpPr/>
            <p:nvPr/>
          </p:nvSpPr>
          <p:spPr>
            <a:xfrm>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gradFill rotWithShape="1">
              <a:gsLst>
                <a:gs pos="0">
                  <a:srgbClr val="10CC57">
                    <a:alpha val="100000"/>
                  </a:srgbClr>
                </a:gs>
                <a:gs pos="100000">
                  <a:srgbClr val="017058">
                    <a:alpha val="100000"/>
                  </a:srgbClr>
                </a:gs>
              </a:gsLst>
              <a:lin ang="0"/>
            </a:gradFill>
          </p:spPr>
          <p:txBody>
            <a:bodyPr/>
            <a:lstStyle/>
            <a:p>
              <a:endParaRPr lang="en-US"/>
            </a:p>
          </p:txBody>
        </p:sp>
      </p:grpSp>
      <p:grpSp>
        <p:nvGrpSpPr>
          <p:cNvPr id="8" name="Group 8"/>
          <p:cNvGrpSpPr/>
          <p:nvPr/>
        </p:nvGrpSpPr>
        <p:grpSpPr>
          <a:xfrm rot="-5400000">
            <a:off x="8670312" y="-8672208"/>
            <a:ext cx="947356" cy="18291715"/>
            <a:chOff x="0" y="0"/>
            <a:chExt cx="1263142" cy="24388953"/>
          </a:xfrm>
        </p:grpSpPr>
        <p:sp>
          <p:nvSpPr>
            <p:cNvPr id="9" name="Freeform 9"/>
            <p:cNvSpPr/>
            <p:nvPr/>
          </p:nvSpPr>
          <p:spPr>
            <a:xfrm flipH="1">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blipFill>
              <a:blip r:embed="rId2"/>
              <a:stretch>
                <a:fillRect l="-35092" r="-35091"/>
              </a:stretch>
            </a:blipFill>
          </p:spPr>
          <p:txBody>
            <a:bodyPr/>
            <a:lstStyle/>
            <a:p>
              <a:endParaRPr lang="en-US"/>
            </a:p>
          </p:txBody>
        </p:sp>
      </p:grpSp>
      <p:sp>
        <p:nvSpPr>
          <p:cNvPr id="10" name="TextBox 10"/>
          <p:cNvSpPr txBox="1"/>
          <p:nvPr/>
        </p:nvSpPr>
        <p:spPr>
          <a:xfrm>
            <a:off x="428996" y="227362"/>
            <a:ext cx="10993288" cy="456571"/>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11" name="Group 11"/>
          <p:cNvGrpSpPr/>
          <p:nvPr/>
        </p:nvGrpSpPr>
        <p:grpSpPr>
          <a:xfrm>
            <a:off x="6719983" y="457933"/>
            <a:ext cx="4848130" cy="958024"/>
            <a:chOff x="0" y="0"/>
            <a:chExt cx="6464173" cy="1277366"/>
          </a:xfrm>
        </p:grpSpPr>
        <p:sp>
          <p:nvSpPr>
            <p:cNvPr id="12" name="Freeform 12"/>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2700000"/>
            </a:gradFill>
          </p:spPr>
          <p:txBody>
            <a:bodyPr/>
            <a:lstStyle/>
            <a:p>
              <a:endParaRPr lang="en-US"/>
            </a:p>
          </p:txBody>
        </p:sp>
      </p:grpSp>
      <p:grpSp>
        <p:nvGrpSpPr>
          <p:cNvPr id="13" name="Group 13"/>
          <p:cNvGrpSpPr/>
          <p:nvPr/>
        </p:nvGrpSpPr>
        <p:grpSpPr>
          <a:xfrm>
            <a:off x="6807460" y="535972"/>
            <a:ext cx="4673060" cy="801815"/>
            <a:chOff x="0" y="0"/>
            <a:chExt cx="6230747" cy="1069086"/>
          </a:xfrm>
        </p:grpSpPr>
        <p:sp>
          <p:nvSpPr>
            <p:cNvPr id="14" name="Freeform 14"/>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en-US"/>
            </a:p>
          </p:txBody>
        </p:sp>
      </p:grpSp>
      <p:grpSp>
        <p:nvGrpSpPr>
          <p:cNvPr id="15" name="Group 15"/>
          <p:cNvGrpSpPr/>
          <p:nvPr/>
        </p:nvGrpSpPr>
        <p:grpSpPr>
          <a:xfrm>
            <a:off x="9436446" y="362541"/>
            <a:ext cx="1163288" cy="1152620"/>
            <a:chOff x="0" y="0"/>
            <a:chExt cx="1551051" cy="1536827"/>
          </a:xfrm>
        </p:grpSpPr>
        <p:sp>
          <p:nvSpPr>
            <p:cNvPr id="16" name="Freeform 16"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211" r="-210"/>
              </a:stretch>
            </a:blipFill>
          </p:spPr>
          <p:txBody>
            <a:bodyPr/>
            <a:lstStyle/>
            <a:p>
              <a:endParaRPr lang="en-US"/>
            </a:p>
          </p:txBody>
        </p:sp>
      </p:grpSp>
      <p:grpSp>
        <p:nvGrpSpPr>
          <p:cNvPr id="17" name="Group 17"/>
          <p:cNvGrpSpPr/>
          <p:nvPr/>
        </p:nvGrpSpPr>
        <p:grpSpPr>
          <a:xfrm>
            <a:off x="7688247" y="398078"/>
            <a:ext cx="1307497" cy="1081564"/>
            <a:chOff x="0" y="0"/>
            <a:chExt cx="1743329" cy="1442085"/>
          </a:xfrm>
        </p:grpSpPr>
        <p:sp>
          <p:nvSpPr>
            <p:cNvPr id="18" name="Freeform 18"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l="-38" r="-37"/>
              </a:stretch>
            </a:blipFill>
          </p:spPr>
          <p:txBody>
            <a:bodyPr/>
            <a:lstStyle/>
            <a:p>
              <a:endParaRPr lang="en-US"/>
            </a:p>
          </p:txBody>
        </p:sp>
      </p:grpSp>
      <p:grpSp>
        <p:nvGrpSpPr>
          <p:cNvPr id="19" name="Group 19"/>
          <p:cNvGrpSpPr/>
          <p:nvPr/>
        </p:nvGrpSpPr>
        <p:grpSpPr>
          <a:xfrm>
            <a:off x="908999" y="1555147"/>
            <a:ext cx="16470001" cy="1335996"/>
            <a:chOff x="0" y="0"/>
            <a:chExt cx="21960002" cy="1781327"/>
          </a:xfrm>
        </p:grpSpPr>
        <p:sp>
          <p:nvSpPr>
            <p:cNvPr id="20" name="Freeform 20"/>
            <p:cNvSpPr/>
            <p:nvPr/>
          </p:nvSpPr>
          <p:spPr>
            <a:xfrm>
              <a:off x="0" y="0"/>
              <a:ext cx="21959951" cy="1781302"/>
            </a:xfrm>
            <a:custGeom>
              <a:avLst/>
              <a:gdLst/>
              <a:ahLst/>
              <a:cxnLst/>
              <a:rect l="l" t="t" r="r" b="b"/>
              <a:pathLst>
                <a:path w="21959951" h="1781302">
                  <a:moveTo>
                    <a:pt x="0" y="0"/>
                  </a:moveTo>
                  <a:lnTo>
                    <a:pt x="21959951" y="0"/>
                  </a:lnTo>
                  <a:lnTo>
                    <a:pt x="21959951" y="1781302"/>
                  </a:lnTo>
                  <a:lnTo>
                    <a:pt x="0" y="1781302"/>
                  </a:lnTo>
                  <a:close/>
                </a:path>
              </a:pathLst>
            </a:custGeom>
            <a:blipFill>
              <a:blip r:embed="rId5">
                <a:alphaModFix amt="0"/>
              </a:blip>
              <a:stretch>
                <a:fillRect t="-190044" b="-190046"/>
              </a:stretch>
            </a:blipFill>
          </p:spPr>
          <p:txBody>
            <a:bodyPr/>
            <a:lstStyle/>
            <a:p>
              <a:endParaRPr lang="en-US"/>
            </a:p>
          </p:txBody>
        </p:sp>
      </p:grpSp>
      <p:grpSp>
        <p:nvGrpSpPr>
          <p:cNvPr id="21" name="Group 21"/>
          <p:cNvGrpSpPr/>
          <p:nvPr/>
        </p:nvGrpSpPr>
        <p:grpSpPr>
          <a:xfrm>
            <a:off x="908999" y="1576578"/>
            <a:ext cx="16470001" cy="1314564"/>
            <a:chOff x="0" y="0"/>
            <a:chExt cx="21960002" cy="1752752"/>
          </a:xfrm>
        </p:grpSpPr>
        <p:sp>
          <p:nvSpPr>
            <p:cNvPr id="22" name="Freeform 22"/>
            <p:cNvSpPr/>
            <p:nvPr/>
          </p:nvSpPr>
          <p:spPr>
            <a:xfrm>
              <a:off x="0" y="0"/>
              <a:ext cx="21960001" cy="1752750"/>
            </a:xfrm>
            <a:custGeom>
              <a:avLst/>
              <a:gdLst/>
              <a:ahLst/>
              <a:cxnLst/>
              <a:rect l="l" t="t" r="r" b="b"/>
              <a:pathLst>
                <a:path w="21960001" h="1752750">
                  <a:moveTo>
                    <a:pt x="0" y="0"/>
                  </a:moveTo>
                  <a:lnTo>
                    <a:pt x="21960001" y="0"/>
                  </a:lnTo>
                  <a:lnTo>
                    <a:pt x="21960001" y="1752750"/>
                  </a:lnTo>
                  <a:lnTo>
                    <a:pt x="0" y="1752750"/>
                  </a:lnTo>
                  <a:close/>
                </a:path>
              </a:pathLst>
            </a:custGeom>
            <a:blipFill>
              <a:blip r:embed="rId6">
                <a:alphaModFix amt="0"/>
              </a:blip>
              <a:stretch>
                <a:fillRect t="-194125" b="-194125"/>
              </a:stretch>
            </a:blipFill>
          </p:spPr>
          <p:txBody>
            <a:bodyPr/>
            <a:lstStyle/>
            <a:p>
              <a:endParaRPr lang="en-US"/>
            </a:p>
          </p:txBody>
        </p:sp>
        <p:sp>
          <p:nvSpPr>
            <p:cNvPr id="23" name="TextBox 23"/>
            <p:cNvSpPr txBox="1"/>
            <p:nvPr/>
          </p:nvSpPr>
          <p:spPr>
            <a:xfrm>
              <a:off x="0" y="28575"/>
              <a:ext cx="21960002" cy="1724177"/>
            </a:xfrm>
            <a:prstGeom prst="rect">
              <a:avLst/>
            </a:prstGeom>
          </p:spPr>
          <p:txBody>
            <a:bodyPr lIns="0" tIns="0" rIns="0" bIns="0" rtlCol="0" anchor="ctr"/>
            <a:lstStyle/>
            <a:p>
              <a:pPr algn="l">
                <a:lnSpc>
                  <a:spcPts val="6048"/>
                </a:lnSpc>
              </a:pPr>
              <a:r>
                <a:rPr lang="en-US" sz="5599" b="1">
                  <a:solidFill>
                    <a:srgbClr val="017058"/>
                  </a:solidFill>
                  <a:latin typeface="Times New Roman Bold"/>
                  <a:ea typeface="Times New Roman Bold"/>
                  <a:cs typeface="Times New Roman Bold"/>
                  <a:sym typeface="Times New Roman Bold"/>
                </a:rPr>
                <a:t>3. Thiết kế hệ thống phần cứng </a:t>
              </a:r>
            </a:p>
          </p:txBody>
        </p:sp>
      </p:grpSp>
      <p:sp>
        <p:nvSpPr>
          <p:cNvPr id="24" name="Freeform 24"/>
          <p:cNvSpPr/>
          <p:nvPr/>
        </p:nvSpPr>
        <p:spPr>
          <a:xfrm>
            <a:off x="10383513" y="3814340"/>
            <a:ext cx="6519886" cy="710763"/>
          </a:xfrm>
          <a:custGeom>
            <a:avLst/>
            <a:gdLst/>
            <a:ahLst/>
            <a:cxnLst/>
            <a:rect l="l" t="t" r="r" b="b"/>
            <a:pathLst>
              <a:path w="6519886" h="710763">
                <a:moveTo>
                  <a:pt x="0" y="0"/>
                </a:moveTo>
                <a:lnTo>
                  <a:pt x="6519887" y="0"/>
                </a:lnTo>
                <a:lnTo>
                  <a:pt x="6519887" y="710763"/>
                </a:lnTo>
                <a:lnTo>
                  <a:pt x="0" y="710763"/>
                </a:lnTo>
                <a:lnTo>
                  <a:pt x="0" y="0"/>
                </a:lnTo>
                <a:close/>
              </a:path>
            </a:pathLst>
          </a:custGeom>
          <a:blipFill>
            <a:blip r:embed="rId7"/>
            <a:stretch>
              <a:fillRect/>
            </a:stretch>
          </a:blipFill>
        </p:spPr>
        <p:txBody>
          <a:bodyPr/>
          <a:lstStyle/>
          <a:p>
            <a:endParaRPr lang="en-US"/>
          </a:p>
        </p:txBody>
      </p:sp>
      <p:sp>
        <p:nvSpPr>
          <p:cNvPr id="25" name="Freeform 25"/>
          <p:cNvSpPr/>
          <p:nvPr/>
        </p:nvSpPr>
        <p:spPr>
          <a:xfrm>
            <a:off x="908999" y="4169721"/>
            <a:ext cx="8771854" cy="4923203"/>
          </a:xfrm>
          <a:custGeom>
            <a:avLst/>
            <a:gdLst/>
            <a:ahLst/>
            <a:cxnLst/>
            <a:rect l="l" t="t" r="r" b="b"/>
            <a:pathLst>
              <a:path w="8771854" h="4923203">
                <a:moveTo>
                  <a:pt x="0" y="0"/>
                </a:moveTo>
                <a:lnTo>
                  <a:pt x="8771854" y="0"/>
                </a:lnTo>
                <a:lnTo>
                  <a:pt x="8771854" y="4923203"/>
                </a:lnTo>
                <a:lnTo>
                  <a:pt x="0" y="4923203"/>
                </a:lnTo>
                <a:lnTo>
                  <a:pt x="0" y="0"/>
                </a:lnTo>
                <a:close/>
              </a:path>
            </a:pathLst>
          </a:custGeom>
          <a:blipFill>
            <a:blip r:embed="rId8"/>
            <a:stretch>
              <a:fillRect/>
            </a:stretch>
          </a:blipFill>
        </p:spPr>
        <p:txBody>
          <a:bodyPr/>
          <a:lstStyle/>
          <a:p>
            <a:endParaRPr lang="en-US"/>
          </a:p>
        </p:txBody>
      </p:sp>
      <p:sp>
        <p:nvSpPr>
          <p:cNvPr id="26" name="TextBox 26"/>
          <p:cNvSpPr txBox="1"/>
          <p:nvPr/>
        </p:nvSpPr>
        <p:spPr>
          <a:xfrm>
            <a:off x="68570" y="-2318490"/>
            <a:ext cx="18150850" cy="569719"/>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sp>
        <p:nvSpPr>
          <p:cNvPr id="27" name="TextBox 27"/>
          <p:cNvSpPr txBox="1"/>
          <p:nvPr/>
        </p:nvSpPr>
        <p:spPr>
          <a:xfrm>
            <a:off x="1070182" y="2637272"/>
            <a:ext cx="9313332" cy="584835"/>
          </a:xfrm>
          <a:prstGeom prst="rect">
            <a:avLst/>
          </a:prstGeom>
        </p:spPr>
        <p:txBody>
          <a:bodyPr lIns="0" tIns="0" rIns="0" bIns="0" rtlCol="0" anchor="t">
            <a:spAutoFit/>
          </a:bodyPr>
          <a:lstStyle/>
          <a:p>
            <a:pPr algn="l">
              <a:lnSpc>
                <a:spcPts val="4320"/>
              </a:lnSpc>
            </a:pPr>
            <a:r>
              <a:rPr lang="en-US" sz="4000" b="1">
                <a:solidFill>
                  <a:srgbClr val="017058"/>
                </a:solidFill>
                <a:latin typeface="Times New Roman Bold"/>
                <a:ea typeface="Times New Roman Bold"/>
                <a:cs typeface="Times New Roman Bold"/>
                <a:sym typeface="Times New Roman Bold"/>
              </a:rPr>
              <a:t>3.2.1 Module Avalon_RSA_Wrapper</a:t>
            </a:r>
          </a:p>
        </p:txBody>
      </p:sp>
      <p:sp>
        <p:nvSpPr>
          <p:cNvPr id="28" name="TextBox 28"/>
          <p:cNvSpPr txBox="1"/>
          <p:nvPr/>
        </p:nvSpPr>
        <p:spPr>
          <a:xfrm>
            <a:off x="17447714" y="9144000"/>
            <a:ext cx="508635" cy="1114425"/>
          </a:xfrm>
          <a:prstGeom prst="rect">
            <a:avLst/>
          </a:prstGeom>
        </p:spPr>
        <p:txBody>
          <a:bodyPr lIns="0" tIns="0" rIns="0" bIns="0" rtlCol="0" anchor="t">
            <a:spAutoFit/>
          </a:bodyPr>
          <a:lstStyle/>
          <a:p>
            <a:pPr algn="ctr">
              <a:lnSpc>
                <a:spcPts val="4320"/>
              </a:lnSpc>
            </a:pPr>
            <a:r>
              <a:rPr lang="en-US" sz="3600">
                <a:solidFill>
                  <a:srgbClr val="000000"/>
                </a:solidFill>
                <a:latin typeface="Arial"/>
                <a:ea typeface="Arial"/>
                <a:cs typeface="Arial"/>
                <a:sym typeface="Arial"/>
              </a:rPr>
              <a:t>18</a:t>
            </a:r>
          </a:p>
          <a:p>
            <a:pPr algn="ctr">
              <a:lnSpc>
                <a:spcPts val="4320"/>
              </a:lnSpc>
            </a:pPr>
            <a:endParaRPr lang="en-US" sz="3600">
              <a:solidFill>
                <a:srgbClr val="000000"/>
              </a:solidFill>
              <a:latin typeface="Arial"/>
              <a:ea typeface="Arial"/>
              <a:cs typeface="Arial"/>
              <a:sym typeface="Arial"/>
            </a:endParaRPr>
          </a:p>
        </p:txBody>
      </p:sp>
      <p:sp>
        <p:nvSpPr>
          <p:cNvPr id="29" name="TextBox 29"/>
          <p:cNvSpPr txBox="1"/>
          <p:nvPr/>
        </p:nvSpPr>
        <p:spPr>
          <a:xfrm>
            <a:off x="1246236" y="3428655"/>
            <a:ext cx="4935677" cy="571500"/>
          </a:xfrm>
          <a:prstGeom prst="rect">
            <a:avLst/>
          </a:prstGeom>
        </p:spPr>
        <p:txBody>
          <a:bodyPr lIns="0" tIns="0" rIns="0" bIns="0" rtlCol="0" anchor="t">
            <a:spAutoFit/>
          </a:bodyPr>
          <a:lstStyle/>
          <a:p>
            <a:pPr algn="ctr">
              <a:lnSpc>
                <a:spcPts val="4320"/>
              </a:lnSpc>
              <a:spcBef>
                <a:spcPct val="0"/>
              </a:spcBef>
            </a:pPr>
            <a:r>
              <a:rPr lang="en-US" sz="3600">
                <a:solidFill>
                  <a:srgbClr val="000000"/>
                </a:solidFill>
                <a:latin typeface="Arial"/>
                <a:ea typeface="Arial"/>
                <a:cs typeface="Arial"/>
                <a:sym typeface="Arial"/>
              </a:rPr>
              <a:t>Cơ chế điều khiển đọc:</a:t>
            </a:r>
          </a:p>
        </p:txBody>
      </p:sp>
      <p:sp>
        <p:nvSpPr>
          <p:cNvPr id="30" name="TextBox 30"/>
          <p:cNvSpPr txBox="1"/>
          <p:nvPr/>
        </p:nvSpPr>
        <p:spPr>
          <a:xfrm>
            <a:off x="10383513" y="5429978"/>
            <a:ext cx="7128872" cy="3448050"/>
          </a:xfrm>
          <a:prstGeom prst="rect">
            <a:avLst/>
          </a:prstGeom>
        </p:spPr>
        <p:txBody>
          <a:bodyPr lIns="0" tIns="0" rIns="0" bIns="0" rtlCol="0" anchor="t">
            <a:spAutoFit/>
          </a:bodyPr>
          <a:lstStyle/>
          <a:p>
            <a:pPr marL="539751" lvl="1" indent="-269876" algn="l">
              <a:lnSpc>
                <a:spcPts val="3000"/>
              </a:lnSpc>
              <a:spcBef>
                <a:spcPct val="0"/>
              </a:spcBef>
              <a:buFont typeface="Arial"/>
              <a:buChar char="•"/>
            </a:pPr>
            <a:r>
              <a:rPr lang="en-US" sz="2500">
                <a:solidFill>
                  <a:srgbClr val="000000"/>
                </a:solidFill>
                <a:latin typeface="Arial"/>
                <a:ea typeface="Arial"/>
                <a:cs typeface="Arial"/>
                <a:sym typeface="Arial"/>
              </a:rPr>
              <a:t>Lấy dữ liệu: Khi avalon_read kích hoạt, hệ thống dịch phải thanh ghi 1024-bit tương ứng (&gt;&gt; bit_shift) để đẩy chính xác cụm 32-bit cần thiết ra cổng avalon_readdata.</a:t>
            </a:r>
          </a:p>
          <a:p>
            <a:pPr algn="l">
              <a:lnSpc>
                <a:spcPts val="3000"/>
              </a:lnSpc>
              <a:spcBef>
                <a:spcPct val="0"/>
              </a:spcBef>
            </a:pPr>
            <a:endParaRPr lang="en-US" sz="2500">
              <a:solidFill>
                <a:srgbClr val="000000"/>
              </a:solidFill>
              <a:latin typeface="Arial"/>
              <a:ea typeface="Arial"/>
              <a:cs typeface="Arial"/>
              <a:sym typeface="Arial"/>
            </a:endParaRPr>
          </a:p>
          <a:p>
            <a:pPr marL="539751" lvl="1" indent="-269876" algn="l">
              <a:lnSpc>
                <a:spcPts val="3000"/>
              </a:lnSpc>
              <a:spcBef>
                <a:spcPct val="0"/>
              </a:spcBef>
              <a:buFont typeface="Arial"/>
              <a:buChar char="•"/>
            </a:pPr>
            <a:r>
              <a:rPr lang="en-US" sz="2500">
                <a:solidFill>
                  <a:srgbClr val="000000"/>
                </a:solidFill>
                <a:latin typeface="Arial"/>
                <a:ea typeface="Arial"/>
                <a:cs typeface="Arial"/>
                <a:sym typeface="Arial"/>
              </a:rPr>
              <a:t>Kiểm tra trạng thái: CPU đọc địa chỉ ADDR_CTRL_STAT để xem cờ done_flag báo hiệu phần cứng đã tính toán xong chưa.</a:t>
            </a:r>
          </a:p>
          <a:p>
            <a:pPr algn="l">
              <a:lnSpc>
                <a:spcPts val="3000"/>
              </a:lnSpc>
              <a:spcBef>
                <a:spcPct val="0"/>
              </a:spcBef>
            </a:pPr>
            <a:endParaRPr lang="en-US" sz="2500">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70" y="-2318490"/>
            <a:ext cx="18150850" cy="569719"/>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grpSp>
        <p:nvGrpSpPr>
          <p:cNvPr id="3" name="Group 3"/>
          <p:cNvGrpSpPr/>
          <p:nvPr/>
        </p:nvGrpSpPr>
        <p:grpSpPr>
          <a:xfrm>
            <a:off x="0" y="2124"/>
            <a:ext cx="18291715" cy="10295477"/>
            <a:chOff x="0" y="0"/>
            <a:chExt cx="24388953" cy="13727303"/>
          </a:xfrm>
        </p:grpSpPr>
        <p:sp>
          <p:nvSpPr>
            <p:cNvPr id="4" name="Freeform 4"/>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5" name="Group 5"/>
          <p:cNvGrpSpPr/>
          <p:nvPr/>
        </p:nvGrpSpPr>
        <p:grpSpPr>
          <a:xfrm>
            <a:off x="-36214" y="0"/>
            <a:ext cx="6084570" cy="10287000"/>
            <a:chOff x="0" y="0"/>
            <a:chExt cx="8112760" cy="13716000"/>
          </a:xfrm>
        </p:grpSpPr>
        <p:sp>
          <p:nvSpPr>
            <p:cNvPr id="6" name="Freeform 6"/>
            <p:cNvSpPr/>
            <p:nvPr/>
          </p:nvSpPr>
          <p:spPr>
            <a:xfrm>
              <a:off x="0" y="0"/>
              <a:ext cx="8112760" cy="13716000"/>
            </a:xfrm>
            <a:custGeom>
              <a:avLst/>
              <a:gdLst/>
              <a:ahLst/>
              <a:cxnLst/>
              <a:rect l="l" t="t" r="r" b="b"/>
              <a:pathLst>
                <a:path w="8112760" h="13716000">
                  <a:moveTo>
                    <a:pt x="0" y="0"/>
                  </a:moveTo>
                  <a:lnTo>
                    <a:pt x="8112760" y="0"/>
                  </a:lnTo>
                  <a:lnTo>
                    <a:pt x="8112760" y="13716000"/>
                  </a:lnTo>
                  <a:lnTo>
                    <a:pt x="0" y="13716000"/>
                  </a:lnTo>
                  <a:close/>
                </a:path>
              </a:pathLst>
            </a:custGeom>
            <a:gradFill rotWithShape="1">
              <a:gsLst>
                <a:gs pos="0">
                  <a:srgbClr val="38EF7D">
                    <a:alpha val="100000"/>
                  </a:srgbClr>
                </a:gs>
                <a:gs pos="100000">
                  <a:srgbClr val="11998E">
                    <a:alpha val="100000"/>
                  </a:srgbClr>
                </a:gs>
              </a:gsLst>
              <a:lin ang="5400000"/>
            </a:gradFill>
          </p:spPr>
          <p:txBody>
            <a:bodyPr/>
            <a:lstStyle/>
            <a:p>
              <a:endParaRPr lang="en-US"/>
            </a:p>
          </p:txBody>
        </p:sp>
      </p:grpSp>
      <p:grpSp>
        <p:nvGrpSpPr>
          <p:cNvPr id="7" name="Group 7"/>
          <p:cNvGrpSpPr/>
          <p:nvPr/>
        </p:nvGrpSpPr>
        <p:grpSpPr>
          <a:xfrm rot="-10800000">
            <a:off x="-46892" y="0"/>
            <a:ext cx="2707196" cy="10287000"/>
            <a:chOff x="0" y="0"/>
            <a:chExt cx="3609594" cy="13716000"/>
          </a:xfrm>
        </p:grpSpPr>
        <p:sp>
          <p:nvSpPr>
            <p:cNvPr id="8" name="Freeform 8"/>
            <p:cNvSpPr/>
            <p:nvPr/>
          </p:nvSpPr>
          <p:spPr>
            <a:xfrm flipH="1">
              <a:off x="0" y="0"/>
              <a:ext cx="3609594" cy="13716000"/>
            </a:xfrm>
            <a:custGeom>
              <a:avLst/>
              <a:gdLst/>
              <a:ahLst/>
              <a:cxnLst/>
              <a:rect l="l" t="t" r="r" b="b"/>
              <a:pathLst>
                <a:path w="3609594" h="13716000">
                  <a:moveTo>
                    <a:pt x="0" y="0"/>
                  </a:moveTo>
                  <a:lnTo>
                    <a:pt x="3609594" y="0"/>
                  </a:lnTo>
                  <a:lnTo>
                    <a:pt x="3609594" y="13716000"/>
                  </a:lnTo>
                  <a:lnTo>
                    <a:pt x="0" y="13716000"/>
                  </a:lnTo>
                  <a:close/>
                </a:path>
              </a:pathLst>
            </a:custGeom>
            <a:blipFill>
              <a:blip r:embed="rId2"/>
              <a:stretch>
                <a:fillRect l="-2907" r="-2907"/>
              </a:stretch>
            </a:blipFill>
          </p:spPr>
          <p:txBody>
            <a:bodyPr/>
            <a:lstStyle/>
            <a:p>
              <a:endParaRPr lang="en-US"/>
            </a:p>
          </p:txBody>
        </p:sp>
      </p:grpSp>
      <p:sp>
        <p:nvSpPr>
          <p:cNvPr id="9" name="TextBox 9"/>
          <p:cNvSpPr txBox="1"/>
          <p:nvPr/>
        </p:nvSpPr>
        <p:spPr>
          <a:xfrm rot="-5400000">
            <a:off x="-2642312" y="6723250"/>
            <a:ext cx="6122451" cy="458333"/>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10" name="Group 10"/>
          <p:cNvGrpSpPr/>
          <p:nvPr/>
        </p:nvGrpSpPr>
        <p:grpSpPr>
          <a:xfrm>
            <a:off x="6719983" y="293303"/>
            <a:ext cx="4848130" cy="958024"/>
            <a:chOff x="0" y="0"/>
            <a:chExt cx="6464173" cy="1277366"/>
          </a:xfrm>
        </p:grpSpPr>
        <p:sp>
          <p:nvSpPr>
            <p:cNvPr id="11" name="Freeform 11"/>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2700000"/>
            </a:gradFill>
          </p:spPr>
          <p:txBody>
            <a:bodyPr/>
            <a:lstStyle/>
            <a:p>
              <a:endParaRPr lang="en-US"/>
            </a:p>
          </p:txBody>
        </p:sp>
      </p:grpSp>
      <p:grpSp>
        <p:nvGrpSpPr>
          <p:cNvPr id="12" name="Group 12"/>
          <p:cNvGrpSpPr/>
          <p:nvPr/>
        </p:nvGrpSpPr>
        <p:grpSpPr>
          <a:xfrm>
            <a:off x="6807460" y="371332"/>
            <a:ext cx="4673060" cy="801815"/>
            <a:chOff x="0" y="0"/>
            <a:chExt cx="6230747" cy="1069086"/>
          </a:xfrm>
        </p:grpSpPr>
        <p:sp>
          <p:nvSpPr>
            <p:cNvPr id="13" name="Freeform 13"/>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en-US"/>
            </a:p>
          </p:txBody>
        </p:sp>
      </p:grpSp>
      <p:grpSp>
        <p:nvGrpSpPr>
          <p:cNvPr id="14" name="Group 14"/>
          <p:cNvGrpSpPr/>
          <p:nvPr/>
        </p:nvGrpSpPr>
        <p:grpSpPr>
          <a:xfrm>
            <a:off x="9436446" y="197910"/>
            <a:ext cx="1163288" cy="1152620"/>
            <a:chOff x="0" y="0"/>
            <a:chExt cx="1551051" cy="1536827"/>
          </a:xfrm>
        </p:grpSpPr>
        <p:sp>
          <p:nvSpPr>
            <p:cNvPr id="15" name="Freeform 15"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211" r="-210"/>
              </a:stretch>
            </a:blipFill>
          </p:spPr>
          <p:txBody>
            <a:bodyPr/>
            <a:lstStyle/>
            <a:p>
              <a:endParaRPr lang="en-US"/>
            </a:p>
          </p:txBody>
        </p:sp>
      </p:grpSp>
      <p:grpSp>
        <p:nvGrpSpPr>
          <p:cNvPr id="16" name="Group 16"/>
          <p:cNvGrpSpPr/>
          <p:nvPr/>
        </p:nvGrpSpPr>
        <p:grpSpPr>
          <a:xfrm>
            <a:off x="7688247" y="233439"/>
            <a:ext cx="1307497" cy="1081564"/>
            <a:chOff x="0" y="0"/>
            <a:chExt cx="1743329" cy="1442085"/>
          </a:xfrm>
        </p:grpSpPr>
        <p:sp>
          <p:nvSpPr>
            <p:cNvPr id="17" name="Freeform 17"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l="-38" r="-37"/>
              </a:stretch>
            </a:blipFill>
          </p:spPr>
          <p:txBody>
            <a:bodyPr/>
            <a:lstStyle/>
            <a:p>
              <a:endParaRPr lang="en-US"/>
            </a:p>
          </p:txBody>
        </p:sp>
      </p:grpSp>
      <p:grpSp>
        <p:nvGrpSpPr>
          <p:cNvPr id="18" name="Group 18"/>
          <p:cNvGrpSpPr/>
          <p:nvPr/>
        </p:nvGrpSpPr>
        <p:grpSpPr>
          <a:xfrm>
            <a:off x="17262338" y="364607"/>
            <a:ext cx="819150" cy="819150"/>
            <a:chOff x="0" y="0"/>
            <a:chExt cx="1092200" cy="1092200"/>
          </a:xfrm>
        </p:grpSpPr>
        <p:sp>
          <p:nvSpPr>
            <p:cNvPr id="19" name="Freeform 19"/>
            <p:cNvSpPr/>
            <p:nvPr/>
          </p:nvSpPr>
          <p:spPr>
            <a:xfrm>
              <a:off x="0" y="0"/>
              <a:ext cx="1092200" cy="1092200"/>
            </a:xfrm>
            <a:custGeom>
              <a:avLst/>
              <a:gdLst/>
              <a:ahLst/>
              <a:cxnLst/>
              <a:rect l="l" t="t" r="r" b="b"/>
              <a:pathLst>
                <a:path w="1092200" h="1092200">
                  <a:moveTo>
                    <a:pt x="0" y="546100"/>
                  </a:moveTo>
                  <a:cubicBezTo>
                    <a:pt x="0" y="244475"/>
                    <a:pt x="244475" y="0"/>
                    <a:pt x="546100" y="0"/>
                  </a:cubicBezTo>
                  <a:cubicBezTo>
                    <a:pt x="847725" y="0"/>
                    <a:pt x="1092200" y="244475"/>
                    <a:pt x="1092200" y="546100"/>
                  </a:cubicBezTo>
                  <a:cubicBezTo>
                    <a:pt x="1092200" y="847725"/>
                    <a:pt x="847725" y="1092200"/>
                    <a:pt x="546100" y="1092200"/>
                  </a:cubicBezTo>
                  <a:cubicBezTo>
                    <a:pt x="244475" y="1092200"/>
                    <a:pt x="0" y="847725"/>
                    <a:pt x="0" y="546100"/>
                  </a:cubicBezTo>
                  <a:close/>
                </a:path>
              </a:pathLst>
            </a:custGeom>
            <a:gradFill rotWithShape="1">
              <a:gsLst>
                <a:gs pos="0">
                  <a:srgbClr val="38EF7D">
                    <a:alpha val="65098"/>
                  </a:srgbClr>
                </a:gs>
                <a:gs pos="100000">
                  <a:srgbClr val="11998E">
                    <a:alpha val="64705"/>
                  </a:srgbClr>
                </a:gs>
              </a:gsLst>
              <a:lin ang="2700000"/>
            </a:gradFill>
          </p:spPr>
          <p:txBody>
            <a:bodyPr/>
            <a:lstStyle/>
            <a:p>
              <a:endParaRPr lang="en-US"/>
            </a:p>
          </p:txBody>
        </p:sp>
      </p:grpSp>
      <p:grpSp>
        <p:nvGrpSpPr>
          <p:cNvPr id="20" name="Group 20"/>
          <p:cNvGrpSpPr/>
          <p:nvPr/>
        </p:nvGrpSpPr>
        <p:grpSpPr>
          <a:xfrm>
            <a:off x="17486462" y="588731"/>
            <a:ext cx="370999" cy="370999"/>
            <a:chOff x="0" y="0"/>
            <a:chExt cx="494665" cy="494665"/>
          </a:xfrm>
        </p:grpSpPr>
        <p:sp>
          <p:nvSpPr>
            <p:cNvPr id="21" name="Freeform 21"/>
            <p:cNvSpPr/>
            <p:nvPr/>
          </p:nvSpPr>
          <p:spPr>
            <a:xfrm>
              <a:off x="0" y="0"/>
              <a:ext cx="494665" cy="494665"/>
            </a:xfrm>
            <a:custGeom>
              <a:avLst/>
              <a:gdLst/>
              <a:ahLst/>
              <a:cxnLst/>
              <a:rect l="l" t="t" r="r" b="b"/>
              <a:pathLst>
                <a:path w="494665" h="494665">
                  <a:moveTo>
                    <a:pt x="0" y="247269"/>
                  </a:moveTo>
                  <a:cubicBezTo>
                    <a:pt x="0" y="110744"/>
                    <a:pt x="110744" y="0"/>
                    <a:pt x="247269" y="0"/>
                  </a:cubicBezTo>
                  <a:cubicBezTo>
                    <a:pt x="383794" y="0"/>
                    <a:pt x="494665" y="110744"/>
                    <a:pt x="494665" y="247269"/>
                  </a:cubicBezTo>
                  <a:cubicBezTo>
                    <a:pt x="494665" y="383794"/>
                    <a:pt x="383921" y="494665"/>
                    <a:pt x="247269" y="494665"/>
                  </a:cubicBezTo>
                  <a:cubicBezTo>
                    <a:pt x="110617" y="494665"/>
                    <a:pt x="0" y="383921"/>
                    <a:pt x="0" y="247269"/>
                  </a:cubicBezTo>
                  <a:close/>
                </a:path>
              </a:pathLst>
            </a:custGeom>
            <a:gradFill rotWithShape="1">
              <a:gsLst>
                <a:gs pos="0">
                  <a:srgbClr val="38EF7D">
                    <a:alpha val="65098"/>
                  </a:srgbClr>
                </a:gs>
                <a:gs pos="100000">
                  <a:srgbClr val="11998E">
                    <a:alpha val="64705"/>
                  </a:srgbClr>
                </a:gs>
              </a:gsLst>
              <a:lin ang="2700000"/>
            </a:gradFill>
          </p:spPr>
          <p:txBody>
            <a:bodyPr/>
            <a:lstStyle/>
            <a:p>
              <a:endParaRPr lang="en-US"/>
            </a:p>
          </p:txBody>
        </p:sp>
      </p:grpSp>
      <p:grpSp>
        <p:nvGrpSpPr>
          <p:cNvPr id="22" name="Group 22"/>
          <p:cNvGrpSpPr/>
          <p:nvPr/>
        </p:nvGrpSpPr>
        <p:grpSpPr>
          <a:xfrm>
            <a:off x="1705232" y="2175643"/>
            <a:ext cx="15316010" cy="6434518"/>
            <a:chOff x="0" y="0"/>
            <a:chExt cx="20421346" cy="8579358"/>
          </a:xfrm>
        </p:grpSpPr>
        <p:sp>
          <p:nvSpPr>
            <p:cNvPr id="23" name="Freeform 23"/>
            <p:cNvSpPr/>
            <p:nvPr/>
          </p:nvSpPr>
          <p:spPr>
            <a:xfrm>
              <a:off x="0" y="0"/>
              <a:ext cx="20421346" cy="8579358"/>
            </a:xfrm>
            <a:custGeom>
              <a:avLst/>
              <a:gdLst/>
              <a:ahLst/>
              <a:cxnLst/>
              <a:rect l="l" t="t" r="r" b="b"/>
              <a:pathLst>
                <a:path w="20421346" h="8579358">
                  <a:moveTo>
                    <a:pt x="0" y="231775"/>
                  </a:moveTo>
                  <a:cubicBezTo>
                    <a:pt x="0" y="103759"/>
                    <a:pt x="103759" y="0"/>
                    <a:pt x="231775" y="0"/>
                  </a:cubicBezTo>
                  <a:lnTo>
                    <a:pt x="20189571" y="0"/>
                  </a:lnTo>
                  <a:cubicBezTo>
                    <a:pt x="20317586" y="0"/>
                    <a:pt x="20421346" y="103759"/>
                    <a:pt x="20421346" y="231775"/>
                  </a:cubicBezTo>
                  <a:lnTo>
                    <a:pt x="20421346" y="8347583"/>
                  </a:lnTo>
                  <a:cubicBezTo>
                    <a:pt x="20421346" y="8475599"/>
                    <a:pt x="20317586" y="8579358"/>
                    <a:pt x="20189571" y="8579358"/>
                  </a:cubicBezTo>
                  <a:lnTo>
                    <a:pt x="231775" y="8579358"/>
                  </a:lnTo>
                  <a:cubicBezTo>
                    <a:pt x="103759" y="8579358"/>
                    <a:pt x="0" y="8475599"/>
                    <a:pt x="0" y="8347583"/>
                  </a:cubicBezTo>
                  <a:close/>
                </a:path>
              </a:pathLst>
            </a:custGeom>
            <a:blipFill>
              <a:blip r:embed="rId5"/>
              <a:stretch>
                <a:fillRect l="-194" r="-194"/>
              </a:stretch>
            </a:blipFill>
          </p:spPr>
          <p:txBody>
            <a:bodyPr/>
            <a:lstStyle/>
            <a:p>
              <a:endParaRPr lang="en-US"/>
            </a:p>
          </p:txBody>
        </p:sp>
      </p:grpSp>
      <p:grpSp>
        <p:nvGrpSpPr>
          <p:cNvPr id="24" name="Group 24"/>
          <p:cNvGrpSpPr/>
          <p:nvPr/>
        </p:nvGrpSpPr>
        <p:grpSpPr>
          <a:xfrm>
            <a:off x="1705232" y="2175643"/>
            <a:ext cx="15316010" cy="6434518"/>
            <a:chOff x="0" y="0"/>
            <a:chExt cx="20421346" cy="8579358"/>
          </a:xfrm>
        </p:grpSpPr>
        <p:sp>
          <p:nvSpPr>
            <p:cNvPr id="25" name="Freeform 25"/>
            <p:cNvSpPr/>
            <p:nvPr/>
          </p:nvSpPr>
          <p:spPr>
            <a:xfrm>
              <a:off x="0" y="0"/>
              <a:ext cx="20421346" cy="8579358"/>
            </a:xfrm>
            <a:custGeom>
              <a:avLst/>
              <a:gdLst/>
              <a:ahLst/>
              <a:cxnLst/>
              <a:rect l="l" t="t" r="r" b="b"/>
              <a:pathLst>
                <a:path w="20421346" h="8579358">
                  <a:moveTo>
                    <a:pt x="0" y="231775"/>
                  </a:moveTo>
                  <a:cubicBezTo>
                    <a:pt x="0" y="103759"/>
                    <a:pt x="103759" y="0"/>
                    <a:pt x="231775" y="0"/>
                  </a:cubicBezTo>
                  <a:lnTo>
                    <a:pt x="20189571" y="0"/>
                  </a:lnTo>
                  <a:cubicBezTo>
                    <a:pt x="20317586" y="0"/>
                    <a:pt x="20421346" y="103759"/>
                    <a:pt x="20421346" y="231775"/>
                  </a:cubicBezTo>
                  <a:lnTo>
                    <a:pt x="20421346" y="8347583"/>
                  </a:lnTo>
                  <a:cubicBezTo>
                    <a:pt x="20421346" y="8475599"/>
                    <a:pt x="20317586" y="8579358"/>
                    <a:pt x="20189571" y="8579358"/>
                  </a:cubicBezTo>
                  <a:lnTo>
                    <a:pt x="231775" y="8579358"/>
                  </a:lnTo>
                  <a:cubicBezTo>
                    <a:pt x="103759" y="8579358"/>
                    <a:pt x="0" y="8475599"/>
                    <a:pt x="0" y="8347583"/>
                  </a:cubicBezTo>
                  <a:close/>
                </a:path>
              </a:pathLst>
            </a:custGeom>
            <a:gradFill rotWithShape="1">
              <a:gsLst>
                <a:gs pos="0">
                  <a:srgbClr val="38EF7D">
                    <a:alpha val="40000"/>
                  </a:srgbClr>
                </a:gs>
                <a:gs pos="100000">
                  <a:srgbClr val="11998E">
                    <a:alpha val="40000"/>
                  </a:srgbClr>
                </a:gs>
              </a:gsLst>
              <a:lin ang="2700000"/>
            </a:gradFill>
          </p:spPr>
          <p:txBody>
            <a:bodyPr/>
            <a:lstStyle/>
            <a:p>
              <a:endParaRPr lang="en-US"/>
            </a:p>
          </p:txBody>
        </p:sp>
      </p:grpSp>
      <p:grpSp>
        <p:nvGrpSpPr>
          <p:cNvPr id="26" name="Group 26"/>
          <p:cNvGrpSpPr/>
          <p:nvPr/>
        </p:nvGrpSpPr>
        <p:grpSpPr>
          <a:xfrm>
            <a:off x="0" y="2124"/>
            <a:ext cx="18291715" cy="10295477"/>
            <a:chOff x="0" y="0"/>
            <a:chExt cx="24388953" cy="13727303"/>
          </a:xfrm>
        </p:grpSpPr>
        <p:sp>
          <p:nvSpPr>
            <p:cNvPr id="27" name="Freeform 27"/>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28" name="Group 28"/>
          <p:cNvGrpSpPr/>
          <p:nvPr/>
        </p:nvGrpSpPr>
        <p:grpSpPr>
          <a:xfrm>
            <a:off x="15614542" y="498424"/>
            <a:ext cx="4114800" cy="547688"/>
            <a:chOff x="0" y="0"/>
            <a:chExt cx="5486400" cy="730250"/>
          </a:xfrm>
        </p:grpSpPr>
        <p:sp>
          <p:nvSpPr>
            <p:cNvPr id="29" name="Freeform 29"/>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6">
                <a:alphaModFix amt="0"/>
              </a:blip>
              <a:stretch>
                <a:fillRect t="-96290" b="-96290"/>
              </a:stretch>
            </a:blipFill>
          </p:spPr>
          <p:txBody>
            <a:bodyPr/>
            <a:lstStyle/>
            <a:p>
              <a:endParaRPr lang="en-US"/>
            </a:p>
          </p:txBody>
        </p:sp>
      </p:grpSp>
      <p:grpSp>
        <p:nvGrpSpPr>
          <p:cNvPr id="30" name="Group 30"/>
          <p:cNvGrpSpPr/>
          <p:nvPr/>
        </p:nvGrpSpPr>
        <p:grpSpPr>
          <a:xfrm>
            <a:off x="15614542" y="484137"/>
            <a:ext cx="4114800" cy="561975"/>
            <a:chOff x="0" y="0"/>
            <a:chExt cx="5486400" cy="749300"/>
          </a:xfrm>
        </p:grpSpPr>
        <p:sp>
          <p:nvSpPr>
            <p:cNvPr id="31" name="Freeform 31"/>
            <p:cNvSpPr/>
            <p:nvPr/>
          </p:nvSpPr>
          <p:spPr>
            <a:xfrm>
              <a:off x="0" y="0"/>
              <a:ext cx="5486400" cy="749301"/>
            </a:xfrm>
            <a:custGeom>
              <a:avLst/>
              <a:gdLst/>
              <a:ahLst/>
              <a:cxnLst/>
              <a:rect l="l" t="t" r="r" b="b"/>
              <a:pathLst>
                <a:path w="5486400" h="749301">
                  <a:moveTo>
                    <a:pt x="0" y="0"/>
                  </a:moveTo>
                  <a:lnTo>
                    <a:pt x="5486400" y="0"/>
                  </a:lnTo>
                  <a:lnTo>
                    <a:pt x="5486400" y="749301"/>
                  </a:lnTo>
                  <a:lnTo>
                    <a:pt x="0" y="749301"/>
                  </a:lnTo>
                  <a:close/>
                </a:path>
              </a:pathLst>
            </a:custGeom>
            <a:blipFill>
              <a:blip r:embed="rId7">
                <a:alphaModFix amt="0"/>
              </a:blip>
              <a:stretch>
                <a:fillRect t="-92670" b="-92669"/>
              </a:stretch>
            </a:blipFill>
          </p:spPr>
          <p:txBody>
            <a:bodyPr/>
            <a:lstStyle/>
            <a:p>
              <a:endParaRPr lang="en-US"/>
            </a:p>
          </p:txBody>
        </p:sp>
        <p:sp>
          <p:nvSpPr>
            <p:cNvPr id="32" name="TextBox 32"/>
            <p:cNvSpPr txBox="1"/>
            <p:nvPr/>
          </p:nvSpPr>
          <p:spPr>
            <a:xfrm>
              <a:off x="0" y="-19050"/>
              <a:ext cx="5486400" cy="768350"/>
            </a:xfrm>
            <a:prstGeom prst="rect">
              <a:avLst/>
            </a:prstGeom>
          </p:spPr>
          <p:txBody>
            <a:bodyPr lIns="0" tIns="0" rIns="0" bIns="0" rtlCol="0" anchor="ctr"/>
            <a:lstStyle/>
            <a:p>
              <a:pPr algn="ctr">
                <a:lnSpc>
                  <a:spcPts val="2160"/>
                </a:lnSpc>
              </a:pPr>
              <a:r>
                <a:rPr lang="en-US" sz="1800">
                  <a:solidFill>
                    <a:srgbClr val="FFFFFF"/>
                  </a:solidFill>
                  <a:latin typeface="Arial"/>
                  <a:ea typeface="Arial"/>
                  <a:cs typeface="Arial"/>
                  <a:sym typeface="Arial"/>
                </a:rPr>
                <a:t>‹#›</a:t>
              </a:r>
            </a:p>
          </p:txBody>
        </p:sp>
      </p:grpSp>
      <p:grpSp>
        <p:nvGrpSpPr>
          <p:cNvPr id="33" name="Group 33"/>
          <p:cNvGrpSpPr/>
          <p:nvPr/>
        </p:nvGrpSpPr>
        <p:grpSpPr>
          <a:xfrm>
            <a:off x="2480043" y="3431010"/>
            <a:ext cx="13766397" cy="2259006"/>
            <a:chOff x="0" y="0"/>
            <a:chExt cx="18355196" cy="3012008"/>
          </a:xfrm>
        </p:grpSpPr>
        <p:sp>
          <p:nvSpPr>
            <p:cNvPr id="34" name="Freeform 34"/>
            <p:cNvSpPr/>
            <p:nvPr/>
          </p:nvSpPr>
          <p:spPr>
            <a:xfrm>
              <a:off x="0" y="0"/>
              <a:ext cx="18355183" cy="3012059"/>
            </a:xfrm>
            <a:custGeom>
              <a:avLst/>
              <a:gdLst/>
              <a:ahLst/>
              <a:cxnLst/>
              <a:rect l="l" t="t" r="r" b="b"/>
              <a:pathLst>
                <a:path w="18355183" h="3012059">
                  <a:moveTo>
                    <a:pt x="0" y="0"/>
                  </a:moveTo>
                  <a:lnTo>
                    <a:pt x="18355183" y="0"/>
                  </a:lnTo>
                  <a:lnTo>
                    <a:pt x="18355183" y="3012059"/>
                  </a:lnTo>
                  <a:lnTo>
                    <a:pt x="0" y="3012059"/>
                  </a:lnTo>
                  <a:close/>
                </a:path>
              </a:pathLst>
            </a:custGeom>
            <a:blipFill>
              <a:blip r:embed="rId6">
                <a:alphaModFix amt="0"/>
              </a:blip>
              <a:stretch>
                <a:fillRect t="-68658" b="-68656"/>
              </a:stretch>
            </a:blipFill>
          </p:spPr>
          <p:txBody>
            <a:bodyPr/>
            <a:lstStyle/>
            <a:p>
              <a:endParaRPr lang="en-US"/>
            </a:p>
          </p:txBody>
        </p:sp>
      </p:grpSp>
      <p:grpSp>
        <p:nvGrpSpPr>
          <p:cNvPr id="35" name="Group 35"/>
          <p:cNvGrpSpPr/>
          <p:nvPr/>
        </p:nvGrpSpPr>
        <p:grpSpPr>
          <a:xfrm>
            <a:off x="2480043" y="3473872"/>
            <a:ext cx="13766397" cy="2216138"/>
            <a:chOff x="0" y="0"/>
            <a:chExt cx="18355196" cy="2954850"/>
          </a:xfrm>
        </p:grpSpPr>
        <p:sp>
          <p:nvSpPr>
            <p:cNvPr id="36" name="Freeform 36"/>
            <p:cNvSpPr/>
            <p:nvPr/>
          </p:nvSpPr>
          <p:spPr>
            <a:xfrm>
              <a:off x="0" y="0"/>
              <a:ext cx="18355196" cy="2954855"/>
            </a:xfrm>
            <a:custGeom>
              <a:avLst/>
              <a:gdLst/>
              <a:ahLst/>
              <a:cxnLst/>
              <a:rect l="l" t="t" r="r" b="b"/>
              <a:pathLst>
                <a:path w="18355196" h="2954855">
                  <a:moveTo>
                    <a:pt x="0" y="0"/>
                  </a:moveTo>
                  <a:lnTo>
                    <a:pt x="18355196" y="0"/>
                  </a:lnTo>
                  <a:lnTo>
                    <a:pt x="18355196" y="2954855"/>
                  </a:lnTo>
                  <a:lnTo>
                    <a:pt x="0" y="2954855"/>
                  </a:lnTo>
                  <a:close/>
                </a:path>
              </a:pathLst>
            </a:custGeom>
            <a:blipFill>
              <a:blip r:embed="rId7">
                <a:alphaModFix amt="0"/>
              </a:blip>
              <a:stretch>
                <a:fillRect t="-71038" b="-71038"/>
              </a:stretch>
            </a:blipFill>
          </p:spPr>
          <p:txBody>
            <a:bodyPr/>
            <a:lstStyle/>
            <a:p>
              <a:endParaRPr lang="en-US"/>
            </a:p>
          </p:txBody>
        </p:sp>
        <p:sp>
          <p:nvSpPr>
            <p:cNvPr id="37" name="TextBox 37"/>
            <p:cNvSpPr txBox="1"/>
            <p:nvPr/>
          </p:nvSpPr>
          <p:spPr>
            <a:xfrm>
              <a:off x="0" y="57150"/>
              <a:ext cx="18355196" cy="2897700"/>
            </a:xfrm>
            <a:prstGeom prst="rect">
              <a:avLst/>
            </a:prstGeom>
          </p:spPr>
          <p:txBody>
            <a:bodyPr lIns="0" tIns="0" rIns="0" bIns="0" rtlCol="0" anchor="ctr"/>
            <a:lstStyle/>
            <a:p>
              <a:pPr algn="l">
                <a:lnSpc>
                  <a:spcPts val="8856"/>
                </a:lnSpc>
              </a:pPr>
              <a:r>
                <a:rPr lang="en-US" sz="8200" b="1">
                  <a:solidFill>
                    <a:srgbClr val="FFFFFF"/>
                  </a:solidFill>
                  <a:latin typeface="Times New Roman Bold"/>
                  <a:ea typeface="Times New Roman Bold"/>
                  <a:cs typeface="Times New Roman Bold"/>
                  <a:sym typeface="Times New Roman Bold"/>
                </a:rPr>
                <a:t>Xây dựng phần mềm</a:t>
              </a:r>
            </a:p>
          </p:txBody>
        </p:sp>
      </p:grpSp>
      <p:sp>
        <p:nvSpPr>
          <p:cNvPr id="38" name="TextBox 38"/>
          <p:cNvSpPr txBox="1"/>
          <p:nvPr/>
        </p:nvSpPr>
        <p:spPr>
          <a:xfrm>
            <a:off x="2548614" y="1142886"/>
            <a:ext cx="2429709" cy="2481453"/>
          </a:xfrm>
          <a:prstGeom prst="rect">
            <a:avLst/>
          </a:prstGeom>
        </p:spPr>
        <p:txBody>
          <a:bodyPr lIns="0" tIns="0" rIns="0" bIns="0" rtlCol="0" anchor="t">
            <a:spAutoFit/>
          </a:bodyPr>
          <a:lstStyle/>
          <a:p>
            <a:pPr algn="l">
              <a:lnSpc>
                <a:spcPts val="18576"/>
              </a:lnSpc>
            </a:pPr>
            <a:r>
              <a:rPr lang="en-US" sz="17200">
                <a:solidFill>
                  <a:srgbClr val="FFFFFF"/>
                </a:solidFill>
                <a:latin typeface="Arial"/>
                <a:ea typeface="Arial"/>
                <a:cs typeface="Arial"/>
                <a:sym typeface="Arial"/>
              </a:rPr>
              <a:t>04</a:t>
            </a:r>
          </a:p>
        </p:txBody>
      </p:sp>
      <p:sp>
        <p:nvSpPr>
          <p:cNvPr id="39" name="TextBox 39"/>
          <p:cNvSpPr txBox="1"/>
          <p:nvPr/>
        </p:nvSpPr>
        <p:spPr>
          <a:xfrm>
            <a:off x="17403580" y="9172575"/>
            <a:ext cx="536762" cy="1114425"/>
          </a:xfrm>
          <a:prstGeom prst="rect">
            <a:avLst/>
          </a:prstGeom>
        </p:spPr>
        <p:txBody>
          <a:bodyPr lIns="0" tIns="0" rIns="0" bIns="0" rtlCol="0" anchor="t">
            <a:spAutoFit/>
          </a:bodyPr>
          <a:lstStyle/>
          <a:p>
            <a:pPr algn="ctr">
              <a:lnSpc>
                <a:spcPts val="4320"/>
              </a:lnSpc>
            </a:pPr>
            <a:r>
              <a:rPr lang="en-US" sz="3600">
                <a:solidFill>
                  <a:srgbClr val="000000"/>
                </a:solidFill>
                <a:latin typeface="Arial"/>
                <a:ea typeface="Arial"/>
                <a:cs typeface="Arial"/>
                <a:sym typeface="Arial"/>
              </a:rPr>
              <a:t>19</a:t>
            </a:r>
          </a:p>
          <a:p>
            <a:pPr algn="ctr">
              <a:lnSpc>
                <a:spcPts val="4320"/>
              </a:lnSpc>
            </a:pPr>
            <a:endParaRPr lang="en-US" sz="3600">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124"/>
            <a:ext cx="18291715" cy="10295477"/>
            <a:chOff x="0" y="0"/>
            <a:chExt cx="24388953" cy="13727303"/>
          </a:xfrm>
        </p:grpSpPr>
        <p:sp>
          <p:nvSpPr>
            <p:cNvPr id="3" name="Freeform 3"/>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4" name="Group 4"/>
          <p:cNvGrpSpPr/>
          <p:nvPr/>
        </p:nvGrpSpPr>
        <p:grpSpPr>
          <a:xfrm rot="5400000">
            <a:off x="8668464" y="-8670055"/>
            <a:ext cx="947356" cy="18291715"/>
            <a:chOff x="0" y="0"/>
            <a:chExt cx="1263142" cy="24388953"/>
          </a:xfrm>
        </p:grpSpPr>
        <p:sp>
          <p:nvSpPr>
            <p:cNvPr id="5" name="Freeform 5"/>
            <p:cNvSpPr/>
            <p:nvPr/>
          </p:nvSpPr>
          <p:spPr>
            <a:xfrm>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gradFill rotWithShape="1">
              <a:gsLst>
                <a:gs pos="0">
                  <a:srgbClr val="10CC57">
                    <a:alpha val="100000"/>
                  </a:srgbClr>
                </a:gs>
                <a:gs pos="100000">
                  <a:srgbClr val="017058">
                    <a:alpha val="100000"/>
                  </a:srgbClr>
                </a:gs>
              </a:gsLst>
              <a:lin ang="0"/>
            </a:gradFill>
          </p:spPr>
          <p:txBody>
            <a:bodyPr/>
            <a:lstStyle/>
            <a:p>
              <a:endParaRPr lang="en-US"/>
            </a:p>
          </p:txBody>
        </p:sp>
      </p:grpSp>
      <p:grpSp>
        <p:nvGrpSpPr>
          <p:cNvPr id="6" name="Group 6"/>
          <p:cNvGrpSpPr/>
          <p:nvPr/>
        </p:nvGrpSpPr>
        <p:grpSpPr>
          <a:xfrm rot="-5400000">
            <a:off x="8670312" y="-8672208"/>
            <a:ext cx="947356" cy="18291715"/>
            <a:chOff x="0" y="0"/>
            <a:chExt cx="1263142" cy="24388953"/>
          </a:xfrm>
        </p:grpSpPr>
        <p:sp>
          <p:nvSpPr>
            <p:cNvPr id="7" name="Freeform 7"/>
            <p:cNvSpPr/>
            <p:nvPr/>
          </p:nvSpPr>
          <p:spPr>
            <a:xfrm flipH="1">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blipFill>
              <a:blip r:embed="rId2"/>
              <a:stretch>
                <a:fillRect l="-35092" r="-35091"/>
              </a:stretch>
            </a:blipFill>
          </p:spPr>
          <p:txBody>
            <a:bodyPr/>
            <a:lstStyle/>
            <a:p>
              <a:endParaRPr lang="en-US"/>
            </a:p>
          </p:txBody>
        </p:sp>
      </p:grpSp>
      <p:sp>
        <p:nvSpPr>
          <p:cNvPr id="8" name="TextBox 8"/>
          <p:cNvSpPr txBox="1"/>
          <p:nvPr/>
        </p:nvSpPr>
        <p:spPr>
          <a:xfrm>
            <a:off x="428996" y="227362"/>
            <a:ext cx="10993288" cy="456571"/>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9" name="Group 9"/>
          <p:cNvGrpSpPr/>
          <p:nvPr/>
        </p:nvGrpSpPr>
        <p:grpSpPr>
          <a:xfrm>
            <a:off x="6719983" y="457933"/>
            <a:ext cx="4848130" cy="958024"/>
            <a:chOff x="0" y="0"/>
            <a:chExt cx="6464173" cy="1277366"/>
          </a:xfrm>
        </p:grpSpPr>
        <p:sp>
          <p:nvSpPr>
            <p:cNvPr id="10" name="Freeform 10"/>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2700000"/>
            </a:gradFill>
          </p:spPr>
          <p:txBody>
            <a:bodyPr/>
            <a:lstStyle/>
            <a:p>
              <a:endParaRPr lang="en-US"/>
            </a:p>
          </p:txBody>
        </p:sp>
      </p:grpSp>
      <p:grpSp>
        <p:nvGrpSpPr>
          <p:cNvPr id="11" name="Group 11"/>
          <p:cNvGrpSpPr/>
          <p:nvPr/>
        </p:nvGrpSpPr>
        <p:grpSpPr>
          <a:xfrm>
            <a:off x="6807460" y="535972"/>
            <a:ext cx="4673060" cy="801815"/>
            <a:chOff x="0" y="0"/>
            <a:chExt cx="6230747" cy="1069086"/>
          </a:xfrm>
        </p:grpSpPr>
        <p:sp>
          <p:nvSpPr>
            <p:cNvPr id="12" name="Freeform 12"/>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en-US"/>
            </a:p>
          </p:txBody>
        </p:sp>
      </p:grpSp>
      <p:grpSp>
        <p:nvGrpSpPr>
          <p:cNvPr id="13" name="Group 13"/>
          <p:cNvGrpSpPr/>
          <p:nvPr/>
        </p:nvGrpSpPr>
        <p:grpSpPr>
          <a:xfrm>
            <a:off x="9436446" y="362541"/>
            <a:ext cx="1163288" cy="1152620"/>
            <a:chOff x="0" y="0"/>
            <a:chExt cx="1551051" cy="1536827"/>
          </a:xfrm>
        </p:grpSpPr>
        <p:sp>
          <p:nvSpPr>
            <p:cNvPr id="14" name="Freeform 14"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211" r="-210"/>
              </a:stretch>
            </a:blipFill>
          </p:spPr>
          <p:txBody>
            <a:bodyPr/>
            <a:lstStyle/>
            <a:p>
              <a:endParaRPr lang="en-US"/>
            </a:p>
          </p:txBody>
        </p:sp>
      </p:grpSp>
      <p:grpSp>
        <p:nvGrpSpPr>
          <p:cNvPr id="15" name="Group 15"/>
          <p:cNvGrpSpPr/>
          <p:nvPr/>
        </p:nvGrpSpPr>
        <p:grpSpPr>
          <a:xfrm>
            <a:off x="7688247" y="398078"/>
            <a:ext cx="1307497" cy="1081564"/>
            <a:chOff x="0" y="0"/>
            <a:chExt cx="1743329" cy="1442085"/>
          </a:xfrm>
        </p:grpSpPr>
        <p:sp>
          <p:nvSpPr>
            <p:cNvPr id="16" name="Freeform 16"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l="-38" r="-37"/>
              </a:stretch>
            </a:blipFill>
          </p:spPr>
          <p:txBody>
            <a:bodyPr/>
            <a:lstStyle/>
            <a:p>
              <a:endParaRPr lang="en-US"/>
            </a:p>
          </p:txBody>
        </p:sp>
      </p:grpSp>
      <p:grpSp>
        <p:nvGrpSpPr>
          <p:cNvPr id="17" name="Group 17"/>
          <p:cNvGrpSpPr/>
          <p:nvPr/>
        </p:nvGrpSpPr>
        <p:grpSpPr>
          <a:xfrm>
            <a:off x="908999" y="1555147"/>
            <a:ext cx="16470001" cy="1335996"/>
            <a:chOff x="0" y="0"/>
            <a:chExt cx="21960002" cy="1781327"/>
          </a:xfrm>
        </p:grpSpPr>
        <p:sp>
          <p:nvSpPr>
            <p:cNvPr id="18" name="Freeform 18"/>
            <p:cNvSpPr/>
            <p:nvPr/>
          </p:nvSpPr>
          <p:spPr>
            <a:xfrm>
              <a:off x="0" y="0"/>
              <a:ext cx="21959951" cy="1781302"/>
            </a:xfrm>
            <a:custGeom>
              <a:avLst/>
              <a:gdLst/>
              <a:ahLst/>
              <a:cxnLst/>
              <a:rect l="l" t="t" r="r" b="b"/>
              <a:pathLst>
                <a:path w="21959951" h="1781302">
                  <a:moveTo>
                    <a:pt x="0" y="0"/>
                  </a:moveTo>
                  <a:lnTo>
                    <a:pt x="21959951" y="0"/>
                  </a:lnTo>
                  <a:lnTo>
                    <a:pt x="21959951" y="1781302"/>
                  </a:lnTo>
                  <a:lnTo>
                    <a:pt x="0" y="1781302"/>
                  </a:lnTo>
                  <a:close/>
                </a:path>
              </a:pathLst>
            </a:custGeom>
            <a:blipFill>
              <a:blip r:embed="rId5">
                <a:alphaModFix amt="0"/>
              </a:blip>
              <a:stretch>
                <a:fillRect t="-190044" b="-190046"/>
              </a:stretch>
            </a:blipFill>
          </p:spPr>
          <p:txBody>
            <a:bodyPr/>
            <a:lstStyle/>
            <a:p>
              <a:endParaRPr lang="en-US"/>
            </a:p>
          </p:txBody>
        </p:sp>
      </p:grpSp>
      <p:grpSp>
        <p:nvGrpSpPr>
          <p:cNvPr id="19" name="Group 19"/>
          <p:cNvGrpSpPr/>
          <p:nvPr/>
        </p:nvGrpSpPr>
        <p:grpSpPr>
          <a:xfrm>
            <a:off x="908999" y="1576578"/>
            <a:ext cx="16470001" cy="1314563"/>
            <a:chOff x="0" y="0"/>
            <a:chExt cx="21960002" cy="1752750"/>
          </a:xfrm>
        </p:grpSpPr>
        <p:sp>
          <p:nvSpPr>
            <p:cNvPr id="20" name="Freeform 20"/>
            <p:cNvSpPr/>
            <p:nvPr/>
          </p:nvSpPr>
          <p:spPr>
            <a:xfrm>
              <a:off x="0" y="0"/>
              <a:ext cx="21960001" cy="1752748"/>
            </a:xfrm>
            <a:custGeom>
              <a:avLst/>
              <a:gdLst/>
              <a:ahLst/>
              <a:cxnLst/>
              <a:rect l="l" t="t" r="r" b="b"/>
              <a:pathLst>
                <a:path w="21960001" h="1752748">
                  <a:moveTo>
                    <a:pt x="0" y="0"/>
                  </a:moveTo>
                  <a:lnTo>
                    <a:pt x="21960001" y="0"/>
                  </a:lnTo>
                  <a:lnTo>
                    <a:pt x="21960001" y="1752748"/>
                  </a:lnTo>
                  <a:lnTo>
                    <a:pt x="0" y="1752748"/>
                  </a:lnTo>
                  <a:close/>
                </a:path>
              </a:pathLst>
            </a:custGeom>
            <a:blipFill>
              <a:blip r:embed="rId6">
                <a:alphaModFix amt="0"/>
              </a:blip>
              <a:stretch>
                <a:fillRect t="-194125" b="-194126"/>
              </a:stretch>
            </a:blipFill>
          </p:spPr>
          <p:txBody>
            <a:bodyPr/>
            <a:lstStyle/>
            <a:p>
              <a:endParaRPr lang="en-US"/>
            </a:p>
          </p:txBody>
        </p:sp>
        <p:sp>
          <p:nvSpPr>
            <p:cNvPr id="21" name="TextBox 21"/>
            <p:cNvSpPr txBox="1"/>
            <p:nvPr/>
          </p:nvSpPr>
          <p:spPr>
            <a:xfrm>
              <a:off x="0" y="28575"/>
              <a:ext cx="21960002" cy="1724175"/>
            </a:xfrm>
            <a:prstGeom prst="rect">
              <a:avLst/>
            </a:prstGeom>
          </p:spPr>
          <p:txBody>
            <a:bodyPr lIns="0" tIns="0" rIns="0" bIns="0" rtlCol="0" anchor="ctr"/>
            <a:lstStyle/>
            <a:p>
              <a:pPr algn="l">
                <a:lnSpc>
                  <a:spcPts val="6048"/>
                </a:lnSpc>
              </a:pPr>
              <a:r>
                <a:rPr lang="en-US" sz="5599" b="1">
                  <a:solidFill>
                    <a:srgbClr val="017058"/>
                  </a:solidFill>
                  <a:latin typeface="Times New Roman Bold"/>
                  <a:ea typeface="Times New Roman Bold"/>
                  <a:cs typeface="Times New Roman Bold"/>
                  <a:sym typeface="Times New Roman Bold"/>
                </a:rPr>
                <a:t>4. Xây dựng phần mềm </a:t>
              </a:r>
            </a:p>
          </p:txBody>
        </p:sp>
      </p:grpSp>
      <p:sp>
        <p:nvSpPr>
          <p:cNvPr id="22" name="Freeform 22"/>
          <p:cNvSpPr/>
          <p:nvPr/>
        </p:nvSpPr>
        <p:spPr>
          <a:xfrm>
            <a:off x="1807363" y="3262505"/>
            <a:ext cx="6534632" cy="5995795"/>
          </a:xfrm>
          <a:custGeom>
            <a:avLst/>
            <a:gdLst/>
            <a:ahLst/>
            <a:cxnLst/>
            <a:rect l="l" t="t" r="r" b="b"/>
            <a:pathLst>
              <a:path w="6534632" h="5995795">
                <a:moveTo>
                  <a:pt x="0" y="0"/>
                </a:moveTo>
                <a:lnTo>
                  <a:pt x="6534632" y="0"/>
                </a:lnTo>
                <a:lnTo>
                  <a:pt x="6534632" y="5995795"/>
                </a:lnTo>
                <a:lnTo>
                  <a:pt x="0" y="5995795"/>
                </a:lnTo>
                <a:lnTo>
                  <a:pt x="0" y="0"/>
                </a:lnTo>
                <a:close/>
              </a:path>
            </a:pathLst>
          </a:custGeom>
          <a:blipFill>
            <a:blip r:embed="rId7"/>
            <a:stretch>
              <a:fillRect/>
            </a:stretch>
          </a:blipFill>
        </p:spPr>
        <p:txBody>
          <a:bodyPr/>
          <a:lstStyle/>
          <a:p>
            <a:endParaRPr lang="en-US"/>
          </a:p>
        </p:txBody>
      </p:sp>
      <p:sp>
        <p:nvSpPr>
          <p:cNvPr id="23" name="TextBox 23"/>
          <p:cNvSpPr txBox="1"/>
          <p:nvPr/>
        </p:nvSpPr>
        <p:spPr>
          <a:xfrm>
            <a:off x="68570" y="-2318490"/>
            <a:ext cx="18150850" cy="569719"/>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sp>
        <p:nvSpPr>
          <p:cNvPr id="24" name="TextBox 24"/>
          <p:cNvSpPr txBox="1"/>
          <p:nvPr/>
        </p:nvSpPr>
        <p:spPr>
          <a:xfrm>
            <a:off x="1070182" y="2637272"/>
            <a:ext cx="9313332" cy="584835"/>
          </a:xfrm>
          <a:prstGeom prst="rect">
            <a:avLst/>
          </a:prstGeom>
        </p:spPr>
        <p:txBody>
          <a:bodyPr lIns="0" tIns="0" rIns="0" bIns="0" rtlCol="0" anchor="t">
            <a:spAutoFit/>
          </a:bodyPr>
          <a:lstStyle/>
          <a:p>
            <a:pPr algn="l">
              <a:lnSpc>
                <a:spcPts val="4320"/>
              </a:lnSpc>
            </a:pPr>
            <a:r>
              <a:rPr lang="en-US" sz="4000" b="1">
                <a:solidFill>
                  <a:srgbClr val="017058"/>
                </a:solidFill>
                <a:latin typeface="Times New Roman Bold"/>
                <a:ea typeface="Times New Roman Bold"/>
                <a:cs typeface="Times New Roman Bold"/>
                <a:sym typeface="Times New Roman Bold"/>
              </a:rPr>
              <a:t>4.1 Giao tiếp truyền nhận dữ liệu</a:t>
            </a:r>
          </a:p>
        </p:txBody>
      </p:sp>
      <p:sp>
        <p:nvSpPr>
          <p:cNvPr id="25" name="TextBox 25"/>
          <p:cNvSpPr txBox="1"/>
          <p:nvPr/>
        </p:nvSpPr>
        <p:spPr>
          <a:xfrm>
            <a:off x="17447714" y="9144000"/>
            <a:ext cx="508635" cy="1114425"/>
          </a:xfrm>
          <a:prstGeom prst="rect">
            <a:avLst/>
          </a:prstGeom>
        </p:spPr>
        <p:txBody>
          <a:bodyPr lIns="0" tIns="0" rIns="0" bIns="0" rtlCol="0" anchor="t">
            <a:spAutoFit/>
          </a:bodyPr>
          <a:lstStyle/>
          <a:p>
            <a:pPr algn="ctr">
              <a:lnSpc>
                <a:spcPts val="4320"/>
              </a:lnSpc>
            </a:pPr>
            <a:r>
              <a:rPr lang="en-US" sz="3600">
                <a:solidFill>
                  <a:srgbClr val="000000"/>
                </a:solidFill>
                <a:latin typeface="Arial"/>
                <a:ea typeface="Arial"/>
                <a:cs typeface="Arial"/>
                <a:sym typeface="Arial"/>
              </a:rPr>
              <a:t>20</a:t>
            </a:r>
          </a:p>
          <a:p>
            <a:pPr algn="ctr">
              <a:lnSpc>
                <a:spcPts val="4320"/>
              </a:lnSpc>
            </a:pPr>
            <a:endParaRPr lang="en-US" sz="3600">
              <a:solidFill>
                <a:srgbClr val="000000"/>
              </a:solidFill>
              <a:latin typeface="Arial"/>
              <a:ea typeface="Arial"/>
              <a:cs typeface="Arial"/>
              <a:sym typeface="Arial"/>
            </a:endParaRPr>
          </a:p>
        </p:txBody>
      </p:sp>
      <p:sp>
        <p:nvSpPr>
          <p:cNvPr id="26" name="TextBox 26"/>
          <p:cNvSpPr txBox="1"/>
          <p:nvPr/>
        </p:nvSpPr>
        <p:spPr>
          <a:xfrm>
            <a:off x="9142143" y="3422132"/>
            <a:ext cx="7847052" cy="6115050"/>
          </a:xfrm>
          <a:prstGeom prst="rect">
            <a:avLst/>
          </a:prstGeom>
        </p:spPr>
        <p:txBody>
          <a:bodyPr lIns="0" tIns="0" rIns="0" bIns="0" rtlCol="0" anchor="t">
            <a:spAutoFit/>
          </a:bodyPr>
          <a:lstStyle/>
          <a:p>
            <a:pPr marL="539751" lvl="1" indent="-269876" algn="l">
              <a:lnSpc>
                <a:spcPts val="3000"/>
              </a:lnSpc>
              <a:spcBef>
                <a:spcPct val="0"/>
              </a:spcBef>
              <a:buFont typeface="Arial"/>
              <a:buChar char="•"/>
            </a:pPr>
            <a:r>
              <a:rPr lang="en-US" sz="2500" b="1">
                <a:solidFill>
                  <a:srgbClr val="000000"/>
                </a:solidFill>
                <a:latin typeface="Arial Bold"/>
                <a:ea typeface="Arial Bold"/>
                <a:cs typeface="Arial Bold"/>
                <a:sym typeface="Arial Bold"/>
              </a:rPr>
              <a:t>Truyền dữ liệu (Ghi)</a:t>
            </a:r>
            <a:r>
              <a:rPr lang="en-US" sz="2500">
                <a:solidFill>
                  <a:srgbClr val="000000"/>
                </a:solidFill>
                <a:latin typeface="Arial"/>
                <a:ea typeface="Arial"/>
                <a:cs typeface="Arial"/>
                <a:sym typeface="Arial"/>
              </a:rPr>
              <a:t>: Do bus Avalon chỉ rộng 32-bit, CPU dùng vòng lặp và lệnh IOWR để nạp lần lượt 32 gói 32-bit của các toán hạng 1024-bit xuống phần cứng.</a:t>
            </a:r>
          </a:p>
          <a:p>
            <a:pPr algn="l">
              <a:lnSpc>
                <a:spcPts val="3000"/>
              </a:lnSpc>
              <a:spcBef>
                <a:spcPct val="0"/>
              </a:spcBef>
            </a:pPr>
            <a:endParaRPr lang="en-US" sz="2500">
              <a:solidFill>
                <a:srgbClr val="000000"/>
              </a:solidFill>
              <a:latin typeface="Arial"/>
              <a:ea typeface="Arial"/>
              <a:cs typeface="Arial"/>
              <a:sym typeface="Arial"/>
            </a:endParaRPr>
          </a:p>
          <a:p>
            <a:pPr marL="539751" lvl="1" indent="-269876" algn="l">
              <a:lnSpc>
                <a:spcPts val="3000"/>
              </a:lnSpc>
              <a:spcBef>
                <a:spcPct val="0"/>
              </a:spcBef>
              <a:buFont typeface="Arial"/>
              <a:buChar char="•"/>
            </a:pPr>
            <a:r>
              <a:rPr lang="en-US" sz="2500" b="1">
                <a:solidFill>
                  <a:srgbClr val="000000"/>
                </a:solidFill>
                <a:latin typeface="Arial Bold"/>
                <a:ea typeface="Arial Bold"/>
                <a:cs typeface="Arial Bold"/>
                <a:sym typeface="Arial Bold"/>
              </a:rPr>
              <a:t>Kích hoạt &amp; Chờ</a:t>
            </a:r>
            <a:r>
              <a:rPr lang="en-US" sz="2500">
                <a:solidFill>
                  <a:srgbClr val="000000"/>
                </a:solidFill>
                <a:latin typeface="Arial"/>
                <a:ea typeface="Arial"/>
                <a:cs typeface="Arial"/>
                <a:sym typeface="Arial"/>
              </a:rPr>
              <a:t>: CPU dùng IOWR ghi bit 1 để kích hoạt lõi phần cứng. Sau đó, hệ thống áp dụng cơ chế hỏi vòng (polling), dùng vòng lặp while và lệnh IORD liên tục đọc thanh ghi trạng thái để chờ cờ done bật lên 1.</a:t>
            </a:r>
          </a:p>
          <a:p>
            <a:pPr algn="l">
              <a:lnSpc>
                <a:spcPts val="3000"/>
              </a:lnSpc>
              <a:spcBef>
                <a:spcPct val="0"/>
              </a:spcBef>
            </a:pPr>
            <a:endParaRPr lang="en-US" sz="2500">
              <a:solidFill>
                <a:srgbClr val="000000"/>
              </a:solidFill>
              <a:latin typeface="Arial"/>
              <a:ea typeface="Arial"/>
              <a:cs typeface="Arial"/>
              <a:sym typeface="Arial"/>
            </a:endParaRPr>
          </a:p>
          <a:p>
            <a:pPr marL="539751" lvl="1" indent="-269876" algn="l">
              <a:lnSpc>
                <a:spcPts val="3000"/>
              </a:lnSpc>
              <a:spcBef>
                <a:spcPct val="0"/>
              </a:spcBef>
              <a:buFont typeface="Arial"/>
              <a:buChar char="•"/>
            </a:pPr>
            <a:r>
              <a:rPr lang="en-US" sz="2500" b="1">
                <a:solidFill>
                  <a:srgbClr val="000000"/>
                </a:solidFill>
                <a:latin typeface="Arial Bold"/>
                <a:ea typeface="Arial Bold"/>
                <a:cs typeface="Arial Bold"/>
                <a:sym typeface="Arial Bold"/>
              </a:rPr>
              <a:t>Nhận kết quả (Đọc):</a:t>
            </a:r>
            <a:r>
              <a:rPr lang="en-US" sz="2500">
                <a:solidFill>
                  <a:srgbClr val="000000"/>
                </a:solidFill>
                <a:latin typeface="Arial"/>
                <a:ea typeface="Arial"/>
                <a:cs typeface="Arial"/>
                <a:sym typeface="Arial"/>
              </a:rPr>
              <a:t> Ngay khi phần cứng báo xong ( cờ done =1), CPU dùng lệnh IORD rút ngược 32 gói kết quả 32-bit mang về lưu tại RAM.</a:t>
            </a:r>
          </a:p>
          <a:p>
            <a:pPr algn="l">
              <a:lnSpc>
                <a:spcPts val="3000"/>
              </a:lnSpc>
              <a:spcBef>
                <a:spcPct val="0"/>
              </a:spcBef>
            </a:pPr>
            <a:endParaRPr lang="en-US" sz="2500">
              <a:solidFill>
                <a:srgbClr val="000000"/>
              </a:solidFill>
              <a:latin typeface="Arial"/>
              <a:ea typeface="Arial"/>
              <a:cs typeface="Arial"/>
              <a:sym typeface="Arial"/>
            </a:endParaRPr>
          </a:p>
          <a:p>
            <a:pPr algn="l">
              <a:lnSpc>
                <a:spcPts val="3000"/>
              </a:lnSpc>
              <a:spcBef>
                <a:spcPct val="0"/>
              </a:spcBef>
            </a:pPr>
            <a:endParaRPr lang="en-US" sz="2500">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70" y="-2318490"/>
            <a:ext cx="18150850" cy="569719"/>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grpSp>
        <p:nvGrpSpPr>
          <p:cNvPr id="3" name="Group 3"/>
          <p:cNvGrpSpPr/>
          <p:nvPr/>
        </p:nvGrpSpPr>
        <p:grpSpPr>
          <a:xfrm>
            <a:off x="0" y="2124"/>
            <a:ext cx="18291715" cy="10295477"/>
            <a:chOff x="0" y="0"/>
            <a:chExt cx="24388953" cy="13727303"/>
          </a:xfrm>
        </p:grpSpPr>
        <p:sp>
          <p:nvSpPr>
            <p:cNvPr id="4" name="Freeform 4"/>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5" name="Group 5"/>
          <p:cNvGrpSpPr/>
          <p:nvPr/>
        </p:nvGrpSpPr>
        <p:grpSpPr>
          <a:xfrm>
            <a:off x="-36214" y="0"/>
            <a:ext cx="6084570" cy="10287000"/>
            <a:chOff x="0" y="0"/>
            <a:chExt cx="8112760" cy="13716000"/>
          </a:xfrm>
        </p:grpSpPr>
        <p:sp>
          <p:nvSpPr>
            <p:cNvPr id="6" name="Freeform 6"/>
            <p:cNvSpPr/>
            <p:nvPr/>
          </p:nvSpPr>
          <p:spPr>
            <a:xfrm>
              <a:off x="0" y="0"/>
              <a:ext cx="8112760" cy="13716000"/>
            </a:xfrm>
            <a:custGeom>
              <a:avLst/>
              <a:gdLst/>
              <a:ahLst/>
              <a:cxnLst/>
              <a:rect l="l" t="t" r="r" b="b"/>
              <a:pathLst>
                <a:path w="8112760" h="13716000">
                  <a:moveTo>
                    <a:pt x="0" y="0"/>
                  </a:moveTo>
                  <a:lnTo>
                    <a:pt x="8112760" y="0"/>
                  </a:lnTo>
                  <a:lnTo>
                    <a:pt x="8112760" y="13716000"/>
                  </a:lnTo>
                  <a:lnTo>
                    <a:pt x="0" y="13716000"/>
                  </a:lnTo>
                  <a:close/>
                </a:path>
              </a:pathLst>
            </a:custGeom>
            <a:gradFill rotWithShape="1">
              <a:gsLst>
                <a:gs pos="0">
                  <a:srgbClr val="38EF7D">
                    <a:alpha val="100000"/>
                  </a:srgbClr>
                </a:gs>
                <a:gs pos="100000">
                  <a:srgbClr val="11998E">
                    <a:alpha val="100000"/>
                  </a:srgbClr>
                </a:gs>
              </a:gsLst>
              <a:lin ang="5400000"/>
            </a:gradFill>
          </p:spPr>
          <p:txBody>
            <a:bodyPr/>
            <a:lstStyle/>
            <a:p>
              <a:endParaRPr lang="en-US"/>
            </a:p>
          </p:txBody>
        </p:sp>
      </p:grpSp>
      <p:grpSp>
        <p:nvGrpSpPr>
          <p:cNvPr id="7" name="Group 7"/>
          <p:cNvGrpSpPr/>
          <p:nvPr/>
        </p:nvGrpSpPr>
        <p:grpSpPr>
          <a:xfrm rot="-10800000">
            <a:off x="-46892" y="0"/>
            <a:ext cx="2707196" cy="10287000"/>
            <a:chOff x="0" y="0"/>
            <a:chExt cx="3609594" cy="13716000"/>
          </a:xfrm>
        </p:grpSpPr>
        <p:sp>
          <p:nvSpPr>
            <p:cNvPr id="8" name="Freeform 8"/>
            <p:cNvSpPr/>
            <p:nvPr/>
          </p:nvSpPr>
          <p:spPr>
            <a:xfrm flipH="1">
              <a:off x="0" y="0"/>
              <a:ext cx="3609594" cy="13716000"/>
            </a:xfrm>
            <a:custGeom>
              <a:avLst/>
              <a:gdLst/>
              <a:ahLst/>
              <a:cxnLst/>
              <a:rect l="l" t="t" r="r" b="b"/>
              <a:pathLst>
                <a:path w="3609594" h="13716000">
                  <a:moveTo>
                    <a:pt x="0" y="0"/>
                  </a:moveTo>
                  <a:lnTo>
                    <a:pt x="3609594" y="0"/>
                  </a:lnTo>
                  <a:lnTo>
                    <a:pt x="3609594" y="13716000"/>
                  </a:lnTo>
                  <a:lnTo>
                    <a:pt x="0" y="13716000"/>
                  </a:lnTo>
                  <a:close/>
                </a:path>
              </a:pathLst>
            </a:custGeom>
            <a:blipFill>
              <a:blip r:embed="rId2"/>
              <a:stretch>
                <a:fillRect l="-2907" r="-2907"/>
              </a:stretch>
            </a:blipFill>
          </p:spPr>
          <p:txBody>
            <a:bodyPr/>
            <a:lstStyle/>
            <a:p>
              <a:endParaRPr lang="en-US"/>
            </a:p>
          </p:txBody>
        </p:sp>
      </p:grpSp>
      <p:sp>
        <p:nvSpPr>
          <p:cNvPr id="9" name="TextBox 9"/>
          <p:cNvSpPr txBox="1"/>
          <p:nvPr/>
        </p:nvSpPr>
        <p:spPr>
          <a:xfrm rot="-5400000">
            <a:off x="-2642312" y="6723250"/>
            <a:ext cx="6122451" cy="458333"/>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10" name="Group 10"/>
          <p:cNvGrpSpPr/>
          <p:nvPr/>
        </p:nvGrpSpPr>
        <p:grpSpPr>
          <a:xfrm>
            <a:off x="6719983" y="293303"/>
            <a:ext cx="4848130" cy="958024"/>
            <a:chOff x="0" y="0"/>
            <a:chExt cx="6464173" cy="1277366"/>
          </a:xfrm>
        </p:grpSpPr>
        <p:sp>
          <p:nvSpPr>
            <p:cNvPr id="11" name="Freeform 11"/>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2700000"/>
            </a:gradFill>
          </p:spPr>
          <p:txBody>
            <a:bodyPr/>
            <a:lstStyle/>
            <a:p>
              <a:endParaRPr lang="en-US"/>
            </a:p>
          </p:txBody>
        </p:sp>
      </p:grpSp>
      <p:grpSp>
        <p:nvGrpSpPr>
          <p:cNvPr id="12" name="Group 12"/>
          <p:cNvGrpSpPr/>
          <p:nvPr/>
        </p:nvGrpSpPr>
        <p:grpSpPr>
          <a:xfrm>
            <a:off x="6807460" y="371332"/>
            <a:ext cx="4673060" cy="801815"/>
            <a:chOff x="0" y="0"/>
            <a:chExt cx="6230747" cy="1069086"/>
          </a:xfrm>
        </p:grpSpPr>
        <p:sp>
          <p:nvSpPr>
            <p:cNvPr id="13" name="Freeform 13"/>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en-US"/>
            </a:p>
          </p:txBody>
        </p:sp>
      </p:grpSp>
      <p:grpSp>
        <p:nvGrpSpPr>
          <p:cNvPr id="14" name="Group 14"/>
          <p:cNvGrpSpPr/>
          <p:nvPr/>
        </p:nvGrpSpPr>
        <p:grpSpPr>
          <a:xfrm>
            <a:off x="9436446" y="197910"/>
            <a:ext cx="1163288" cy="1152620"/>
            <a:chOff x="0" y="0"/>
            <a:chExt cx="1551051" cy="1536827"/>
          </a:xfrm>
        </p:grpSpPr>
        <p:sp>
          <p:nvSpPr>
            <p:cNvPr id="15" name="Freeform 15"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211" r="-210"/>
              </a:stretch>
            </a:blipFill>
          </p:spPr>
          <p:txBody>
            <a:bodyPr/>
            <a:lstStyle/>
            <a:p>
              <a:endParaRPr lang="en-US"/>
            </a:p>
          </p:txBody>
        </p:sp>
      </p:grpSp>
      <p:grpSp>
        <p:nvGrpSpPr>
          <p:cNvPr id="16" name="Group 16"/>
          <p:cNvGrpSpPr/>
          <p:nvPr/>
        </p:nvGrpSpPr>
        <p:grpSpPr>
          <a:xfrm>
            <a:off x="7688247" y="233439"/>
            <a:ext cx="1307497" cy="1081564"/>
            <a:chOff x="0" y="0"/>
            <a:chExt cx="1743329" cy="1442085"/>
          </a:xfrm>
        </p:grpSpPr>
        <p:sp>
          <p:nvSpPr>
            <p:cNvPr id="17" name="Freeform 17"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l="-38" r="-37"/>
              </a:stretch>
            </a:blipFill>
          </p:spPr>
          <p:txBody>
            <a:bodyPr/>
            <a:lstStyle/>
            <a:p>
              <a:endParaRPr lang="en-US"/>
            </a:p>
          </p:txBody>
        </p:sp>
      </p:grpSp>
      <p:grpSp>
        <p:nvGrpSpPr>
          <p:cNvPr id="18" name="Group 18"/>
          <p:cNvGrpSpPr/>
          <p:nvPr/>
        </p:nvGrpSpPr>
        <p:grpSpPr>
          <a:xfrm>
            <a:off x="17262338" y="364607"/>
            <a:ext cx="819150" cy="819150"/>
            <a:chOff x="0" y="0"/>
            <a:chExt cx="1092200" cy="1092200"/>
          </a:xfrm>
        </p:grpSpPr>
        <p:sp>
          <p:nvSpPr>
            <p:cNvPr id="19" name="Freeform 19"/>
            <p:cNvSpPr/>
            <p:nvPr/>
          </p:nvSpPr>
          <p:spPr>
            <a:xfrm>
              <a:off x="0" y="0"/>
              <a:ext cx="1092200" cy="1092200"/>
            </a:xfrm>
            <a:custGeom>
              <a:avLst/>
              <a:gdLst/>
              <a:ahLst/>
              <a:cxnLst/>
              <a:rect l="l" t="t" r="r" b="b"/>
              <a:pathLst>
                <a:path w="1092200" h="1092200">
                  <a:moveTo>
                    <a:pt x="0" y="546100"/>
                  </a:moveTo>
                  <a:cubicBezTo>
                    <a:pt x="0" y="244475"/>
                    <a:pt x="244475" y="0"/>
                    <a:pt x="546100" y="0"/>
                  </a:cubicBezTo>
                  <a:cubicBezTo>
                    <a:pt x="847725" y="0"/>
                    <a:pt x="1092200" y="244475"/>
                    <a:pt x="1092200" y="546100"/>
                  </a:cubicBezTo>
                  <a:cubicBezTo>
                    <a:pt x="1092200" y="847725"/>
                    <a:pt x="847725" y="1092200"/>
                    <a:pt x="546100" y="1092200"/>
                  </a:cubicBezTo>
                  <a:cubicBezTo>
                    <a:pt x="244475" y="1092200"/>
                    <a:pt x="0" y="847725"/>
                    <a:pt x="0" y="546100"/>
                  </a:cubicBezTo>
                  <a:close/>
                </a:path>
              </a:pathLst>
            </a:custGeom>
            <a:gradFill rotWithShape="1">
              <a:gsLst>
                <a:gs pos="0">
                  <a:srgbClr val="38EF7D">
                    <a:alpha val="65098"/>
                  </a:srgbClr>
                </a:gs>
                <a:gs pos="100000">
                  <a:srgbClr val="11998E">
                    <a:alpha val="64705"/>
                  </a:srgbClr>
                </a:gs>
              </a:gsLst>
              <a:lin ang="2700000"/>
            </a:gradFill>
          </p:spPr>
          <p:txBody>
            <a:bodyPr/>
            <a:lstStyle/>
            <a:p>
              <a:endParaRPr lang="en-US"/>
            </a:p>
          </p:txBody>
        </p:sp>
      </p:grpSp>
      <p:grpSp>
        <p:nvGrpSpPr>
          <p:cNvPr id="20" name="Group 20"/>
          <p:cNvGrpSpPr/>
          <p:nvPr/>
        </p:nvGrpSpPr>
        <p:grpSpPr>
          <a:xfrm>
            <a:off x="17486462" y="588731"/>
            <a:ext cx="370999" cy="370999"/>
            <a:chOff x="0" y="0"/>
            <a:chExt cx="494665" cy="494665"/>
          </a:xfrm>
        </p:grpSpPr>
        <p:sp>
          <p:nvSpPr>
            <p:cNvPr id="21" name="Freeform 21"/>
            <p:cNvSpPr/>
            <p:nvPr/>
          </p:nvSpPr>
          <p:spPr>
            <a:xfrm>
              <a:off x="0" y="0"/>
              <a:ext cx="494665" cy="494665"/>
            </a:xfrm>
            <a:custGeom>
              <a:avLst/>
              <a:gdLst/>
              <a:ahLst/>
              <a:cxnLst/>
              <a:rect l="l" t="t" r="r" b="b"/>
              <a:pathLst>
                <a:path w="494665" h="494665">
                  <a:moveTo>
                    <a:pt x="0" y="247269"/>
                  </a:moveTo>
                  <a:cubicBezTo>
                    <a:pt x="0" y="110744"/>
                    <a:pt x="110744" y="0"/>
                    <a:pt x="247269" y="0"/>
                  </a:cubicBezTo>
                  <a:cubicBezTo>
                    <a:pt x="383794" y="0"/>
                    <a:pt x="494665" y="110744"/>
                    <a:pt x="494665" y="247269"/>
                  </a:cubicBezTo>
                  <a:cubicBezTo>
                    <a:pt x="494665" y="383794"/>
                    <a:pt x="383921" y="494665"/>
                    <a:pt x="247269" y="494665"/>
                  </a:cubicBezTo>
                  <a:cubicBezTo>
                    <a:pt x="110617" y="494665"/>
                    <a:pt x="0" y="383921"/>
                    <a:pt x="0" y="247269"/>
                  </a:cubicBezTo>
                  <a:close/>
                </a:path>
              </a:pathLst>
            </a:custGeom>
            <a:gradFill rotWithShape="1">
              <a:gsLst>
                <a:gs pos="0">
                  <a:srgbClr val="38EF7D">
                    <a:alpha val="65098"/>
                  </a:srgbClr>
                </a:gs>
                <a:gs pos="100000">
                  <a:srgbClr val="11998E">
                    <a:alpha val="64705"/>
                  </a:srgbClr>
                </a:gs>
              </a:gsLst>
              <a:lin ang="2700000"/>
            </a:gradFill>
          </p:spPr>
          <p:txBody>
            <a:bodyPr/>
            <a:lstStyle/>
            <a:p>
              <a:endParaRPr lang="en-US"/>
            </a:p>
          </p:txBody>
        </p:sp>
      </p:grpSp>
      <p:grpSp>
        <p:nvGrpSpPr>
          <p:cNvPr id="22" name="Group 22"/>
          <p:cNvGrpSpPr/>
          <p:nvPr/>
        </p:nvGrpSpPr>
        <p:grpSpPr>
          <a:xfrm>
            <a:off x="1705232" y="2175643"/>
            <a:ext cx="15316010" cy="6434518"/>
            <a:chOff x="0" y="0"/>
            <a:chExt cx="20421346" cy="8579358"/>
          </a:xfrm>
        </p:grpSpPr>
        <p:sp>
          <p:nvSpPr>
            <p:cNvPr id="23" name="Freeform 23"/>
            <p:cNvSpPr/>
            <p:nvPr/>
          </p:nvSpPr>
          <p:spPr>
            <a:xfrm>
              <a:off x="0" y="0"/>
              <a:ext cx="20421346" cy="8579358"/>
            </a:xfrm>
            <a:custGeom>
              <a:avLst/>
              <a:gdLst/>
              <a:ahLst/>
              <a:cxnLst/>
              <a:rect l="l" t="t" r="r" b="b"/>
              <a:pathLst>
                <a:path w="20421346" h="8579358">
                  <a:moveTo>
                    <a:pt x="0" y="231775"/>
                  </a:moveTo>
                  <a:cubicBezTo>
                    <a:pt x="0" y="103759"/>
                    <a:pt x="103759" y="0"/>
                    <a:pt x="231775" y="0"/>
                  </a:cubicBezTo>
                  <a:lnTo>
                    <a:pt x="20189571" y="0"/>
                  </a:lnTo>
                  <a:cubicBezTo>
                    <a:pt x="20317586" y="0"/>
                    <a:pt x="20421346" y="103759"/>
                    <a:pt x="20421346" y="231775"/>
                  </a:cubicBezTo>
                  <a:lnTo>
                    <a:pt x="20421346" y="8347583"/>
                  </a:lnTo>
                  <a:cubicBezTo>
                    <a:pt x="20421346" y="8475599"/>
                    <a:pt x="20317586" y="8579358"/>
                    <a:pt x="20189571" y="8579358"/>
                  </a:cubicBezTo>
                  <a:lnTo>
                    <a:pt x="231775" y="8579358"/>
                  </a:lnTo>
                  <a:cubicBezTo>
                    <a:pt x="103759" y="8579358"/>
                    <a:pt x="0" y="8475599"/>
                    <a:pt x="0" y="8347583"/>
                  </a:cubicBezTo>
                  <a:close/>
                </a:path>
              </a:pathLst>
            </a:custGeom>
            <a:blipFill>
              <a:blip r:embed="rId5"/>
              <a:stretch>
                <a:fillRect l="-194" r="-194"/>
              </a:stretch>
            </a:blipFill>
          </p:spPr>
          <p:txBody>
            <a:bodyPr/>
            <a:lstStyle/>
            <a:p>
              <a:endParaRPr lang="en-US"/>
            </a:p>
          </p:txBody>
        </p:sp>
      </p:grpSp>
      <p:grpSp>
        <p:nvGrpSpPr>
          <p:cNvPr id="24" name="Group 24"/>
          <p:cNvGrpSpPr/>
          <p:nvPr/>
        </p:nvGrpSpPr>
        <p:grpSpPr>
          <a:xfrm>
            <a:off x="1705232" y="2175643"/>
            <a:ext cx="15316010" cy="6434518"/>
            <a:chOff x="0" y="0"/>
            <a:chExt cx="20421346" cy="8579358"/>
          </a:xfrm>
        </p:grpSpPr>
        <p:sp>
          <p:nvSpPr>
            <p:cNvPr id="25" name="Freeform 25"/>
            <p:cNvSpPr/>
            <p:nvPr/>
          </p:nvSpPr>
          <p:spPr>
            <a:xfrm>
              <a:off x="0" y="0"/>
              <a:ext cx="20421346" cy="8579358"/>
            </a:xfrm>
            <a:custGeom>
              <a:avLst/>
              <a:gdLst/>
              <a:ahLst/>
              <a:cxnLst/>
              <a:rect l="l" t="t" r="r" b="b"/>
              <a:pathLst>
                <a:path w="20421346" h="8579358">
                  <a:moveTo>
                    <a:pt x="0" y="231775"/>
                  </a:moveTo>
                  <a:cubicBezTo>
                    <a:pt x="0" y="103759"/>
                    <a:pt x="103759" y="0"/>
                    <a:pt x="231775" y="0"/>
                  </a:cubicBezTo>
                  <a:lnTo>
                    <a:pt x="20189571" y="0"/>
                  </a:lnTo>
                  <a:cubicBezTo>
                    <a:pt x="20317586" y="0"/>
                    <a:pt x="20421346" y="103759"/>
                    <a:pt x="20421346" y="231775"/>
                  </a:cubicBezTo>
                  <a:lnTo>
                    <a:pt x="20421346" y="8347583"/>
                  </a:lnTo>
                  <a:cubicBezTo>
                    <a:pt x="20421346" y="8475599"/>
                    <a:pt x="20317586" y="8579358"/>
                    <a:pt x="20189571" y="8579358"/>
                  </a:cubicBezTo>
                  <a:lnTo>
                    <a:pt x="231775" y="8579358"/>
                  </a:lnTo>
                  <a:cubicBezTo>
                    <a:pt x="103759" y="8579358"/>
                    <a:pt x="0" y="8475599"/>
                    <a:pt x="0" y="8347583"/>
                  </a:cubicBezTo>
                  <a:close/>
                </a:path>
              </a:pathLst>
            </a:custGeom>
            <a:gradFill rotWithShape="1">
              <a:gsLst>
                <a:gs pos="0">
                  <a:srgbClr val="38EF7D">
                    <a:alpha val="40000"/>
                  </a:srgbClr>
                </a:gs>
                <a:gs pos="100000">
                  <a:srgbClr val="11998E">
                    <a:alpha val="40000"/>
                  </a:srgbClr>
                </a:gs>
              </a:gsLst>
              <a:lin ang="2700000"/>
            </a:gradFill>
          </p:spPr>
          <p:txBody>
            <a:bodyPr/>
            <a:lstStyle/>
            <a:p>
              <a:endParaRPr lang="en-US"/>
            </a:p>
          </p:txBody>
        </p:sp>
      </p:grpSp>
      <p:grpSp>
        <p:nvGrpSpPr>
          <p:cNvPr id="26" name="Group 26"/>
          <p:cNvGrpSpPr/>
          <p:nvPr/>
        </p:nvGrpSpPr>
        <p:grpSpPr>
          <a:xfrm>
            <a:off x="0" y="2124"/>
            <a:ext cx="18291715" cy="10295477"/>
            <a:chOff x="0" y="0"/>
            <a:chExt cx="24388953" cy="13727303"/>
          </a:xfrm>
        </p:grpSpPr>
        <p:sp>
          <p:nvSpPr>
            <p:cNvPr id="27" name="Freeform 27"/>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28" name="Group 28"/>
          <p:cNvGrpSpPr/>
          <p:nvPr/>
        </p:nvGrpSpPr>
        <p:grpSpPr>
          <a:xfrm>
            <a:off x="15614542" y="498424"/>
            <a:ext cx="4114800" cy="547688"/>
            <a:chOff x="0" y="0"/>
            <a:chExt cx="5486400" cy="730250"/>
          </a:xfrm>
        </p:grpSpPr>
        <p:sp>
          <p:nvSpPr>
            <p:cNvPr id="29" name="Freeform 29"/>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6">
                <a:alphaModFix amt="0"/>
              </a:blip>
              <a:stretch>
                <a:fillRect t="-96290" b="-96290"/>
              </a:stretch>
            </a:blipFill>
          </p:spPr>
          <p:txBody>
            <a:bodyPr/>
            <a:lstStyle/>
            <a:p>
              <a:endParaRPr lang="en-US"/>
            </a:p>
          </p:txBody>
        </p:sp>
      </p:grpSp>
      <p:grpSp>
        <p:nvGrpSpPr>
          <p:cNvPr id="30" name="Group 30"/>
          <p:cNvGrpSpPr/>
          <p:nvPr/>
        </p:nvGrpSpPr>
        <p:grpSpPr>
          <a:xfrm>
            <a:off x="15614542" y="484137"/>
            <a:ext cx="4114800" cy="561975"/>
            <a:chOff x="0" y="0"/>
            <a:chExt cx="5486400" cy="749300"/>
          </a:xfrm>
        </p:grpSpPr>
        <p:sp>
          <p:nvSpPr>
            <p:cNvPr id="31" name="Freeform 31"/>
            <p:cNvSpPr/>
            <p:nvPr/>
          </p:nvSpPr>
          <p:spPr>
            <a:xfrm>
              <a:off x="0" y="0"/>
              <a:ext cx="5486400" cy="749301"/>
            </a:xfrm>
            <a:custGeom>
              <a:avLst/>
              <a:gdLst/>
              <a:ahLst/>
              <a:cxnLst/>
              <a:rect l="l" t="t" r="r" b="b"/>
              <a:pathLst>
                <a:path w="5486400" h="749301">
                  <a:moveTo>
                    <a:pt x="0" y="0"/>
                  </a:moveTo>
                  <a:lnTo>
                    <a:pt x="5486400" y="0"/>
                  </a:lnTo>
                  <a:lnTo>
                    <a:pt x="5486400" y="749301"/>
                  </a:lnTo>
                  <a:lnTo>
                    <a:pt x="0" y="749301"/>
                  </a:lnTo>
                  <a:close/>
                </a:path>
              </a:pathLst>
            </a:custGeom>
            <a:blipFill>
              <a:blip r:embed="rId7">
                <a:alphaModFix amt="0"/>
              </a:blip>
              <a:stretch>
                <a:fillRect t="-92670" b="-92669"/>
              </a:stretch>
            </a:blipFill>
          </p:spPr>
          <p:txBody>
            <a:bodyPr/>
            <a:lstStyle/>
            <a:p>
              <a:endParaRPr lang="en-US"/>
            </a:p>
          </p:txBody>
        </p:sp>
        <p:sp>
          <p:nvSpPr>
            <p:cNvPr id="32" name="TextBox 32"/>
            <p:cNvSpPr txBox="1"/>
            <p:nvPr/>
          </p:nvSpPr>
          <p:spPr>
            <a:xfrm>
              <a:off x="0" y="-19050"/>
              <a:ext cx="5486400" cy="768350"/>
            </a:xfrm>
            <a:prstGeom prst="rect">
              <a:avLst/>
            </a:prstGeom>
          </p:spPr>
          <p:txBody>
            <a:bodyPr lIns="0" tIns="0" rIns="0" bIns="0" rtlCol="0" anchor="ctr"/>
            <a:lstStyle/>
            <a:p>
              <a:pPr algn="ctr">
                <a:lnSpc>
                  <a:spcPts val="2160"/>
                </a:lnSpc>
              </a:pPr>
              <a:r>
                <a:rPr lang="en-US" sz="1800">
                  <a:solidFill>
                    <a:srgbClr val="FFFFFF"/>
                  </a:solidFill>
                  <a:latin typeface="Arial"/>
                  <a:ea typeface="Arial"/>
                  <a:cs typeface="Arial"/>
                  <a:sym typeface="Arial"/>
                </a:rPr>
                <a:t>‹#›</a:t>
              </a:r>
            </a:p>
          </p:txBody>
        </p:sp>
      </p:grpSp>
      <p:grpSp>
        <p:nvGrpSpPr>
          <p:cNvPr id="33" name="Group 33"/>
          <p:cNvGrpSpPr/>
          <p:nvPr/>
        </p:nvGrpSpPr>
        <p:grpSpPr>
          <a:xfrm>
            <a:off x="2480043" y="3431010"/>
            <a:ext cx="13766397" cy="2259006"/>
            <a:chOff x="0" y="0"/>
            <a:chExt cx="18355196" cy="3012008"/>
          </a:xfrm>
        </p:grpSpPr>
        <p:sp>
          <p:nvSpPr>
            <p:cNvPr id="34" name="Freeform 34"/>
            <p:cNvSpPr/>
            <p:nvPr/>
          </p:nvSpPr>
          <p:spPr>
            <a:xfrm>
              <a:off x="0" y="0"/>
              <a:ext cx="18355183" cy="3012059"/>
            </a:xfrm>
            <a:custGeom>
              <a:avLst/>
              <a:gdLst/>
              <a:ahLst/>
              <a:cxnLst/>
              <a:rect l="l" t="t" r="r" b="b"/>
              <a:pathLst>
                <a:path w="18355183" h="3012059">
                  <a:moveTo>
                    <a:pt x="0" y="0"/>
                  </a:moveTo>
                  <a:lnTo>
                    <a:pt x="18355183" y="0"/>
                  </a:lnTo>
                  <a:lnTo>
                    <a:pt x="18355183" y="3012059"/>
                  </a:lnTo>
                  <a:lnTo>
                    <a:pt x="0" y="3012059"/>
                  </a:lnTo>
                  <a:close/>
                </a:path>
              </a:pathLst>
            </a:custGeom>
            <a:blipFill>
              <a:blip r:embed="rId6">
                <a:alphaModFix amt="0"/>
              </a:blip>
              <a:stretch>
                <a:fillRect t="-68658" b="-68656"/>
              </a:stretch>
            </a:blipFill>
          </p:spPr>
          <p:txBody>
            <a:bodyPr/>
            <a:lstStyle/>
            <a:p>
              <a:endParaRPr lang="en-US"/>
            </a:p>
          </p:txBody>
        </p:sp>
      </p:grpSp>
      <p:grpSp>
        <p:nvGrpSpPr>
          <p:cNvPr id="35" name="Group 35"/>
          <p:cNvGrpSpPr/>
          <p:nvPr/>
        </p:nvGrpSpPr>
        <p:grpSpPr>
          <a:xfrm>
            <a:off x="2480043" y="3473872"/>
            <a:ext cx="13766397" cy="2216138"/>
            <a:chOff x="0" y="0"/>
            <a:chExt cx="18355196" cy="2954850"/>
          </a:xfrm>
        </p:grpSpPr>
        <p:sp>
          <p:nvSpPr>
            <p:cNvPr id="36" name="Freeform 36"/>
            <p:cNvSpPr/>
            <p:nvPr/>
          </p:nvSpPr>
          <p:spPr>
            <a:xfrm>
              <a:off x="0" y="0"/>
              <a:ext cx="18355196" cy="2954855"/>
            </a:xfrm>
            <a:custGeom>
              <a:avLst/>
              <a:gdLst/>
              <a:ahLst/>
              <a:cxnLst/>
              <a:rect l="l" t="t" r="r" b="b"/>
              <a:pathLst>
                <a:path w="18355196" h="2954855">
                  <a:moveTo>
                    <a:pt x="0" y="0"/>
                  </a:moveTo>
                  <a:lnTo>
                    <a:pt x="18355196" y="0"/>
                  </a:lnTo>
                  <a:lnTo>
                    <a:pt x="18355196" y="2954855"/>
                  </a:lnTo>
                  <a:lnTo>
                    <a:pt x="0" y="2954855"/>
                  </a:lnTo>
                  <a:close/>
                </a:path>
              </a:pathLst>
            </a:custGeom>
            <a:blipFill>
              <a:blip r:embed="rId7">
                <a:alphaModFix amt="0"/>
              </a:blip>
              <a:stretch>
                <a:fillRect t="-71038" b="-71038"/>
              </a:stretch>
            </a:blipFill>
          </p:spPr>
          <p:txBody>
            <a:bodyPr/>
            <a:lstStyle/>
            <a:p>
              <a:endParaRPr lang="en-US"/>
            </a:p>
          </p:txBody>
        </p:sp>
        <p:sp>
          <p:nvSpPr>
            <p:cNvPr id="37" name="TextBox 37"/>
            <p:cNvSpPr txBox="1"/>
            <p:nvPr/>
          </p:nvSpPr>
          <p:spPr>
            <a:xfrm>
              <a:off x="0" y="57150"/>
              <a:ext cx="18355196" cy="2897700"/>
            </a:xfrm>
            <a:prstGeom prst="rect">
              <a:avLst/>
            </a:prstGeom>
          </p:spPr>
          <p:txBody>
            <a:bodyPr lIns="0" tIns="0" rIns="0" bIns="0" rtlCol="0" anchor="ctr"/>
            <a:lstStyle/>
            <a:p>
              <a:pPr algn="l">
                <a:lnSpc>
                  <a:spcPts val="8856"/>
                </a:lnSpc>
              </a:pPr>
              <a:r>
                <a:rPr lang="en-US" sz="8200" b="1">
                  <a:solidFill>
                    <a:srgbClr val="FFFFFF"/>
                  </a:solidFill>
                  <a:latin typeface="Times New Roman Bold"/>
                  <a:ea typeface="Times New Roman Bold"/>
                  <a:cs typeface="Times New Roman Bold"/>
                  <a:sym typeface="Times New Roman Bold"/>
                </a:rPr>
                <a:t>Mô phỏng và thực thi </a:t>
              </a:r>
            </a:p>
          </p:txBody>
        </p:sp>
      </p:grpSp>
      <p:sp>
        <p:nvSpPr>
          <p:cNvPr id="38" name="TextBox 38"/>
          <p:cNvSpPr txBox="1"/>
          <p:nvPr/>
        </p:nvSpPr>
        <p:spPr>
          <a:xfrm>
            <a:off x="2548614" y="1142886"/>
            <a:ext cx="2429709" cy="2481453"/>
          </a:xfrm>
          <a:prstGeom prst="rect">
            <a:avLst/>
          </a:prstGeom>
        </p:spPr>
        <p:txBody>
          <a:bodyPr lIns="0" tIns="0" rIns="0" bIns="0" rtlCol="0" anchor="t">
            <a:spAutoFit/>
          </a:bodyPr>
          <a:lstStyle/>
          <a:p>
            <a:pPr algn="l">
              <a:lnSpc>
                <a:spcPts val="18576"/>
              </a:lnSpc>
            </a:pPr>
            <a:r>
              <a:rPr lang="en-US" sz="17200">
                <a:solidFill>
                  <a:srgbClr val="FFFFFF"/>
                </a:solidFill>
                <a:latin typeface="Arial"/>
                <a:ea typeface="Arial"/>
                <a:cs typeface="Arial"/>
                <a:sym typeface="Arial"/>
              </a:rPr>
              <a:t>05</a:t>
            </a:r>
          </a:p>
        </p:txBody>
      </p:sp>
      <p:sp>
        <p:nvSpPr>
          <p:cNvPr id="39" name="TextBox 39"/>
          <p:cNvSpPr txBox="1"/>
          <p:nvPr/>
        </p:nvSpPr>
        <p:spPr>
          <a:xfrm>
            <a:off x="17486462" y="9172575"/>
            <a:ext cx="536705" cy="1114425"/>
          </a:xfrm>
          <a:prstGeom prst="rect">
            <a:avLst/>
          </a:prstGeom>
        </p:spPr>
        <p:txBody>
          <a:bodyPr lIns="0" tIns="0" rIns="0" bIns="0" rtlCol="0" anchor="t">
            <a:spAutoFit/>
          </a:bodyPr>
          <a:lstStyle/>
          <a:p>
            <a:pPr algn="ctr">
              <a:lnSpc>
                <a:spcPts val="4320"/>
              </a:lnSpc>
            </a:pPr>
            <a:r>
              <a:rPr lang="en-US" sz="3600">
                <a:solidFill>
                  <a:srgbClr val="000000"/>
                </a:solidFill>
                <a:latin typeface="Arial"/>
                <a:ea typeface="Arial"/>
                <a:cs typeface="Arial"/>
                <a:sym typeface="Arial"/>
              </a:rPr>
              <a:t>21</a:t>
            </a:r>
          </a:p>
          <a:p>
            <a:pPr algn="ctr">
              <a:lnSpc>
                <a:spcPts val="4320"/>
              </a:lnSpc>
            </a:pPr>
            <a:endParaRPr lang="en-US" sz="3600">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124"/>
            <a:ext cx="18291715" cy="10295477"/>
            <a:chOff x="0" y="0"/>
            <a:chExt cx="24388953" cy="13727303"/>
          </a:xfrm>
        </p:grpSpPr>
        <p:sp>
          <p:nvSpPr>
            <p:cNvPr id="3" name="Freeform 3"/>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4" name="Group 4"/>
          <p:cNvGrpSpPr/>
          <p:nvPr/>
        </p:nvGrpSpPr>
        <p:grpSpPr>
          <a:xfrm rot="5400000">
            <a:off x="8668464" y="-8670055"/>
            <a:ext cx="947356" cy="18291715"/>
            <a:chOff x="0" y="0"/>
            <a:chExt cx="1263142" cy="24388953"/>
          </a:xfrm>
        </p:grpSpPr>
        <p:sp>
          <p:nvSpPr>
            <p:cNvPr id="5" name="Freeform 5"/>
            <p:cNvSpPr/>
            <p:nvPr/>
          </p:nvSpPr>
          <p:spPr>
            <a:xfrm>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gradFill rotWithShape="1">
              <a:gsLst>
                <a:gs pos="0">
                  <a:srgbClr val="10CC57">
                    <a:alpha val="100000"/>
                  </a:srgbClr>
                </a:gs>
                <a:gs pos="100000">
                  <a:srgbClr val="017058">
                    <a:alpha val="100000"/>
                  </a:srgbClr>
                </a:gs>
              </a:gsLst>
              <a:lin ang="0"/>
            </a:gradFill>
          </p:spPr>
          <p:txBody>
            <a:bodyPr/>
            <a:lstStyle/>
            <a:p>
              <a:endParaRPr lang="en-US"/>
            </a:p>
          </p:txBody>
        </p:sp>
      </p:grpSp>
      <p:grpSp>
        <p:nvGrpSpPr>
          <p:cNvPr id="6" name="Group 6"/>
          <p:cNvGrpSpPr/>
          <p:nvPr/>
        </p:nvGrpSpPr>
        <p:grpSpPr>
          <a:xfrm rot="-5400000">
            <a:off x="8670312" y="-8672208"/>
            <a:ext cx="947356" cy="18291715"/>
            <a:chOff x="0" y="0"/>
            <a:chExt cx="1263142" cy="24388953"/>
          </a:xfrm>
        </p:grpSpPr>
        <p:sp>
          <p:nvSpPr>
            <p:cNvPr id="7" name="Freeform 7"/>
            <p:cNvSpPr/>
            <p:nvPr/>
          </p:nvSpPr>
          <p:spPr>
            <a:xfrm flipH="1">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blipFill>
              <a:blip r:embed="rId2"/>
              <a:stretch>
                <a:fillRect l="-35092" r="-35091"/>
              </a:stretch>
            </a:blipFill>
          </p:spPr>
          <p:txBody>
            <a:bodyPr/>
            <a:lstStyle/>
            <a:p>
              <a:endParaRPr lang="en-US"/>
            </a:p>
          </p:txBody>
        </p:sp>
      </p:grpSp>
      <p:sp>
        <p:nvSpPr>
          <p:cNvPr id="8" name="TextBox 8"/>
          <p:cNvSpPr txBox="1"/>
          <p:nvPr/>
        </p:nvSpPr>
        <p:spPr>
          <a:xfrm>
            <a:off x="428996" y="227362"/>
            <a:ext cx="10993288" cy="456571"/>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9" name="Group 9"/>
          <p:cNvGrpSpPr/>
          <p:nvPr/>
        </p:nvGrpSpPr>
        <p:grpSpPr>
          <a:xfrm>
            <a:off x="6719983" y="457933"/>
            <a:ext cx="4848130" cy="958024"/>
            <a:chOff x="0" y="0"/>
            <a:chExt cx="6464173" cy="1277366"/>
          </a:xfrm>
        </p:grpSpPr>
        <p:sp>
          <p:nvSpPr>
            <p:cNvPr id="10" name="Freeform 10"/>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2700000"/>
            </a:gradFill>
          </p:spPr>
          <p:txBody>
            <a:bodyPr/>
            <a:lstStyle/>
            <a:p>
              <a:endParaRPr lang="en-US"/>
            </a:p>
          </p:txBody>
        </p:sp>
      </p:grpSp>
      <p:grpSp>
        <p:nvGrpSpPr>
          <p:cNvPr id="11" name="Group 11"/>
          <p:cNvGrpSpPr/>
          <p:nvPr/>
        </p:nvGrpSpPr>
        <p:grpSpPr>
          <a:xfrm>
            <a:off x="6807460" y="535972"/>
            <a:ext cx="4673060" cy="801815"/>
            <a:chOff x="0" y="0"/>
            <a:chExt cx="6230747" cy="1069086"/>
          </a:xfrm>
        </p:grpSpPr>
        <p:sp>
          <p:nvSpPr>
            <p:cNvPr id="12" name="Freeform 12"/>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en-US"/>
            </a:p>
          </p:txBody>
        </p:sp>
      </p:grpSp>
      <p:grpSp>
        <p:nvGrpSpPr>
          <p:cNvPr id="13" name="Group 13"/>
          <p:cNvGrpSpPr/>
          <p:nvPr/>
        </p:nvGrpSpPr>
        <p:grpSpPr>
          <a:xfrm>
            <a:off x="9436446" y="362541"/>
            <a:ext cx="1163288" cy="1152620"/>
            <a:chOff x="0" y="0"/>
            <a:chExt cx="1551051" cy="1536827"/>
          </a:xfrm>
        </p:grpSpPr>
        <p:sp>
          <p:nvSpPr>
            <p:cNvPr id="14" name="Freeform 14"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211" r="-210"/>
              </a:stretch>
            </a:blipFill>
          </p:spPr>
          <p:txBody>
            <a:bodyPr/>
            <a:lstStyle/>
            <a:p>
              <a:endParaRPr lang="en-US"/>
            </a:p>
          </p:txBody>
        </p:sp>
      </p:grpSp>
      <p:grpSp>
        <p:nvGrpSpPr>
          <p:cNvPr id="15" name="Group 15"/>
          <p:cNvGrpSpPr/>
          <p:nvPr/>
        </p:nvGrpSpPr>
        <p:grpSpPr>
          <a:xfrm>
            <a:off x="7688247" y="398078"/>
            <a:ext cx="1307497" cy="1081564"/>
            <a:chOff x="0" y="0"/>
            <a:chExt cx="1743329" cy="1442085"/>
          </a:xfrm>
        </p:grpSpPr>
        <p:sp>
          <p:nvSpPr>
            <p:cNvPr id="16" name="Freeform 16"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l="-38" r="-37"/>
              </a:stretch>
            </a:blipFill>
          </p:spPr>
          <p:txBody>
            <a:bodyPr/>
            <a:lstStyle/>
            <a:p>
              <a:endParaRPr lang="en-US"/>
            </a:p>
          </p:txBody>
        </p:sp>
      </p:grpSp>
      <p:grpSp>
        <p:nvGrpSpPr>
          <p:cNvPr id="17" name="Group 17"/>
          <p:cNvGrpSpPr/>
          <p:nvPr/>
        </p:nvGrpSpPr>
        <p:grpSpPr>
          <a:xfrm>
            <a:off x="908999" y="1555147"/>
            <a:ext cx="16470001" cy="1335996"/>
            <a:chOff x="0" y="0"/>
            <a:chExt cx="21960002" cy="1781327"/>
          </a:xfrm>
        </p:grpSpPr>
        <p:sp>
          <p:nvSpPr>
            <p:cNvPr id="18" name="Freeform 18"/>
            <p:cNvSpPr/>
            <p:nvPr/>
          </p:nvSpPr>
          <p:spPr>
            <a:xfrm>
              <a:off x="0" y="0"/>
              <a:ext cx="21959951" cy="1781302"/>
            </a:xfrm>
            <a:custGeom>
              <a:avLst/>
              <a:gdLst/>
              <a:ahLst/>
              <a:cxnLst/>
              <a:rect l="l" t="t" r="r" b="b"/>
              <a:pathLst>
                <a:path w="21959951" h="1781302">
                  <a:moveTo>
                    <a:pt x="0" y="0"/>
                  </a:moveTo>
                  <a:lnTo>
                    <a:pt x="21959951" y="0"/>
                  </a:lnTo>
                  <a:lnTo>
                    <a:pt x="21959951" y="1781302"/>
                  </a:lnTo>
                  <a:lnTo>
                    <a:pt x="0" y="1781302"/>
                  </a:lnTo>
                  <a:close/>
                </a:path>
              </a:pathLst>
            </a:custGeom>
            <a:blipFill>
              <a:blip r:embed="rId5">
                <a:alphaModFix amt="0"/>
              </a:blip>
              <a:stretch>
                <a:fillRect t="-190044" b="-190046"/>
              </a:stretch>
            </a:blipFill>
          </p:spPr>
          <p:txBody>
            <a:bodyPr/>
            <a:lstStyle/>
            <a:p>
              <a:endParaRPr lang="en-US"/>
            </a:p>
          </p:txBody>
        </p:sp>
      </p:grpSp>
      <p:grpSp>
        <p:nvGrpSpPr>
          <p:cNvPr id="19" name="Group 19"/>
          <p:cNvGrpSpPr/>
          <p:nvPr/>
        </p:nvGrpSpPr>
        <p:grpSpPr>
          <a:xfrm>
            <a:off x="908999" y="1576578"/>
            <a:ext cx="16470001" cy="1314563"/>
            <a:chOff x="0" y="0"/>
            <a:chExt cx="21960002" cy="1752750"/>
          </a:xfrm>
        </p:grpSpPr>
        <p:sp>
          <p:nvSpPr>
            <p:cNvPr id="20" name="Freeform 20"/>
            <p:cNvSpPr/>
            <p:nvPr/>
          </p:nvSpPr>
          <p:spPr>
            <a:xfrm>
              <a:off x="0" y="0"/>
              <a:ext cx="21960001" cy="1752748"/>
            </a:xfrm>
            <a:custGeom>
              <a:avLst/>
              <a:gdLst/>
              <a:ahLst/>
              <a:cxnLst/>
              <a:rect l="l" t="t" r="r" b="b"/>
              <a:pathLst>
                <a:path w="21960001" h="1752748">
                  <a:moveTo>
                    <a:pt x="0" y="0"/>
                  </a:moveTo>
                  <a:lnTo>
                    <a:pt x="21960001" y="0"/>
                  </a:lnTo>
                  <a:lnTo>
                    <a:pt x="21960001" y="1752748"/>
                  </a:lnTo>
                  <a:lnTo>
                    <a:pt x="0" y="1752748"/>
                  </a:lnTo>
                  <a:close/>
                </a:path>
              </a:pathLst>
            </a:custGeom>
            <a:blipFill>
              <a:blip r:embed="rId6">
                <a:alphaModFix amt="0"/>
              </a:blip>
              <a:stretch>
                <a:fillRect t="-194125" b="-194126"/>
              </a:stretch>
            </a:blipFill>
          </p:spPr>
          <p:txBody>
            <a:bodyPr/>
            <a:lstStyle/>
            <a:p>
              <a:endParaRPr lang="en-US"/>
            </a:p>
          </p:txBody>
        </p:sp>
        <p:sp>
          <p:nvSpPr>
            <p:cNvPr id="21" name="TextBox 21"/>
            <p:cNvSpPr txBox="1"/>
            <p:nvPr/>
          </p:nvSpPr>
          <p:spPr>
            <a:xfrm>
              <a:off x="0" y="28575"/>
              <a:ext cx="21960002" cy="1724175"/>
            </a:xfrm>
            <a:prstGeom prst="rect">
              <a:avLst/>
            </a:prstGeom>
          </p:spPr>
          <p:txBody>
            <a:bodyPr lIns="0" tIns="0" rIns="0" bIns="0" rtlCol="0" anchor="ctr"/>
            <a:lstStyle/>
            <a:p>
              <a:pPr algn="l">
                <a:lnSpc>
                  <a:spcPts val="6048"/>
                </a:lnSpc>
              </a:pPr>
              <a:r>
                <a:rPr lang="en-US" sz="5599" b="1">
                  <a:solidFill>
                    <a:srgbClr val="017058"/>
                  </a:solidFill>
                  <a:latin typeface="Times New Roman Bold"/>
                  <a:ea typeface="Times New Roman Bold"/>
                  <a:cs typeface="Times New Roman Bold"/>
                  <a:sym typeface="Times New Roman Bold"/>
                </a:rPr>
                <a:t>5. Mô phỏng và thực thi  </a:t>
              </a:r>
            </a:p>
          </p:txBody>
        </p:sp>
      </p:grpSp>
      <p:sp>
        <p:nvSpPr>
          <p:cNvPr id="22" name="AutoShape 22"/>
          <p:cNvSpPr/>
          <p:nvPr/>
        </p:nvSpPr>
        <p:spPr>
          <a:xfrm flipV="1">
            <a:off x="9164907" y="3513379"/>
            <a:ext cx="0" cy="6745046"/>
          </a:xfrm>
          <a:prstGeom prst="line">
            <a:avLst/>
          </a:prstGeom>
          <a:ln w="38100" cap="flat">
            <a:solidFill>
              <a:srgbClr val="000000"/>
            </a:solidFill>
            <a:prstDash val="solid"/>
            <a:headEnd type="none" w="sm" len="sm"/>
            <a:tailEnd type="none" w="sm" len="sm"/>
          </a:ln>
        </p:spPr>
        <p:txBody>
          <a:bodyPr/>
          <a:lstStyle/>
          <a:p>
            <a:endParaRPr lang="en-US"/>
          </a:p>
        </p:txBody>
      </p:sp>
      <p:sp>
        <p:nvSpPr>
          <p:cNvPr id="23" name="Freeform 23"/>
          <p:cNvSpPr/>
          <p:nvPr/>
        </p:nvSpPr>
        <p:spPr>
          <a:xfrm>
            <a:off x="1576926" y="4199179"/>
            <a:ext cx="6278853" cy="5167441"/>
          </a:xfrm>
          <a:custGeom>
            <a:avLst/>
            <a:gdLst/>
            <a:ahLst/>
            <a:cxnLst/>
            <a:rect l="l" t="t" r="r" b="b"/>
            <a:pathLst>
              <a:path w="6278853" h="5167441">
                <a:moveTo>
                  <a:pt x="0" y="0"/>
                </a:moveTo>
                <a:lnTo>
                  <a:pt x="6278854" y="0"/>
                </a:lnTo>
                <a:lnTo>
                  <a:pt x="6278854" y="5167441"/>
                </a:lnTo>
                <a:lnTo>
                  <a:pt x="0" y="5167441"/>
                </a:lnTo>
                <a:lnTo>
                  <a:pt x="0" y="0"/>
                </a:lnTo>
                <a:close/>
              </a:path>
            </a:pathLst>
          </a:custGeom>
          <a:blipFill>
            <a:blip r:embed="rId7"/>
            <a:stretch>
              <a:fillRect r="-79989" b="-23019"/>
            </a:stretch>
          </a:blipFill>
        </p:spPr>
        <p:txBody>
          <a:bodyPr/>
          <a:lstStyle/>
          <a:p>
            <a:endParaRPr lang="en-US"/>
          </a:p>
        </p:txBody>
      </p:sp>
      <p:sp>
        <p:nvSpPr>
          <p:cNvPr id="24" name="Freeform 24"/>
          <p:cNvSpPr/>
          <p:nvPr/>
        </p:nvSpPr>
        <p:spPr>
          <a:xfrm>
            <a:off x="10018090" y="4199179"/>
            <a:ext cx="6352211" cy="5367147"/>
          </a:xfrm>
          <a:custGeom>
            <a:avLst/>
            <a:gdLst/>
            <a:ahLst/>
            <a:cxnLst/>
            <a:rect l="l" t="t" r="r" b="b"/>
            <a:pathLst>
              <a:path w="6352211" h="5367147">
                <a:moveTo>
                  <a:pt x="0" y="0"/>
                </a:moveTo>
                <a:lnTo>
                  <a:pt x="6352211" y="0"/>
                </a:lnTo>
                <a:lnTo>
                  <a:pt x="6352211" y="5367146"/>
                </a:lnTo>
                <a:lnTo>
                  <a:pt x="0" y="5367146"/>
                </a:lnTo>
                <a:lnTo>
                  <a:pt x="0" y="0"/>
                </a:lnTo>
                <a:close/>
              </a:path>
            </a:pathLst>
          </a:custGeom>
          <a:blipFill>
            <a:blip r:embed="rId8"/>
            <a:stretch>
              <a:fillRect r="-77910" b="-14493"/>
            </a:stretch>
          </a:blipFill>
        </p:spPr>
        <p:txBody>
          <a:bodyPr/>
          <a:lstStyle/>
          <a:p>
            <a:endParaRPr lang="en-US"/>
          </a:p>
        </p:txBody>
      </p:sp>
      <p:sp>
        <p:nvSpPr>
          <p:cNvPr id="25" name="TextBox 25"/>
          <p:cNvSpPr txBox="1"/>
          <p:nvPr/>
        </p:nvSpPr>
        <p:spPr>
          <a:xfrm>
            <a:off x="68570" y="-2318490"/>
            <a:ext cx="18150850" cy="569719"/>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sp>
        <p:nvSpPr>
          <p:cNvPr id="26" name="TextBox 26"/>
          <p:cNvSpPr txBox="1"/>
          <p:nvPr/>
        </p:nvSpPr>
        <p:spPr>
          <a:xfrm>
            <a:off x="1070182" y="2637272"/>
            <a:ext cx="9313332" cy="584835"/>
          </a:xfrm>
          <a:prstGeom prst="rect">
            <a:avLst/>
          </a:prstGeom>
        </p:spPr>
        <p:txBody>
          <a:bodyPr lIns="0" tIns="0" rIns="0" bIns="0" rtlCol="0" anchor="t">
            <a:spAutoFit/>
          </a:bodyPr>
          <a:lstStyle/>
          <a:p>
            <a:pPr algn="l">
              <a:lnSpc>
                <a:spcPts val="4320"/>
              </a:lnSpc>
            </a:pPr>
            <a:r>
              <a:rPr lang="en-US" sz="4000" b="1">
                <a:solidFill>
                  <a:srgbClr val="017058"/>
                </a:solidFill>
                <a:latin typeface="Times New Roman Bold"/>
                <a:ea typeface="Times New Roman Bold"/>
                <a:cs typeface="Times New Roman Bold"/>
                <a:sym typeface="Times New Roman Bold"/>
              </a:rPr>
              <a:t>5.1 Mô phỏng lõi RSA</a:t>
            </a:r>
          </a:p>
        </p:txBody>
      </p:sp>
      <p:sp>
        <p:nvSpPr>
          <p:cNvPr id="27" name="TextBox 27"/>
          <p:cNvSpPr txBox="1"/>
          <p:nvPr/>
        </p:nvSpPr>
        <p:spPr>
          <a:xfrm>
            <a:off x="17447714" y="9144000"/>
            <a:ext cx="508635" cy="1114425"/>
          </a:xfrm>
          <a:prstGeom prst="rect">
            <a:avLst/>
          </a:prstGeom>
        </p:spPr>
        <p:txBody>
          <a:bodyPr lIns="0" tIns="0" rIns="0" bIns="0" rtlCol="0" anchor="t">
            <a:spAutoFit/>
          </a:bodyPr>
          <a:lstStyle/>
          <a:p>
            <a:pPr algn="ctr">
              <a:lnSpc>
                <a:spcPts val="4320"/>
              </a:lnSpc>
            </a:pPr>
            <a:r>
              <a:rPr lang="en-US" sz="3600">
                <a:solidFill>
                  <a:srgbClr val="000000"/>
                </a:solidFill>
                <a:latin typeface="Arial"/>
                <a:ea typeface="Arial"/>
                <a:cs typeface="Arial"/>
                <a:sym typeface="Arial"/>
              </a:rPr>
              <a:t>22</a:t>
            </a:r>
          </a:p>
          <a:p>
            <a:pPr algn="ctr">
              <a:lnSpc>
                <a:spcPts val="4320"/>
              </a:lnSpc>
            </a:pPr>
            <a:endParaRPr lang="en-US" sz="3600">
              <a:solidFill>
                <a:srgbClr val="000000"/>
              </a:solidFill>
              <a:latin typeface="Arial"/>
              <a:ea typeface="Arial"/>
              <a:cs typeface="Arial"/>
              <a:sym typeface="Arial"/>
            </a:endParaRPr>
          </a:p>
        </p:txBody>
      </p:sp>
      <p:sp>
        <p:nvSpPr>
          <p:cNvPr id="28" name="TextBox 28"/>
          <p:cNvSpPr txBox="1"/>
          <p:nvPr/>
        </p:nvSpPr>
        <p:spPr>
          <a:xfrm>
            <a:off x="1833093" y="3472167"/>
            <a:ext cx="5498722" cy="571500"/>
          </a:xfrm>
          <a:prstGeom prst="rect">
            <a:avLst/>
          </a:prstGeom>
        </p:spPr>
        <p:txBody>
          <a:bodyPr wrap="square" lIns="0" tIns="0" rIns="0" bIns="0" rtlCol="0" anchor="t">
            <a:spAutoFit/>
          </a:bodyPr>
          <a:lstStyle/>
          <a:p>
            <a:pPr algn="ctr">
              <a:lnSpc>
                <a:spcPts val="4320"/>
              </a:lnSpc>
              <a:spcBef>
                <a:spcPct val="0"/>
              </a:spcBef>
            </a:pPr>
            <a:r>
              <a:rPr lang="en-US" sz="3600">
                <a:solidFill>
                  <a:srgbClr val="000000"/>
                </a:solidFill>
                <a:latin typeface="Arial"/>
                <a:ea typeface="Arial"/>
                <a:cs typeface="Arial"/>
                <a:sym typeface="Arial"/>
              </a:rPr>
              <a:t>Mã hóa(C = </a:t>
            </a:r>
            <a:r>
              <a:rPr lang="vi-VN" sz="3600">
                <a:solidFill>
                  <a:srgbClr val="000000"/>
                </a:solidFill>
                <a:latin typeface="Arial"/>
                <a:ea typeface="Arial"/>
                <a:cs typeface="Arial"/>
                <a:sym typeface="Arial"/>
              </a:rPr>
              <a:t>M</a:t>
            </a:r>
            <a:r>
              <a:rPr lang="en-US" sz="3600" baseline="30000">
                <a:solidFill>
                  <a:srgbClr val="000000"/>
                </a:solidFill>
                <a:latin typeface="Arial"/>
                <a:ea typeface="Arial"/>
                <a:cs typeface="Arial"/>
                <a:sym typeface="Arial"/>
              </a:rPr>
              <a:t>e</a:t>
            </a:r>
            <a:r>
              <a:rPr lang="en-US" sz="3600">
                <a:solidFill>
                  <a:srgbClr val="000000"/>
                </a:solidFill>
                <a:latin typeface="Arial"/>
                <a:ea typeface="Arial"/>
                <a:cs typeface="Arial"/>
                <a:sym typeface="Arial"/>
              </a:rPr>
              <a:t> mod N)</a:t>
            </a:r>
          </a:p>
        </p:txBody>
      </p:sp>
      <p:sp>
        <p:nvSpPr>
          <p:cNvPr id="29" name="TextBox 29"/>
          <p:cNvSpPr txBox="1"/>
          <p:nvPr/>
        </p:nvSpPr>
        <p:spPr>
          <a:xfrm>
            <a:off x="10599734" y="3472167"/>
            <a:ext cx="5235210" cy="571500"/>
          </a:xfrm>
          <a:prstGeom prst="rect">
            <a:avLst/>
          </a:prstGeom>
        </p:spPr>
        <p:txBody>
          <a:bodyPr lIns="0" tIns="0" rIns="0" bIns="0" rtlCol="0" anchor="t">
            <a:spAutoFit/>
          </a:bodyPr>
          <a:lstStyle/>
          <a:p>
            <a:pPr algn="ctr">
              <a:lnSpc>
                <a:spcPts val="4320"/>
              </a:lnSpc>
              <a:spcBef>
                <a:spcPct val="0"/>
              </a:spcBef>
            </a:pPr>
            <a:r>
              <a:rPr lang="en-US" sz="3600">
                <a:solidFill>
                  <a:srgbClr val="000000"/>
                </a:solidFill>
                <a:latin typeface="Arial"/>
                <a:ea typeface="Arial"/>
                <a:cs typeface="Arial"/>
                <a:sym typeface="Arial"/>
              </a:rPr>
              <a:t>Giải mã (M= </a:t>
            </a:r>
            <a:r>
              <a:rPr lang="vi-VN" sz="3600">
                <a:solidFill>
                  <a:srgbClr val="000000"/>
                </a:solidFill>
                <a:latin typeface="Arial"/>
                <a:ea typeface="Arial"/>
                <a:cs typeface="Arial"/>
                <a:sym typeface="Arial"/>
              </a:rPr>
              <a:t>C</a:t>
            </a:r>
            <a:r>
              <a:rPr lang="en-US" sz="3600" baseline="30000">
                <a:solidFill>
                  <a:srgbClr val="000000"/>
                </a:solidFill>
                <a:latin typeface="Arial"/>
                <a:ea typeface="Arial"/>
                <a:cs typeface="Arial"/>
                <a:sym typeface="Arial"/>
              </a:rPr>
              <a:t>d</a:t>
            </a:r>
            <a:r>
              <a:rPr lang="en-US" sz="3600">
                <a:solidFill>
                  <a:srgbClr val="000000"/>
                </a:solidFill>
                <a:latin typeface="Arial"/>
                <a:ea typeface="Arial"/>
                <a:cs typeface="Arial"/>
                <a:sym typeface="Arial"/>
              </a:rPr>
              <a:t> mod 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124"/>
            <a:ext cx="18291715" cy="10295477"/>
            <a:chOff x="0" y="0"/>
            <a:chExt cx="24388953" cy="13727303"/>
          </a:xfrm>
        </p:grpSpPr>
        <p:sp>
          <p:nvSpPr>
            <p:cNvPr id="3" name="Freeform 3"/>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4" name="Group 4"/>
          <p:cNvGrpSpPr/>
          <p:nvPr/>
        </p:nvGrpSpPr>
        <p:grpSpPr>
          <a:xfrm rot="5400000">
            <a:off x="8668464" y="-8670055"/>
            <a:ext cx="947356" cy="18291715"/>
            <a:chOff x="0" y="0"/>
            <a:chExt cx="1263142" cy="24388953"/>
          </a:xfrm>
        </p:grpSpPr>
        <p:sp>
          <p:nvSpPr>
            <p:cNvPr id="5" name="Freeform 5"/>
            <p:cNvSpPr/>
            <p:nvPr/>
          </p:nvSpPr>
          <p:spPr>
            <a:xfrm>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gradFill rotWithShape="1">
              <a:gsLst>
                <a:gs pos="0">
                  <a:srgbClr val="10CC57">
                    <a:alpha val="100000"/>
                  </a:srgbClr>
                </a:gs>
                <a:gs pos="100000">
                  <a:srgbClr val="017058">
                    <a:alpha val="100000"/>
                  </a:srgbClr>
                </a:gs>
              </a:gsLst>
              <a:lin ang="0"/>
            </a:gradFill>
          </p:spPr>
          <p:txBody>
            <a:bodyPr/>
            <a:lstStyle/>
            <a:p>
              <a:endParaRPr lang="en-US"/>
            </a:p>
          </p:txBody>
        </p:sp>
      </p:grpSp>
      <p:grpSp>
        <p:nvGrpSpPr>
          <p:cNvPr id="6" name="Group 6"/>
          <p:cNvGrpSpPr/>
          <p:nvPr/>
        </p:nvGrpSpPr>
        <p:grpSpPr>
          <a:xfrm rot="-5400000">
            <a:off x="8670312" y="-8672208"/>
            <a:ext cx="947356" cy="18291715"/>
            <a:chOff x="0" y="0"/>
            <a:chExt cx="1263142" cy="24388953"/>
          </a:xfrm>
        </p:grpSpPr>
        <p:sp>
          <p:nvSpPr>
            <p:cNvPr id="7" name="Freeform 7"/>
            <p:cNvSpPr/>
            <p:nvPr/>
          </p:nvSpPr>
          <p:spPr>
            <a:xfrm flipH="1">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blipFill>
              <a:blip r:embed="rId2"/>
              <a:stretch>
                <a:fillRect l="-35092" r="-35091"/>
              </a:stretch>
            </a:blipFill>
          </p:spPr>
          <p:txBody>
            <a:bodyPr/>
            <a:lstStyle/>
            <a:p>
              <a:endParaRPr lang="en-US"/>
            </a:p>
          </p:txBody>
        </p:sp>
      </p:grpSp>
      <p:sp>
        <p:nvSpPr>
          <p:cNvPr id="8" name="TextBox 8"/>
          <p:cNvSpPr txBox="1"/>
          <p:nvPr/>
        </p:nvSpPr>
        <p:spPr>
          <a:xfrm>
            <a:off x="428996" y="227362"/>
            <a:ext cx="10993288" cy="456571"/>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9" name="Group 9"/>
          <p:cNvGrpSpPr/>
          <p:nvPr/>
        </p:nvGrpSpPr>
        <p:grpSpPr>
          <a:xfrm>
            <a:off x="6719983" y="457933"/>
            <a:ext cx="4848130" cy="958024"/>
            <a:chOff x="0" y="0"/>
            <a:chExt cx="6464173" cy="1277366"/>
          </a:xfrm>
        </p:grpSpPr>
        <p:sp>
          <p:nvSpPr>
            <p:cNvPr id="10" name="Freeform 10"/>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2700000"/>
            </a:gradFill>
          </p:spPr>
          <p:txBody>
            <a:bodyPr/>
            <a:lstStyle/>
            <a:p>
              <a:endParaRPr lang="en-US"/>
            </a:p>
          </p:txBody>
        </p:sp>
      </p:grpSp>
      <p:grpSp>
        <p:nvGrpSpPr>
          <p:cNvPr id="11" name="Group 11"/>
          <p:cNvGrpSpPr/>
          <p:nvPr/>
        </p:nvGrpSpPr>
        <p:grpSpPr>
          <a:xfrm>
            <a:off x="6807460" y="535972"/>
            <a:ext cx="4673060" cy="801815"/>
            <a:chOff x="0" y="0"/>
            <a:chExt cx="6230747" cy="1069086"/>
          </a:xfrm>
        </p:grpSpPr>
        <p:sp>
          <p:nvSpPr>
            <p:cNvPr id="12" name="Freeform 12"/>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en-US"/>
            </a:p>
          </p:txBody>
        </p:sp>
      </p:grpSp>
      <p:grpSp>
        <p:nvGrpSpPr>
          <p:cNvPr id="13" name="Group 13"/>
          <p:cNvGrpSpPr/>
          <p:nvPr/>
        </p:nvGrpSpPr>
        <p:grpSpPr>
          <a:xfrm>
            <a:off x="9436446" y="362541"/>
            <a:ext cx="1163288" cy="1152620"/>
            <a:chOff x="0" y="0"/>
            <a:chExt cx="1551051" cy="1536827"/>
          </a:xfrm>
        </p:grpSpPr>
        <p:sp>
          <p:nvSpPr>
            <p:cNvPr id="14" name="Freeform 14"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211" r="-210"/>
              </a:stretch>
            </a:blipFill>
          </p:spPr>
          <p:txBody>
            <a:bodyPr/>
            <a:lstStyle/>
            <a:p>
              <a:endParaRPr lang="en-US"/>
            </a:p>
          </p:txBody>
        </p:sp>
      </p:grpSp>
      <p:grpSp>
        <p:nvGrpSpPr>
          <p:cNvPr id="15" name="Group 15"/>
          <p:cNvGrpSpPr/>
          <p:nvPr/>
        </p:nvGrpSpPr>
        <p:grpSpPr>
          <a:xfrm>
            <a:off x="7688247" y="398078"/>
            <a:ext cx="1307497" cy="1081564"/>
            <a:chOff x="0" y="0"/>
            <a:chExt cx="1743329" cy="1442085"/>
          </a:xfrm>
        </p:grpSpPr>
        <p:sp>
          <p:nvSpPr>
            <p:cNvPr id="16" name="Freeform 16"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l="-38" r="-37"/>
              </a:stretch>
            </a:blipFill>
          </p:spPr>
          <p:txBody>
            <a:bodyPr/>
            <a:lstStyle/>
            <a:p>
              <a:endParaRPr lang="en-US"/>
            </a:p>
          </p:txBody>
        </p:sp>
      </p:grpSp>
      <p:grpSp>
        <p:nvGrpSpPr>
          <p:cNvPr id="17" name="Group 17"/>
          <p:cNvGrpSpPr/>
          <p:nvPr/>
        </p:nvGrpSpPr>
        <p:grpSpPr>
          <a:xfrm>
            <a:off x="908999" y="1555147"/>
            <a:ext cx="16470001" cy="1335996"/>
            <a:chOff x="0" y="0"/>
            <a:chExt cx="21960002" cy="1781327"/>
          </a:xfrm>
        </p:grpSpPr>
        <p:sp>
          <p:nvSpPr>
            <p:cNvPr id="18" name="Freeform 18"/>
            <p:cNvSpPr/>
            <p:nvPr/>
          </p:nvSpPr>
          <p:spPr>
            <a:xfrm>
              <a:off x="0" y="0"/>
              <a:ext cx="21959951" cy="1781302"/>
            </a:xfrm>
            <a:custGeom>
              <a:avLst/>
              <a:gdLst/>
              <a:ahLst/>
              <a:cxnLst/>
              <a:rect l="l" t="t" r="r" b="b"/>
              <a:pathLst>
                <a:path w="21959951" h="1781302">
                  <a:moveTo>
                    <a:pt x="0" y="0"/>
                  </a:moveTo>
                  <a:lnTo>
                    <a:pt x="21959951" y="0"/>
                  </a:lnTo>
                  <a:lnTo>
                    <a:pt x="21959951" y="1781302"/>
                  </a:lnTo>
                  <a:lnTo>
                    <a:pt x="0" y="1781302"/>
                  </a:lnTo>
                  <a:close/>
                </a:path>
              </a:pathLst>
            </a:custGeom>
            <a:blipFill>
              <a:blip r:embed="rId5">
                <a:alphaModFix amt="0"/>
              </a:blip>
              <a:stretch>
                <a:fillRect t="-190044" b="-190046"/>
              </a:stretch>
            </a:blipFill>
          </p:spPr>
          <p:txBody>
            <a:bodyPr/>
            <a:lstStyle/>
            <a:p>
              <a:endParaRPr lang="en-US"/>
            </a:p>
          </p:txBody>
        </p:sp>
      </p:grpSp>
      <p:grpSp>
        <p:nvGrpSpPr>
          <p:cNvPr id="19" name="Group 19"/>
          <p:cNvGrpSpPr/>
          <p:nvPr/>
        </p:nvGrpSpPr>
        <p:grpSpPr>
          <a:xfrm>
            <a:off x="908999" y="1576578"/>
            <a:ext cx="16470001" cy="1314563"/>
            <a:chOff x="0" y="0"/>
            <a:chExt cx="21960002" cy="1752750"/>
          </a:xfrm>
        </p:grpSpPr>
        <p:sp>
          <p:nvSpPr>
            <p:cNvPr id="20" name="Freeform 20"/>
            <p:cNvSpPr/>
            <p:nvPr/>
          </p:nvSpPr>
          <p:spPr>
            <a:xfrm>
              <a:off x="0" y="0"/>
              <a:ext cx="21960001" cy="1752748"/>
            </a:xfrm>
            <a:custGeom>
              <a:avLst/>
              <a:gdLst/>
              <a:ahLst/>
              <a:cxnLst/>
              <a:rect l="l" t="t" r="r" b="b"/>
              <a:pathLst>
                <a:path w="21960001" h="1752748">
                  <a:moveTo>
                    <a:pt x="0" y="0"/>
                  </a:moveTo>
                  <a:lnTo>
                    <a:pt x="21960001" y="0"/>
                  </a:lnTo>
                  <a:lnTo>
                    <a:pt x="21960001" y="1752748"/>
                  </a:lnTo>
                  <a:lnTo>
                    <a:pt x="0" y="1752748"/>
                  </a:lnTo>
                  <a:close/>
                </a:path>
              </a:pathLst>
            </a:custGeom>
            <a:blipFill>
              <a:blip r:embed="rId6">
                <a:alphaModFix amt="0"/>
              </a:blip>
              <a:stretch>
                <a:fillRect t="-194125" b="-194126"/>
              </a:stretch>
            </a:blipFill>
          </p:spPr>
          <p:txBody>
            <a:bodyPr/>
            <a:lstStyle/>
            <a:p>
              <a:endParaRPr lang="en-US"/>
            </a:p>
          </p:txBody>
        </p:sp>
        <p:sp>
          <p:nvSpPr>
            <p:cNvPr id="21" name="TextBox 21"/>
            <p:cNvSpPr txBox="1"/>
            <p:nvPr/>
          </p:nvSpPr>
          <p:spPr>
            <a:xfrm>
              <a:off x="0" y="28575"/>
              <a:ext cx="21960002" cy="1724175"/>
            </a:xfrm>
            <a:prstGeom prst="rect">
              <a:avLst/>
            </a:prstGeom>
          </p:spPr>
          <p:txBody>
            <a:bodyPr lIns="0" tIns="0" rIns="0" bIns="0" rtlCol="0" anchor="ctr"/>
            <a:lstStyle/>
            <a:p>
              <a:pPr algn="l">
                <a:lnSpc>
                  <a:spcPts val="6048"/>
                </a:lnSpc>
              </a:pPr>
              <a:r>
                <a:rPr lang="en-US" sz="5599" b="1">
                  <a:solidFill>
                    <a:srgbClr val="017058"/>
                  </a:solidFill>
                  <a:latin typeface="Times New Roman Bold"/>
                  <a:ea typeface="Times New Roman Bold"/>
                  <a:cs typeface="Times New Roman Bold"/>
                  <a:sym typeface="Times New Roman Bold"/>
                </a:rPr>
                <a:t>5. Mô phỏng và thực thi  </a:t>
              </a:r>
            </a:p>
          </p:txBody>
        </p:sp>
      </p:grpSp>
      <p:sp>
        <p:nvSpPr>
          <p:cNvPr id="22" name="AutoShape 22"/>
          <p:cNvSpPr/>
          <p:nvPr/>
        </p:nvSpPr>
        <p:spPr>
          <a:xfrm flipV="1">
            <a:off x="9164907" y="3513379"/>
            <a:ext cx="0" cy="6745046"/>
          </a:xfrm>
          <a:prstGeom prst="line">
            <a:avLst/>
          </a:prstGeom>
          <a:ln w="38100" cap="flat">
            <a:solidFill>
              <a:srgbClr val="000000"/>
            </a:solidFill>
            <a:prstDash val="solid"/>
            <a:headEnd type="none" w="sm" len="sm"/>
            <a:tailEnd type="none" w="sm" len="sm"/>
          </a:ln>
        </p:spPr>
        <p:txBody>
          <a:bodyPr/>
          <a:lstStyle/>
          <a:p>
            <a:endParaRPr lang="en-US"/>
          </a:p>
        </p:txBody>
      </p:sp>
      <p:sp>
        <p:nvSpPr>
          <p:cNvPr id="23" name="Freeform 23"/>
          <p:cNvSpPr/>
          <p:nvPr/>
        </p:nvSpPr>
        <p:spPr>
          <a:xfrm>
            <a:off x="1710634" y="3513379"/>
            <a:ext cx="6231900" cy="6197134"/>
          </a:xfrm>
          <a:custGeom>
            <a:avLst/>
            <a:gdLst/>
            <a:ahLst/>
            <a:cxnLst/>
            <a:rect l="l" t="t" r="r" b="b"/>
            <a:pathLst>
              <a:path w="6231900" h="6197134">
                <a:moveTo>
                  <a:pt x="0" y="0"/>
                </a:moveTo>
                <a:lnTo>
                  <a:pt x="6231900" y="0"/>
                </a:lnTo>
                <a:lnTo>
                  <a:pt x="6231900" y="6197133"/>
                </a:lnTo>
                <a:lnTo>
                  <a:pt x="0" y="6197133"/>
                </a:lnTo>
                <a:lnTo>
                  <a:pt x="0" y="0"/>
                </a:lnTo>
                <a:close/>
              </a:path>
            </a:pathLst>
          </a:custGeom>
          <a:blipFill>
            <a:blip r:embed="rId7"/>
            <a:stretch>
              <a:fillRect/>
            </a:stretch>
          </a:blipFill>
        </p:spPr>
        <p:txBody>
          <a:bodyPr/>
          <a:lstStyle/>
          <a:p>
            <a:endParaRPr lang="en-US"/>
          </a:p>
        </p:txBody>
      </p:sp>
      <p:sp>
        <p:nvSpPr>
          <p:cNvPr id="24" name="Freeform 24"/>
          <p:cNvSpPr/>
          <p:nvPr/>
        </p:nvSpPr>
        <p:spPr>
          <a:xfrm>
            <a:off x="9794464" y="3513379"/>
            <a:ext cx="7464836" cy="4195527"/>
          </a:xfrm>
          <a:custGeom>
            <a:avLst/>
            <a:gdLst/>
            <a:ahLst/>
            <a:cxnLst/>
            <a:rect l="l" t="t" r="r" b="b"/>
            <a:pathLst>
              <a:path w="7464836" h="4195527">
                <a:moveTo>
                  <a:pt x="0" y="0"/>
                </a:moveTo>
                <a:lnTo>
                  <a:pt x="7464836" y="0"/>
                </a:lnTo>
                <a:lnTo>
                  <a:pt x="7464836" y="4195527"/>
                </a:lnTo>
                <a:lnTo>
                  <a:pt x="0" y="4195527"/>
                </a:lnTo>
                <a:lnTo>
                  <a:pt x="0" y="0"/>
                </a:lnTo>
                <a:close/>
              </a:path>
            </a:pathLst>
          </a:custGeom>
          <a:blipFill>
            <a:blip r:embed="rId8"/>
            <a:stretch>
              <a:fillRect r="-51393" b="-35692"/>
            </a:stretch>
          </a:blipFill>
        </p:spPr>
        <p:txBody>
          <a:bodyPr/>
          <a:lstStyle/>
          <a:p>
            <a:endParaRPr lang="en-US"/>
          </a:p>
        </p:txBody>
      </p:sp>
      <p:sp>
        <p:nvSpPr>
          <p:cNvPr id="25" name="TextBox 25"/>
          <p:cNvSpPr txBox="1"/>
          <p:nvPr/>
        </p:nvSpPr>
        <p:spPr>
          <a:xfrm>
            <a:off x="68570" y="-2318490"/>
            <a:ext cx="18150850" cy="569719"/>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sp>
        <p:nvSpPr>
          <p:cNvPr id="26" name="TextBox 26"/>
          <p:cNvSpPr txBox="1"/>
          <p:nvPr/>
        </p:nvSpPr>
        <p:spPr>
          <a:xfrm>
            <a:off x="1070182" y="2637272"/>
            <a:ext cx="9313332" cy="584835"/>
          </a:xfrm>
          <a:prstGeom prst="rect">
            <a:avLst/>
          </a:prstGeom>
        </p:spPr>
        <p:txBody>
          <a:bodyPr lIns="0" tIns="0" rIns="0" bIns="0" rtlCol="0" anchor="t">
            <a:spAutoFit/>
          </a:bodyPr>
          <a:lstStyle/>
          <a:p>
            <a:pPr algn="l">
              <a:lnSpc>
                <a:spcPts val="4320"/>
              </a:lnSpc>
            </a:pPr>
            <a:r>
              <a:rPr lang="en-US" sz="4000" b="1">
                <a:solidFill>
                  <a:srgbClr val="017058"/>
                </a:solidFill>
                <a:latin typeface="Times New Roman Bold"/>
                <a:ea typeface="Times New Roman Bold"/>
                <a:cs typeface="Times New Roman Bold"/>
                <a:sym typeface="Times New Roman Bold"/>
              </a:rPr>
              <a:t>5.2 Thực thi nạp kit</a:t>
            </a:r>
          </a:p>
        </p:txBody>
      </p:sp>
      <p:sp>
        <p:nvSpPr>
          <p:cNvPr id="27" name="TextBox 27"/>
          <p:cNvSpPr txBox="1"/>
          <p:nvPr/>
        </p:nvSpPr>
        <p:spPr>
          <a:xfrm>
            <a:off x="17447714" y="9144000"/>
            <a:ext cx="508635" cy="1114425"/>
          </a:xfrm>
          <a:prstGeom prst="rect">
            <a:avLst/>
          </a:prstGeom>
        </p:spPr>
        <p:txBody>
          <a:bodyPr lIns="0" tIns="0" rIns="0" bIns="0" rtlCol="0" anchor="t">
            <a:spAutoFit/>
          </a:bodyPr>
          <a:lstStyle/>
          <a:p>
            <a:pPr algn="ctr">
              <a:lnSpc>
                <a:spcPts val="4320"/>
              </a:lnSpc>
            </a:pPr>
            <a:r>
              <a:rPr lang="en-US" sz="3600">
                <a:solidFill>
                  <a:srgbClr val="000000"/>
                </a:solidFill>
                <a:latin typeface="Arial"/>
                <a:ea typeface="Arial"/>
                <a:cs typeface="Arial"/>
                <a:sym typeface="Arial"/>
              </a:rPr>
              <a:t>23</a:t>
            </a:r>
          </a:p>
          <a:p>
            <a:pPr algn="ctr">
              <a:lnSpc>
                <a:spcPts val="4320"/>
              </a:lnSpc>
            </a:pPr>
            <a:endParaRPr lang="en-US" sz="3600">
              <a:solidFill>
                <a:srgbClr val="000000"/>
              </a:solidFill>
              <a:latin typeface="Arial"/>
              <a:ea typeface="Arial"/>
              <a:cs typeface="Arial"/>
              <a:sym typeface="Arial"/>
            </a:endParaRPr>
          </a:p>
        </p:txBody>
      </p:sp>
      <p:sp>
        <p:nvSpPr>
          <p:cNvPr id="28" name="TextBox 28"/>
          <p:cNvSpPr txBox="1"/>
          <p:nvPr/>
        </p:nvSpPr>
        <p:spPr>
          <a:xfrm>
            <a:off x="9794464" y="7985131"/>
            <a:ext cx="7464836" cy="1704975"/>
          </a:xfrm>
          <a:prstGeom prst="rect">
            <a:avLst/>
          </a:prstGeom>
        </p:spPr>
        <p:txBody>
          <a:bodyPr lIns="0" tIns="0" rIns="0" bIns="0" rtlCol="0" anchor="t">
            <a:spAutoFit/>
          </a:bodyPr>
          <a:lstStyle/>
          <a:p>
            <a:pPr algn="l">
              <a:lnSpc>
                <a:spcPts val="3000"/>
              </a:lnSpc>
            </a:pPr>
            <a:r>
              <a:rPr lang="en-US" sz="2500">
                <a:solidFill>
                  <a:srgbClr val="000000"/>
                </a:solidFill>
                <a:latin typeface="Arial"/>
                <a:ea typeface="Arial"/>
                <a:cs typeface="Arial"/>
                <a:sym typeface="Arial"/>
              </a:rPr>
              <a:t>Video nạp kit:</a:t>
            </a:r>
          </a:p>
          <a:p>
            <a:pPr algn="l">
              <a:lnSpc>
                <a:spcPts val="3000"/>
              </a:lnSpc>
            </a:pPr>
            <a:r>
              <a:rPr lang="en-US" sz="2500">
                <a:solidFill>
                  <a:srgbClr val="000000"/>
                </a:solidFill>
                <a:latin typeface="Arial"/>
                <a:ea typeface="Arial"/>
                <a:cs typeface="Arial"/>
                <a:sym typeface="Arial"/>
              </a:rPr>
              <a:t>https://drive.google.com/file/d/1VUPl__2-UHMu8Fn8pzW_6sOFUllwIh9t/view?usp=sharing</a:t>
            </a:r>
          </a:p>
          <a:p>
            <a:pPr algn="ctr">
              <a:lnSpc>
                <a:spcPts val="4320"/>
              </a:lnSpc>
              <a:spcBef>
                <a:spcPct val="0"/>
              </a:spcBef>
            </a:pPr>
            <a:endParaRPr lang="en-US" sz="2500">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70" y="-2318490"/>
            <a:ext cx="18150850" cy="569719"/>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grpSp>
        <p:nvGrpSpPr>
          <p:cNvPr id="3" name="Group 3"/>
          <p:cNvGrpSpPr/>
          <p:nvPr/>
        </p:nvGrpSpPr>
        <p:grpSpPr>
          <a:xfrm>
            <a:off x="0" y="2124"/>
            <a:ext cx="18291715" cy="10295477"/>
            <a:chOff x="0" y="0"/>
            <a:chExt cx="24388953" cy="13727303"/>
          </a:xfrm>
        </p:grpSpPr>
        <p:sp>
          <p:nvSpPr>
            <p:cNvPr id="4" name="Freeform 4"/>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5" name="Group 5"/>
          <p:cNvGrpSpPr/>
          <p:nvPr/>
        </p:nvGrpSpPr>
        <p:grpSpPr>
          <a:xfrm>
            <a:off x="-36214" y="0"/>
            <a:ext cx="6084570" cy="10287000"/>
            <a:chOff x="0" y="0"/>
            <a:chExt cx="8112760" cy="13716000"/>
          </a:xfrm>
        </p:grpSpPr>
        <p:sp>
          <p:nvSpPr>
            <p:cNvPr id="6" name="Freeform 6"/>
            <p:cNvSpPr/>
            <p:nvPr/>
          </p:nvSpPr>
          <p:spPr>
            <a:xfrm>
              <a:off x="0" y="0"/>
              <a:ext cx="8112760" cy="13716000"/>
            </a:xfrm>
            <a:custGeom>
              <a:avLst/>
              <a:gdLst/>
              <a:ahLst/>
              <a:cxnLst/>
              <a:rect l="l" t="t" r="r" b="b"/>
              <a:pathLst>
                <a:path w="8112760" h="13716000">
                  <a:moveTo>
                    <a:pt x="0" y="0"/>
                  </a:moveTo>
                  <a:lnTo>
                    <a:pt x="8112760" y="0"/>
                  </a:lnTo>
                  <a:lnTo>
                    <a:pt x="8112760" y="13716000"/>
                  </a:lnTo>
                  <a:lnTo>
                    <a:pt x="0" y="13716000"/>
                  </a:lnTo>
                  <a:close/>
                </a:path>
              </a:pathLst>
            </a:custGeom>
            <a:gradFill rotWithShape="1">
              <a:gsLst>
                <a:gs pos="0">
                  <a:srgbClr val="38EF7D">
                    <a:alpha val="100000"/>
                  </a:srgbClr>
                </a:gs>
                <a:gs pos="100000">
                  <a:srgbClr val="11998E">
                    <a:alpha val="100000"/>
                  </a:srgbClr>
                </a:gs>
              </a:gsLst>
              <a:lin ang="5400000"/>
            </a:gradFill>
          </p:spPr>
          <p:txBody>
            <a:bodyPr/>
            <a:lstStyle/>
            <a:p>
              <a:endParaRPr lang="en-US"/>
            </a:p>
          </p:txBody>
        </p:sp>
      </p:grpSp>
      <p:grpSp>
        <p:nvGrpSpPr>
          <p:cNvPr id="7" name="Group 7"/>
          <p:cNvGrpSpPr/>
          <p:nvPr/>
        </p:nvGrpSpPr>
        <p:grpSpPr>
          <a:xfrm rot="-10800000">
            <a:off x="-46892" y="0"/>
            <a:ext cx="2707196" cy="10287000"/>
            <a:chOff x="0" y="0"/>
            <a:chExt cx="3609594" cy="13716000"/>
          </a:xfrm>
        </p:grpSpPr>
        <p:sp>
          <p:nvSpPr>
            <p:cNvPr id="8" name="Freeform 8"/>
            <p:cNvSpPr/>
            <p:nvPr/>
          </p:nvSpPr>
          <p:spPr>
            <a:xfrm flipH="1">
              <a:off x="0" y="0"/>
              <a:ext cx="3609594" cy="13716000"/>
            </a:xfrm>
            <a:custGeom>
              <a:avLst/>
              <a:gdLst/>
              <a:ahLst/>
              <a:cxnLst/>
              <a:rect l="l" t="t" r="r" b="b"/>
              <a:pathLst>
                <a:path w="3609594" h="13716000">
                  <a:moveTo>
                    <a:pt x="0" y="0"/>
                  </a:moveTo>
                  <a:lnTo>
                    <a:pt x="3609594" y="0"/>
                  </a:lnTo>
                  <a:lnTo>
                    <a:pt x="3609594" y="13716000"/>
                  </a:lnTo>
                  <a:lnTo>
                    <a:pt x="0" y="13716000"/>
                  </a:lnTo>
                  <a:close/>
                </a:path>
              </a:pathLst>
            </a:custGeom>
            <a:blipFill>
              <a:blip r:embed="rId2"/>
              <a:stretch>
                <a:fillRect l="-2907" r="-2907"/>
              </a:stretch>
            </a:blipFill>
          </p:spPr>
          <p:txBody>
            <a:bodyPr/>
            <a:lstStyle/>
            <a:p>
              <a:endParaRPr lang="en-US"/>
            </a:p>
          </p:txBody>
        </p:sp>
      </p:grpSp>
      <p:sp>
        <p:nvSpPr>
          <p:cNvPr id="9" name="TextBox 9"/>
          <p:cNvSpPr txBox="1"/>
          <p:nvPr/>
        </p:nvSpPr>
        <p:spPr>
          <a:xfrm rot="-5400000">
            <a:off x="-2642312" y="6723250"/>
            <a:ext cx="6122451" cy="458333"/>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10" name="Group 10"/>
          <p:cNvGrpSpPr/>
          <p:nvPr/>
        </p:nvGrpSpPr>
        <p:grpSpPr>
          <a:xfrm>
            <a:off x="6719983" y="293303"/>
            <a:ext cx="4848130" cy="958024"/>
            <a:chOff x="0" y="0"/>
            <a:chExt cx="6464173" cy="1277366"/>
          </a:xfrm>
        </p:grpSpPr>
        <p:sp>
          <p:nvSpPr>
            <p:cNvPr id="11" name="Freeform 11"/>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2700000"/>
            </a:gradFill>
          </p:spPr>
          <p:txBody>
            <a:bodyPr/>
            <a:lstStyle/>
            <a:p>
              <a:endParaRPr lang="en-US"/>
            </a:p>
          </p:txBody>
        </p:sp>
      </p:grpSp>
      <p:grpSp>
        <p:nvGrpSpPr>
          <p:cNvPr id="12" name="Group 12"/>
          <p:cNvGrpSpPr/>
          <p:nvPr/>
        </p:nvGrpSpPr>
        <p:grpSpPr>
          <a:xfrm>
            <a:off x="6807460" y="371332"/>
            <a:ext cx="4673060" cy="801815"/>
            <a:chOff x="0" y="0"/>
            <a:chExt cx="6230747" cy="1069086"/>
          </a:xfrm>
        </p:grpSpPr>
        <p:sp>
          <p:nvSpPr>
            <p:cNvPr id="13" name="Freeform 13"/>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en-US"/>
            </a:p>
          </p:txBody>
        </p:sp>
      </p:grpSp>
      <p:grpSp>
        <p:nvGrpSpPr>
          <p:cNvPr id="14" name="Group 14"/>
          <p:cNvGrpSpPr/>
          <p:nvPr/>
        </p:nvGrpSpPr>
        <p:grpSpPr>
          <a:xfrm>
            <a:off x="9436446" y="197910"/>
            <a:ext cx="1163288" cy="1152620"/>
            <a:chOff x="0" y="0"/>
            <a:chExt cx="1551051" cy="1536827"/>
          </a:xfrm>
        </p:grpSpPr>
        <p:sp>
          <p:nvSpPr>
            <p:cNvPr id="15" name="Freeform 15"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211" r="-210"/>
              </a:stretch>
            </a:blipFill>
          </p:spPr>
          <p:txBody>
            <a:bodyPr/>
            <a:lstStyle/>
            <a:p>
              <a:endParaRPr lang="en-US"/>
            </a:p>
          </p:txBody>
        </p:sp>
      </p:grpSp>
      <p:grpSp>
        <p:nvGrpSpPr>
          <p:cNvPr id="16" name="Group 16"/>
          <p:cNvGrpSpPr/>
          <p:nvPr/>
        </p:nvGrpSpPr>
        <p:grpSpPr>
          <a:xfrm>
            <a:off x="7688247" y="233439"/>
            <a:ext cx="1307497" cy="1081564"/>
            <a:chOff x="0" y="0"/>
            <a:chExt cx="1743329" cy="1442085"/>
          </a:xfrm>
        </p:grpSpPr>
        <p:sp>
          <p:nvSpPr>
            <p:cNvPr id="17" name="Freeform 17"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l="-38" r="-37"/>
              </a:stretch>
            </a:blipFill>
          </p:spPr>
          <p:txBody>
            <a:bodyPr/>
            <a:lstStyle/>
            <a:p>
              <a:endParaRPr lang="en-US"/>
            </a:p>
          </p:txBody>
        </p:sp>
      </p:grpSp>
      <p:grpSp>
        <p:nvGrpSpPr>
          <p:cNvPr id="18" name="Group 18"/>
          <p:cNvGrpSpPr/>
          <p:nvPr/>
        </p:nvGrpSpPr>
        <p:grpSpPr>
          <a:xfrm>
            <a:off x="17262338" y="364607"/>
            <a:ext cx="819150" cy="819150"/>
            <a:chOff x="0" y="0"/>
            <a:chExt cx="1092200" cy="1092200"/>
          </a:xfrm>
        </p:grpSpPr>
        <p:sp>
          <p:nvSpPr>
            <p:cNvPr id="19" name="Freeform 19"/>
            <p:cNvSpPr/>
            <p:nvPr/>
          </p:nvSpPr>
          <p:spPr>
            <a:xfrm>
              <a:off x="0" y="0"/>
              <a:ext cx="1092200" cy="1092200"/>
            </a:xfrm>
            <a:custGeom>
              <a:avLst/>
              <a:gdLst/>
              <a:ahLst/>
              <a:cxnLst/>
              <a:rect l="l" t="t" r="r" b="b"/>
              <a:pathLst>
                <a:path w="1092200" h="1092200">
                  <a:moveTo>
                    <a:pt x="0" y="546100"/>
                  </a:moveTo>
                  <a:cubicBezTo>
                    <a:pt x="0" y="244475"/>
                    <a:pt x="244475" y="0"/>
                    <a:pt x="546100" y="0"/>
                  </a:cubicBezTo>
                  <a:cubicBezTo>
                    <a:pt x="847725" y="0"/>
                    <a:pt x="1092200" y="244475"/>
                    <a:pt x="1092200" y="546100"/>
                  </a:cubicBezTo>
                  <a:cubicBezTo>
                    <a:pt x="1092200" y="847725"/>
                    <a:pt x="847725" y="1092200"/>
                    <a:pt x="546100" y="1092200"/>
                  </a:cubicBezTo>
                  <a:cubicBezTo>
                    <a:pt x="244475" y="1092200"/>
                    <a:pt x="0" y="847725"/>
                    <a:pt x="0" y="546100"/>
                  </a:cubicBezTo>
                  <a:close/>
                </a:path>
              </a:pathLst>
            </a:custGeom>
            <a:gradFill rotWithShape="1">
              <a:gsLst>
                <a:gs pos="0">
                  <a:srgbClr val="38EF7D">
                    <a:alpha val="65098"/>
                  </a:srgbClr>
                </a:gs>
                <a:gs pos="100000">
                  <a:srgbClr val="11998E">
                    <a:alpha val="64705"/>
                  </a:srgbClr>
                </a:gs>
              </a:gsLst>
              <a:lin ang="2700000"/>
            </a:gradFill>
          </p:spPr>
          <p:txBody>
            <a:bodyPr/>
            <a:lstStyle/>
            <a:p>
              <a:endParaRPr lang="en-US"/>
            </a:p>
          </p:txBody>
        </p:sp>
      </p:grpSp>
      <p:grpSp>
        <p:nvGrpSpPr>
          <p:cNvPr id="20" name="Group 20"/>
          <p:cNvGrpSpPr/>
          <p:nvPr/>
        </p:nvGrpSpPr>
        <p:grpSpPr>
          <a:xfrm>
            <a:off x="17486462" y="588731"/>
            <a:ext cx="370999" cy="370999"/>
            <a:chOff x="0" y="0"/>
            <a:chExt cx="494665" cy="494665"/>
          </a:xfrm>
        </p:grpSpPr>
        <p:sp>
          <p:nvSpPr>
            <p:cNvPr id="21" name="Freeform 21"/>
            <p:cNvSpPr/>
            <p:nvPr/>
          </p:nvSpPr>
          <p:spPr>
            <a:xfrm>
              <a:off x="0" y="0"/>
              <a:ext cx="494665" cy="494665"/>
            </a:xfrm>
            <a:custGeom>
              <a:avLst/>
              <a:gdLst/>
              <a:ahLst/>
              <a:cxnLst/>
              <a:rect l="l" t="t" r="r" b="b"/>
              <a:pathLst>
                <a:path w="494665" h="494665">
                  <a:moveTo>
                    <a:pt x="0" y="247269"/>
                  </a:moveTo>
                  <a:cubicBezTo>
                    <a:pt x="0" y="110744"/>
                    <a:pt x="110744" y="0"/>
                    <a:pt x="247269" y="0"/>
                  </a:cubicBezTo>
                  <a:cubicBezTo>
                    <a:pt x="383794" y="0"/>
                    <a:pt x="494665" y="110744"/>
                    <a:pt x="494665" y="247269"/>
                  </a:cubicBezTo>
                  <a:cubicBezTo>
                    <a:pt x="494665" y="383794"/>
                    <a:pt x="383921" y="494665"/>
                    <a:pt x="247269" y="494665"/>
                  </a:cubicBezTo>
                  <a:cubicBezTo>
                    <a:pt x="110617" y="494665"/>
                    <a:pt x="0" y="383921"/>
                    <a:pt x="0" y="247269"/>
                  </a:cubicBezTo>
                  <a:close/>
                </a:path>
              </a:pathLst>
            </a:custGeom>
            <a:gradFill rotWithShape="1">
              <a:gsLst>
                <a:gs pos="0">
                  <a:srgbClr val="38EF7D">
                    <a:alpha val="65098"/>
                  </a:srgbClr>
                </a:gs>
                <a:gs pos="100000">
                  <a:srgbClr val="11998E">
                    <a:alpha val="64705"/>
                  </a:srgbClr>
                </a:gs>
              </a:gsLst>
              <a:lin ang="2700000"/>
            </a:gradFill>
          </p:spPr>
          <p:txBody>
            <a:bodyPr/>
            <a:lstStyle/>
            <a:p>
              <a:endParaRPr lang="en-US"/>
            </a:p>
          </p:txBody>
        </p:sp>
      </p:grpSp>
      <p:grpSp>
        <p:nvGrpSpPr>
          <p:cNvPr id="22" name="Group 22"/>
          <p:cNvGrpSpPr/>
          <p:nvPr/>
        </p:nvGrpSpPr>
        <p:grpSpPr>
          <a:xfrm>
            <a:off x="1705232" y="2175643"/>
            <a:ext cx="15316010" cy="6434518"/>
            <a:chOff x="0" y="0"/>
            <a:chExt cx="20421346" cy="8579358"/>
          </a:xfrm>
        </p:grpSpPr>
        <p:sp>
          <p:nvSpPr>
            <p:cNvPr id="23" name="Freeform 23"/>
            <p:cNvSpPr/>
            <p:nvPr/>
          </p:nvSpPr>
          <p:spPr>
            <a:xfrm>
              <a:off x="0" y="0"/>
              <a:ext cx="20421346" cy="8579358"/>
            </a:xfrm>
            <a:custGeom>
              <a:avLst/>
              <a:gdLst/>
              <a:ahLst/>
              <a:cxnLst/>
              <a:rect l="l" t="t" r="r" b="b"/>
              <a:pathLst>
                <a:path w="20421346" h="8579358">
                  <a:moveTo>
                    <a:pt x="0" y="231775"/>
                  </a:moveTo>
                  <a:cubicBezTo>
                    <a:pt x="0" y="103759"/>
                    <a:pt x="103759" y="0"/>
                    <a:pt x="231775" y="0"/>
                  </a:cubicBezTo>
                  <a:lnTo>
                    <a:pt x="20189571" y="0"/>
                  </a:lnTo>
                  <a:cubicBezTo>
                    <a:pt x="20317586" y="0"/>
                    <a:pt x="20421346" y="103759"/>
                    <a:pt x="20421346" y="231775"/>
                  </a:cubicBezTo>
                  <a:lnTo>
                    <a:pt x="20421346" y="8347583"/>
                  </a:lnTo>
                  <a:cubicBezTo>
                    <a:pt x="20421346" y="8475599"/>
                    <a:pt x="20317586" y="8579358"/>
                    <a:pt x="20189571" y="8579358"/>
                  </a:cubicBezTo>
                  <a:lnTo>
                    <a:pt x="231775" y="8579358"/>
                  </a:lnTo>
                  <a:cubicBezTo>
                    <a:pt x="103759" y="8579358"/>
                    <a:pt x="0" y="8475599"/>
                    <a:pt x="0" y="8347583"/>
                  </a:cubicBezTo>
                  <a:close/>
                </a:path>
              </a:pathLst>
            </a:custGeom>
            <a:blipFill>
              <a:blip r:embed="rId5"/>
              <a:stretch>
                <a:fillRect l="-194" r="-194"/>
              </a:stretch>
            </a:blipFill>
          </p:spPr>
          <p:txBody>
            <a:bodyPr/>
            <a:lstStyle/>
            <a:p>
              <a:endParaRPr lang="en-US"/>
            </a:p>
          </p:txBody>
        </p:sp>
      </p:grpSp>
      <p:grpSp>
        <p:nvGrpSpPr>
          <p:cNvPr id="24" name="Group 24"/>
          <p:cNvGrpSpPr/>
          <p:nvPr/>
        </p:nvGrpSpPr>
        <p:grpSpPr>
          <a:xfrm>
            <a:off x="1705232" y="2175643"/>
            <a:ext cx="15316010" cy="6434518"/>
            <a:chOff x="0" y="0"/>
            <a:chExt cx="20421346" cy="8579358"/>
          </a:xfrm>
        </p:grpSpPr>
        <p:sp>
          <p:nvSpPr>
            <p:cNvPr id="25" name="Freeform 25"/>
            <p:cNvSpPr/>
            <p:nvPr/>
          </p:nvSpPr>
          <p:spPr>
            <a:xfrm>
              <a:off x="0" y="0"/>
              <a:ext cx="20421346" cy="8579358"/>
            </a:xfrm>
            <a:custGeom>
              <a:avLst/>
              <a:gdLst/>
              <a:ahLst/>
              <a:cxnLst/>
              <a:rect l="l" t="t" r="r" b="b"/>
              <a:pathLst>
                <a:path w="20421346" h="8579358">
                  <a:moveTo>
                    <a:pt x="0" y="231775"/>
                  </a:moveTo>
                  <a:cubicBezTo>
                    <a:pt x="0" y="103759"/>
                    <a:pt x="103759" y="0"/>
                    <a:pt x="231775" y="0"/>
                  </a:cubicBezTo>
                  <a:lnTo>
                    <a:pt x="20189571" y="0"/>
                  </a:lnTo>
                  <a:cubicBezTo>
                    <a:pt x="20317586" y="0"/>
                    <a:pt x="20421346" y="103759"/>
                    <a:pt x="20421346" y="231775"/>
                  </a:cubicBezTo>
                  <a:lnTo>
                    <a:pt x="20421346" y="8347583"/>
                  </a:lnTo>
                  <a:cubicBezTo>
                    <a:pt x="20421346" y="8475599"/>
                    <a:pt x="20317586" y="8579358"/>
                    <a:pt x="20189571" y="8579358"/>
                  </a:cubicBezTo>
                  <a:lnTo>
                    <a:pt x="231775" y="8579358"/>
                  </a:lnTo>
                  <a:cubicBezTo>
                    <a:pt x="103759" y="8579358"/>
                    <a:pt x="0" y="8475599"/>
                    <a:pt x="0" y="8347583"/>
                  </a:cubicBezTo>
                  <a:close/>
                </a:path>
              </a:pathLst>
            </a:custGeom>
            <a:gradFill rotWithShape="1">
              <a:gsLst>
                <a:gs pos="0">
                  <a:srgbClr val="38EF7D">
                    <a:alpha val="40000"/>
                  </a:srgbClr>
                </a:gs>
                <a:gs pos="100000">
                  <a:srgbClr val="11998E">
                    <a:alpha val="40000"/>
                  </a:srgbClr>
                </a:gs>
              </a:gsLst>
              <a:lin ang="2700000"/>
            </a:gradFill>
          </p:spPr>
          <p:txBody>
            <a:bodyPr/>
            <a:lstStyle/>
            <a:p>
              <a:endParaRPr lang="en-US"/>
            </a:p>
          </p:txBody>
        </p:sp>
      </p:grpSp>
      <p:grpSp>
        <p:nvGrpSpPr>
          <p:cNvPr id="26" name="Group 26"/>
          <p:cNvGrpSpPr/>
          <p:nvPr/>
        </p:nvGrpSpPr>
        <p:grpSpPr>
          <a:xfrm>
            <a:off x="0" y="2124"/>
            <a:ext cx="18291715" cy="10295477"/>
            <a:chOff x="0" y="0"/>
            <a:chExt cx="24388953" cy="13727303"/>
          </a:xfrm>
        </p:grpSpPr>
        <p:sp>
          <p:nvSpPr>
            <p:cNvPr id="27" name="Freeform 27"/>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28" name="Group 28"/>
          <p:cNvGrpSpPr/>
          <p:nvPr/>
        </p:nvGrpSpPr>
        <p:grpSpPr>
          <a:xfrm>
            <a:off x="15614542" y="498424"/>
            <a:ext cx="4114800" cy="547688"/>
            <a:chOff x="0" y="0"/>
            <a:chExt cx="5486400" cy="730250"/>
          </a:xfrm>
        </p:grpSpPr>
        <p:sp>
          <p:nvSpPr>
            <p:cNvPr id="29" name="Freeform 29"/>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6">
                <a:alphaModFix amt="0"/>
              </a:blip>
              <a:stretch>
                <a:fillRect t="-96290" b="-96290"/>
              </a:stretch>
            </a:blipFill>
          </p:spPr>
          <p:txBody>
            <a:bodyPr/>
            <a:lstStyle/>
            <a:p>
              <a:endParaRPr lang="en-US"/>
            </a:p>
          </p:txBody>
        </p:sp>
      </p:grpSp>
      <p:grpSp>
        <p:nvGrpSpPr>
          <p:cNvPr id="30" name="Group 30"/>
          <p:cNvGrpSpPr/>
          <p:nvPr/>
        </p:nvGrpSpPr>
        <p:grpSpPr>
          <a:xfrm>
            <a:off x="15614542" y="484137"/>
            <a:ext cx="4114800" cy="561975"/>
            <a:chOff x="0" y="0"/>
            <a:chExt cx="5486400" cy="749300"/>
          </a:xfrm>
        </p:grpSpPr>
        <p:sp>
          <p:nvSpPr>
            <p:cNvPr id="31" name="Freeform 31"/>
            <p:cNvSpPr/>
            <p:nvPr/>
          </p:nvSpPr>
          <p:spPr>
            <a:xfrm>
              <a:off x="0" y="0"/>
              <a:ext cx="5486400" cy="749301"/>
            </a:xfrm>
            <a:custGeom>
              <a:avLst/>
              <a:gdLst/>
              <a:ahLst/>
              <a:cxnLst/>
              <a:rect l="l" t="t" r="r" b="b"/>
              <a:pathLst>
                <a:path w="5486400" h="749301">
                  <a:moveTo>
                    <a:pt x="0" y="0"/>
                  </a:moveTo>
                  <a:lnTo>
                    <a:pt x="5486400" y="0"/>
                  </a:lnTo>
                  <a:lnTo>
                    <a:pt x="5486400" y="749301"/>
                  </a:lnTo>
                  <a:lnTo>
                    <a:pt x="0" y="749301"/>
                  </a:lnTo>
                  <a:close/>
                </a:path>
              </a:pathLst>
            </a:custGeom>
            <a:blipFill>
              <a:blip r:embed="rId7">
                <a:alphaModFix amt="0"/>
              </a:blip>
              <a:stretch>
                <a:fillRect t="-92670" b="-92669"/>
              </a:stretch>
            </a:blipFill>
          </p:spPr>
          <p:txBody>
            <a:bodyPr/>
            <a:lstStyle/>
            <a:p>
              <a:endParaRPr lang="en-US"/>
            </a:p>
          </p:txBody>
        </p:sp>
        <p:sp>
          <p:nvSpPr>
            <p:cNvPr id="32" name="TextBox 32"/>
            <p:cNvSpPr txBox="1"/>
            <p:nvPr/>
          </p:nvSpPr>
          <p:spPr>
            <a:xfrm>
              <a:off x="0" y="-19050"/>
              <a:ext cx="5486400" cy="768350"/>
            </a:xfrm>
            <a:prstGeom prst="rect">
              <a:avLst/>
            </a:prstGeom>
          </p:spPr>
          <p:txBody>
            <a:bodyPr lIns="0" tIns="0" rIns="0" bIns="0" rtlCol="0" anchor="ctr"/>
            <a:lstStyle/>
            <a:p>
              <a:pPr algn="ctr">
                <a:lnSpc>
                  <a:spcPts val="2160"/>
                </a:lnSpc>
              </a:pPr>
              <a:r>
                <a:rPr lang="en-US" sz="1800">
                  <a:solidFill>
                    <a:srgbClr val="FFFFFF"/>
                  </a:solidFill>
                  <a:latin typeface="Arial"/>
                  <a:ea typeface="Arial"/>
                  <a:cs typeface="Arial"/>
                  <a:sym typeface="Arial"/>
                </a:rPr>
                <a:t>‹#›</a:t>
              </a:r>
            </a:p>
          </p:txBody>
        </p:sp>
      </p:grpSp>
      <p:grpSp>
        <p:nvGrpSpPr>
          <p:cNvPr id="33" name="Group 33"/>
          <p:cNvGrpSpPr/>
          <p:nvPr/>
        </p:nvGrpSpPr>
        <p:grpSpPr>
          <a:xfrm>
            <a:off x="2480043" y="3431010"/>
            <a:ext cx="13766397" cy="2259006"/>
            <a:chOff x="0" y="0"/>
            <a:chExt cx="18355196" cy="3012008"/>
          </a:xfrm>
        </p:grpSpPr>
        <p:sp>
          <p:nvSpPr>
            <p:cNvPr id="34" name="Freeform 34"/>
            <p:cNvSpPr/>
            <p:nvPr/>
          </p:nvSpPr>
          <p:spPr>
            <a:xfrm>
              <a:off x="0" y="0"/>
              <a:ext cx="18355183" cy="3012059"/>
            </a:xfrm>
            <a:custGeom>
              <a:avLst/>
              <a:gdLst/>
              <a:ahLst/>
              <a:cxnLst/>
              <a:rect l="l" t="t" r="r" b="b"/>
              <a:pathLst>
                <a:path w="18355183" h="3012059">
                  <a:moveTo>
                    <a:pt x="0" y="0"/>
                  </a:moveTo>
                  <a:lnTo>
                    <a:pt x="18355183" y="0"/>
                  </a:lnTo>
                  <a:lnTo>
                    <a:pt x="18355183" y="3012059"/>
                  </a:lnTo>
                  <a:lnTo>
                    <a:pt x="0" y="3012059"/>
                  </a:lnTo>
                  <a:close/>
                </a:path>
              </a:pathLst>
            </a:custGeom>
            <a:blipFill>
              <a:blip r:embed="rId6">
                <a:alphaModFix amt="0"/>
              </a:blip>
              <a:stretch>
                <a:fillRect t="-68658" b="-68656"/>
              </a:stretch>
            </a:blipFill>
          </p:spPr>
          <p:txBody>
            <a:bodyPr/>
            <a:lstStyle/>
            <a:p>
              <a:endParaRPr lang="en-US"/>
            </a:p>
          </p:txBody>
        </p:sp>
      </p:grpSp>
      <p:grpSp>
        <p:nvGrpSpPr>
          <p:cNvPr id="35" name="Group 35"/>
          <p:cNvGrpSpPr/>
          <p:nvPr/>
        </p:nvGrpSpPr>
        <p:grpSpPr>
          <a:xfrm>
            <a:off x="2480043" y="3473872"/>
            <a:ext cx="13766397" cy="2216138"/>
            <a:chOff x="0" y="0"/>
            <a:chExt cx="18355196" cy="2954850"/>
          </a:xfrm>
        </p:grpSpPr>
        <p:sp>
          <p:nvSpPr>
            <p:cNvPr id="36" name="Freeform 36"/>
            <p:cNvSpPr/>
            <p:nvPr/>
          </p:nvSpPr>
          <p:spPr>
            <a:xfrm>
              <a:off x="0" y="0"/>
              <a:ext cx="18355196" cy="2954855"/>
            </a:xfrm>
            <a:custGeom>
              <a:avLst/>
              <a:gdLst/>
              <a:ahLst/>
              <a:cxnLst/>
              <a:rect l="l" t="t" r="r" b="b"/>
              <a:pathLst>
                <a:path w="18355196" h="2954855">
                  <a:moveTo>
                    <a:pt x="0" y="0"/>
                  </a:moveTo>
                  <a:lnTo>
                    <a:pt x="18355196" y="0"/>
                  </a:lnTo>
                  <a:lnTo>
                    <a:pt x="18355196" y="2954855"/>
                  </a:lnTo>
                  <a:lnTo>
                    <a:pt x="0" y="2954855"/>
                  </a:lnTo>
                  <a:close/>
                </a:path>
              </a:pathLst>
            </a:custGeom>
            <a:blipFill>
              <a:blip r:embed="rId7">
                <a:alphaModFix amt="0"/>
              </a:blip>
              <a:stretch>
                <a:fillRect t="-71038" b="-71038"/>
              </a:stretch>
            </a:blipFill>
          </p:spPr>
          <p:txBody>
            <a:bodyPr/>
            <a:lstStyle/>
            <a:p>
              <a:endParaRPr lang="en-US"/>
            </a:p>
          </p:txBody>
        </p:sp>
        <p:sp>
          <p:nvSpPr>
            <p:cNvPr id="37" name="TextBox 37"/>
            <p:cNvSpPr txBox="1"/>
            <p:nvPr/>
          </p:nvSpPr>
          <p:spPr>
            <a:xfrm>
              <a:off x="0" y="57150"/>
              <a:ext cx="18355196" cy="2897700"/>
            </a:xfrm>
            <a:prstGeom prst="rect">
              <a:avLst/>
            </a:prstGeom>
          </p:spPr>
          <p:txBody>
            <a:bodyPr lIns="0" tIns="0" rIns="0" bIns="0" rtlCol="0" anchor="ctr"/>
            <a:lstStyle/>
            <a:p>
              <a:pPr algn="l">
                <a:lnSpc>
                  <a:spcPts val="8856"/>
                </a:lnSpc>
              </a:pPr>
              <a:r>
                <a:rPr lang="en-US" sz="8200" b="1">
                  <a:solidFill>
                    <a:srgbClr val="FFFFFF"/>
                  </a:solidFill>
                  <a:latin typeface="Times New Roman Bold"/>
                  <a:ea typeface="Times New Roman Bold"/>
                  <a:cs typeface="Times New Roman Bold"/>
                  <a:sym typeface="Times New Roman Bold"/>
                </a:rPr>
                <a:t>Kết quả, đánh giá </a:t>
              </a:r>
            </a:p>
          </p:txBody>
        </p:sp>
      </p:grpSp>
      <p:sp>
        <p:nvSpPr>
          <p:cNvPr id="38" name="TextBox 38"/>
          <p:cNvSpPr txBox="1"/>
          <p:nvPr/>
        </p:nvSpPr>
        <p:spPr>
          <a:xfrm>
            <a:off x="2548614" y="1142886"/>
            <a:ext cx="2429709" cy="2481453"/>
          </a:xfrm>
          <a:prstGeom prst="rect">
            <a:avLst/>
          </a:prstGeom>
        </p:spPr>
        <p:txBody>
          <a:bodyPr lIns="0" tIns="0" rIns="0" bIns="0" rtlCol="0" anchor="t">
            <a:spAutoFit/>
          </a:bodyPr>
          <a:lstStyle/>
          <a:p>
            <a:pPr algn="l">
              <a:lnSpc>
                <a:spcPts val="18576"/>
              </a:lnSpc>
            </a:pPr>
            <a:r>
              <a:rPr lang="en-US" sz="17200">
                <a:solidFill>
                  <a:srgbClr val="FFFFFF"/>
                </a:solidFill>
                <a:latin typeface="Arial"/>
                <a:ea typeface="Arial"/>
                <a:cs typeface="Arial"/>
                <a:sym typeface="Arial"/>
              </a:rPr>
              <a:t>06</a:t>
            </a:r>
          </a:p>
        </p:txBody>
      </p:sp>
      <p:sp>
        <p:nvSpPr>
          <p:cNvPr id="39" name="TextBox 39"/>
          <p:cNvSpPr txBox="1"/>
          <p:nvPr/>
        </p:nvSpPr>
        <p:spPr>
          <a:xfrm>
            <a:off x="17486462" y="9172575"/>
            <a:ext cx="536705" cy="1114425"/>
          </a:xfrm>
          <a:prstGeom prst="rect">
            <a:avLst/>
          </a:prstGeom>
        </p:spPr>
        <p:txBody>
          <a:bodyPr lIns="0" tIns="0" rIns="0" bIns="0" rtlCol="0" anchor="t">
            <a:spAutoFit/>
          </a:bodyPr>
          <a:lstStyle/>
          <a:p>
            <a:pPr algn="ctr">
              <a:lnSpc>
                <a:spcPts val="4320"/>
              </a:lnSpc>
            </a:pPr>
            <a:r>
              <a:rPr lang="en-US" sz="3600">
                <a:solidFill>
                  <a:srgbClr val="000000"/>
                </a:solidFill>
                <a:latin typeface="Arial"/>
                <a:ea typeface="Arial"/>
                <a:cs typeface="Arial"/>
                <a:sym typeface="Arial"/>
              </a:rPr>
              <a:t>24</a:t>
            </a:r>
          </a:p>
          <a:p>
            <a:pPr algn="ctr">
              <a:lnSpc>
                <a:spcPts val="4320"/>
              </a:lnSpc>
            </a:pPr>
            <a:endParaRPr lang="en-US" sz="3600">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124"/>
            <a:ext cx="18291715" cy="10295477"/>
            <a:chOff x="0" y="0"/>
            <a:chExt cx="24388953" cy="13727303"/>
          </a:xfrm>
        </p:grpSpPr>
        <p:sp>
          <p:nvSpPr>
            <p:cNvPr id="3" name="Freeform 3"/>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4" name="Group 4"/>
          <p:cNvGrpSpPr/>
          <p:nvPr/>
        </p:nvGrpSpPr>
        <p:grpSpPr>
          <a:xfrm rot="5400000">
            <a:off x="8668464" y="-8670055"/>
            <a:ext cx="947356" cy="18291715"/>
            <a:chOff x="0" y="0"/>
            <a:chExt cx="1263142" cy="24388953"/>
          </a:xfrm>
        </p:grpSpPr>
        <p:sp>
          <p:nvSpPr>
            <p:cNvPr id="5" name="Freeform 5"/>
            <p:cNvSpPr/>
            <p:nvPr/>
          </p:nvSpPr>
          <p:spPr>
            <a:xfrm>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gradFill rotWithShape="1">
              <a:gsLst>
                <a:gs pos="0">
                  <a:srgbClr val="10CC57">
                    <a:alpha val="100000"/>
                  </a:srgbClr>
                </a:gs>
                <a:gs pos="100000">
                  <a:srgbClr val="017058">
                    <a:alpha val="100000"/>
                  </a:srgbClr>
                </a:gs>
              </a:gsLst>
              <a:lin ang="0"/>
            </a:gradFill>
          </p:spPr>
          <p:txBody>
            <a:bodyPr/>
            <a:lstStyle/>
            <a:p>
              <a:endParaRPr lang="en-US"/>
            </a:p>
          </p:txBody>
        </p:sp>
      </p:grpSp>
      <p:grpSp>
        <p:nvGrpSpPr>
          <p:cNvPr id="6" name="Group 6"/>
          <p:cNvGrpSpPr/>
          <p:nvPr/>
        </p:nvGrpSpPr>
        <p:grpSpPr>
          <a:xfrm rot="-5400000">
            <a:off x="8670312" y="-8672208"/>
            <a:ext cx="947356" cy="18291715"/>
            <a:chOff x="0" y="0"/>
            <a:chExt cx="1263142" cy="24388953"/>
          </a:xfrm>
        </p:grpSpPr>
        <p:sp>
          <p:nvSpPr>
            <p:cNvPr id="7" name="Freeform 7"/>
            <p:cNvSpPr/>
            <p:nvPr/>
          </p:nvSpPr>
          <p:spPr>
            <a:xfrm flipH="1">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blipFill>
              <a:blip r:embed="rId2"/>
              <a:stretch>
                <a:fillRect l="-35092" r="-35091"/>
              </a:stretch>
            </a:blipFill>
          </p:spPr>
          <p:txBody>
            <a:bodyPr/>
            <a:lstStyle/>
            <a:p>
              <a:endParaRPr lang="en-US"/>
            </a:p>
          </p:txBody>
        </p:sp>
      </p:grpSp>
      <p:sp>
        <p:nvSpPr>
          <p:cNvPr id="8" name="TextBox 8"/>
          <p:cNvSpPr txBox="1"/>
          <p:nvPr/>
        </p:nvSpPr>
        <p:spPr>
          <a:xfrm>
            <a:off x="428996" y="227362"/>
            <a:ext cx="10993288" cy="456571"/>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9" name="Group 9"/>
          <p:cNvGrpSpPr/>
          <p:nvPr/>
        </p:nvGrpSpPr>
        <p:grpSpPr>
          <a:xfrm>
            <a:off x="6719983" y="457933"/>
            <a:ext cx="4848130" cy="958024"/>
            <a:chOff x="0" y="0"/>
            <a:chExt cx="6464173" cy="1277366"/>
          </a:xfrm>
        </p:grpSpPr>
        <p:sp>
          <p:nvSpPr>
            <p:cNvPr id="10" name="Freeform 10"/>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2700000"/>
            </a:gradFill>
          </p:spPr>
          <p:txBody>
            <a:bodyPr/>
            <a:lstStyle/>
            <a:p>
              <a:endParaRPr lang="en-US"/>
            </a:p>
          </p:txBody>
        </p:sp>
      </p:grpSp>
      <p:grpSp>
        <p:nvGrpSpPr>
          <p:cNvPr id="11" name="Group 11"/>
          <p:cNvGrpSpPr/>
          <p:nvPr/>
        </p:nvGrpSpPr>
        <p:grpSpPr>
          <a:xfrm>
            <a:off x="6807460" y="535972"/>
            <a:ext cx="4673060" cy="801815"/>
            <a:chOff x="0" y="0"/>
            <a:chExt cx="6230747" cy="1069086"/>
          </a:xfrm>
        </p:grpSpPr>
        <p:sp>
          <p:nvSpPr>
            <p:cNvPr id="12" name="Freeform 12"/>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en-US"/>
            </a:p>
          </p:txBody>
        </p:sp>
      </p:grpSp>
      <p:grpSp>
        <p:nvGrpSpPr>
          <p:cNvPr id="13" name="Group 13"/>
          <p:cNvGrpSpPr/>
          <p:nvPr/>
        </p:nvGrpSpPr>
        <p:grpSpPr>
          <a:xfrm>
            <a:off x="9436446" y="362541"/>
            <a:ext cx="1163288" cy="1152620"/>
            <a:chOff x="0" y="0"/>
            <a:chExt cx="1551051" cy="1536827"/>
          </a:xfrm>
        </p:grpSpPr>
        <p:sp>
          <p:nvSpPr>
            <p:cNvPr id="14" name="Freeform 14"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211" r="-210"/>
              </a:stretch>
            </a:blipFill>
          </p:spPr>
          <p:txBody>
            <a:bodyPr/>
            <a:lstStyle/>
            <a:p>
              <a:endParaRPr lang="en-US"/>
            </a:p>
          </p:txBody>
        </p:sp>
      </p:grpSp>
      <p:grpSp>
        <p:nvGrpSpPr>
          <p:cNvPr id="15" name="Group 15"/>
          <p:cNvGrpSpPr/>
          <p:nvPr/>
        </p:nvGrpSpPr>
        <p:grpSpPr>
          <a:xfrm>
            <a:off x="7688247" y="398078"/>
            <a:ext cx="1307497" cy="1081564"/>
            <a:chOff x="0" y="0"/>
            <a:chExt cx="1743329" cy="1442085"/>
          </a:xfrm>
        </p:grpSpPr>
        <p:sp>
          <p:nvSpPr>
            <p:cNvPr id="16" name="Freeform 16"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l="-38" r="-37"/>
              </a:stretch>
            </a:blipFill>
          </p:spPr>
          <p:txBody>
            <a:bodyPr/>
            <a:lstStyle/>
            <a:p>
              <a:endParaRPr lang="en-US"/>
            </a:p>
          </p:txBody>
        </p:sp>
      </p:grpSp>
      <p:grpSp>
        <p:nvGrpSpPr>
          <p:cNvPr id="17" name="Group 17"/>
          <p:cNvGrpSpPr/>
          <p:nvPr/>
        </p:nvGrpSpPr>
        <p:grpSpPr>
          <a:xfrm>
            <a:off x="908999" y="1555147"/>
            <a:ext cx="16470001" cy="1335996"/>
            <a:chOff x="0" y="0"/>
            <a:chExt cx="21960002" cy="1781327"/>
          </a:xfrm>
        </p:grpSpPr>
        <p:sp>
          <p:nvSpPr>
            <p:cNvPr id="18" name="Freeform 18"/>
            <p:cNvSpPr/>
            <p:nvPr/>
          </p:nvSpPr>
          <p:spPr>
            <a:xfrm>
              <a:off x="0" y="0"/>
              <a:ext cx="21959951" cy="1781302"/>
            </a:xfrm>
            <a:custGeom>
              <a:avLst/>
              <a:gdLst/>
              <a:ahLst/>
              <a:cxnLst/>
              <a:rect l="l" t="t" r="r" b="b"/>
              <a:pathLst>
                <a:path w="21959951" h="1781302">
                  <a:moveTo>
                    <a:pt x="0" y="0"/>
                  </a:moveTo>
                  <a:lnTo>
                    <a:pt x="21959951" y="0"/>
                  </a:lnTo>
                  <a:lnTo>
                    <a:pt x="21959951" y="1781302"/>
                  </a:lnTo>
                  <a:lnTo>
                    <a:pt x="0" y="1781302"/>
                  </a:lnTo>
                  <a:close/>
                </a:path>
              </a:pathLst>
            </a:custGeom>
            <a:blipFill>
              <a:blip r:embed="rId5">
                <a:alphaModFix amt="0"/>
              </a:blip>
              <a:stretch>
                <a:fillRect t="-190044" b="-190046"/>
              </a:stretch>
            </a:blipFill>
          </p:spPr>
          <p:txBody>
            <a:bodyPr/>
            <a:lstStyle/>
            <a:p>
              <a:endParaRPr lang="en-US"/>
            </a:p>
          </p:txBody>
        </p:sp>
      </p:grpSp>
      <p:grpSp>
        <p:nvGrpSpPr>
          <p:cNvPr id="19" name="Group 19"/>
          <p:cNvGrpSpPr/>
          <p:nvPr/>
        </p:nvGrpSpPr>
        <p:grpSpPr>
          <a:xfrm>
            <a:off x="908999" y="1576578"/>
            <a:ext cx="16470001" cy="1314563"/>
            <a:chOff x="0" y="0"/>
            <a:chExt cx="21960002" cy="1752750"/>
          </a:xfrm>
        </p:grpSpPr>
        <p:sp>
          <p:nvSpPr>
            <p:cNvPr id="20" name="Freeform 20"/>
            <p:cNvSpPr/>
            <p:nvPr/>
          </p:nvSpPr>
          <p:spPr>
            <a:xfrm>
              <a:off x="0" y="0"/>
              <a:ext cx="21960001" cy="1752748"/>
            </a:xfrm>
            <a:custGeom>
              <a:avLst/>
              <a:gdLst/>
              <a:ahLst/>
              <a:cxnLst/>
              <a:rect l="l" t="t" r="r" b="b"/>
              <a:pathLst>
                <a:path w="21960001" h="1752748">
                  <a:moveTo>
                    <a:pt x="0" y="0"/>
                  </a:moveTo>
                  <a:lnTo>
                    <a:pt x="21960001" y="0"/>
                  </a:lnTo>
                  <a:lnTo>
                    <a:pt x="21960001" y="1752748"/>
                  </a:lnTo>
                  <a:lnTo>
                    <a:pt x="0" y="1752748"/>
                  </a:lnTo>
                  <a:close/>
                </a:path>
              </a:pathLst>
            </a:custGeom>
            <a:blipFill>
              <a:blip r:embed="rId6">
                <a:alphaModFix amt="0"/>
              </a:blip>
              <a:stretch>
                <a:fillRect t="-194125" b="-194126"/>
              </a:stretch>
            </a:blipFill>
          </p:spPr>
          <p:txBody>
            <a:bodyPr/>
            <a:lstStyle/>
            <a:p>
              <a:endParaRPr lang="en-US"/>
            </a:p>
          </p:txBody>
        </p:sp>
        <p:sp>
          <p:nvSpPr>
            <p:cNvPr id="21" name="TextBox 21"/>
            <p:cNvSpPr txBox="1"/>
            <p:nvPr/>
          </p:nvSpPr>
          <p:spPr>
            <a:xfrm>
              <a:off x="0" y="28575"/>
              <a:ext cx="21960002" cy="1724175"/>
            </a:xfrm>
            <a:prstGeom prst="rect">
              <a:avLst/>
            </a:prstGeom>
          </p:spPr>
          <p:txBody>
            <a:bodyPr lIns="0" tIns="0" rIns="0" bIns="0" rtlCol="0" anchor="ctr"/>
            <a:lstStyle/>
            <a:p>
              <a:pPr algn="l">
                <a:lnSpc>
                  <a:spcPts val="6048"/>
                </a:lnSpc>
              </a:pPr>
              <a:r>
                <a:rPr lang="en-US" sz="5599" b="1">
                  <a:solidFill>
                    <a:srgbClr val="017058"/>
                  </a:solidFill>
                  <a:latin typeface="Times New Roman Bold"/>
                  <a:ea typeface="Times New Roman Bold"/>
                  <a:cs typeface="Times New Roman Bold"/>
                  <a:sym typeface="Times New Roman Bold"/>
                </a:rPr>
                <a:t>6. Kết quả, đánh giá  </a:t>
              </a:r>
            </a:p>
          </p:txBody>
        </p:sp>
      </p:grpSp>
      <p:sp>
        <p:nvSpPr>
          <p:cNvPr id="22" name="Freeform 22"/>
          <p:cNvSpPr/>
          <p:nvPr/>
        </p:nvSpPr>
        <p:spPr>
          <a:xfrm>
            <a:off x="1070182" y="3317357"/>
            <a:ext cx="8947908" cy="6122043"/>
          </a:xfrm>
          <a:custGeom>
            <a:avLst/>
            <a:gdLst/>
            <a:ahLst/>
            <a:cxnLst/>
            <a:rect l="l" t="t" r="r" b="b"/>
            <a:pathLst>
              <a:path w="8947908" h="6122043">
                <a:moveTo>
                  <a:pt x="0" y="0"/>
                </a:moveTo>
                <a:lnTo>
                  <a:pt x="8947908" y="0"/>
                </a:lnTo>
                <a:lnTo>
                  <a:pt x="8947908" y="6122044"/>
                </a:lnTo>
                <a:lnTo>
                  <a:pt x="0" y="6122044"/>
                </a:lnTo>
                <a:lnTo>
                  <a:pt x="0" y="0"/>
                </a:lnTo>
                <a:close/>
              </a:path>
            </a:pathLst>
          </a:custGeom>
          <a:blipFill>
            <a:blip r:embed="rId7"/>
            <a:stretch>
              <a:fillRect r="-28788"/>
            </a:stretch>
          </a:blipFill>
        </p:spPr>
        <p:txBody>
          <a:bodyPr/>
          <a:lstStyle/>
          <a:p>
            <a:endParaRPr lang="en-US"/>
          </a:p>
        </p:txBody>
      </p:sp>
      <p:sp>
        <p:nvSpPr>
          <p:cNvPr id="23" name="TextBox 23"/>
          <p:cNvSpPr txBox="1"/>
          <p:nvPr/>
        </p:nvSpPr>
        <p:spPr>
          <a:xfrm>
            <a:off x="68570" y="-2318490"/>
            <a:ext cx="18150850" cy="569719"/>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sp>
        <p:nvSpPr>
          <p:cNvPr id="24" name="TextBox 24"/>
          <p:cNvSpPr txBox="1"/>
          <p:nvPr/>
        </p:nvSpPr>
        <p:spPr>
          <a:xfrm>
            <a:off x="1070182" y="2637272"/>
            <a:ext cx="9313332" cy="584835"/>
          </a:xfrm>
          <a:prstGeom prst="rect">
            <a:avLst/>
          </a:prstGeom>
        </p:spPr>
        <p:txBody>
          <a:bodyPr lIns="0" tIns="0" rIns="0" bIns="0" rtlCol="0" anchor="t">
            <a:spAutoFit/>
          </a:bodyPr>
          <a:lstStyle/>
          <a:p>
            <a:pPr algn="l">
              <a:lnSpc>
                <a:spcPts val="4320"/>
              </a:lnSpc>
            </a:pPr>
            <a:r>
              <a:rPr lang="en-US" sz="4000" b="1">
                <a:solidFill>
                  <a:srgbClr val="017058"/>
                </a:solidFill>
                <a:latin typeface="Times New Roman Bold"/>
                <a:ea typeface="Times New Roman Bold"/>
                <a:cs typeface="Times New Roman Bold"/>
                <a:sym typeface="Times New Roman Bold"/>
              </a:rPr>
              <a:t>6.1 Các thông report thu được </a:t>
            </a:r>
          </a:p>
        </p:txBody>
      </p:sp>
      <p:sp>
        <p:nvSpPr>
          <p:cNvPr id="25" name="TextBox 25"/>
          <p:cNvSpPr txBox="1"/>
          <p:nvPr/>
        </p:nvSpPr>
        <p:spPr>
          <a:xfrm>
            <a:off x="17447714" y="9144000"/>
            <a:ext cx="508635" cy="1114425"/>
          </a:xfrm>
          <a:prstGeom prst="rect">
            <a:avLst/>
          </a:prstGeom>
        </p:spPr>
        <p:txBody>
          <a:bodyPr lIns="0" tIns="0" rIns="0" bIns="0" rtlCol="0" anchor="t">
            <a:spAutoFit/>
          </a:bodyPr>
          <a:lstStyle/>
          <a:p>
            <a:pPr algn="ctr">
              <a:lnSpc>
                <a:spcPts val="4320"/>
              </a:lnSpc>
            </a:pPr>
            <a:r>
              <a:rPr lang="en-US" sz="3600">
                <a:solidFill>
                  <a:srgbClr val="000000"/>
                </a:solidFill>
                <a:latin typeface="Arial"/>
                <a:ea typeface="Arial"/>
                <a:cs typeface="Arial"/>
                <a:sym typeface="Arial"/>
              </a:rPr>
              <a:t>25</a:t>
            </a:r>
          </a:p>
          <a:p>
            <a:pPr algn="ctr">
              <a:lnSpc>
                <a:spcPts val="4320"/>
              </a:lnSpc>
            </a:pPr>
            <a:endParaRPr lang="en-US" sz="3600">
              <a:solidFill>
                <a:srgbClr val="000000"/>
              </a:solidFill>
              <a:latin typeface="Arial"/>
              <a:ea typeface="Arial"/>
              <a:cs typeface="Arial"/>
              <a:sym typeface="Arial"/>
            </a:endParaRPr>
          </a:p>
        </p:txBody>
      </p:sp>
      <p:sp>
        <p:nvSpPr>
          <p:cNvPr id="26" name="TextBox 26"/>
          <p:cNvSpPr txBox="1"/>
          <p:nvPr/>
        </p:nvSpPr>
        <p:spPr>
          <a:xfrm>
            <a:off x="10599734" y="3767442"/>
            <a:ext cx="6359231" cy="4581525"/>
          </a:xfrm>
          <a:prstGeom prst="rect">
            <a:avLst/>
          </a:prstGeom>
        </p:spPr>
        <p:txBody>
          <a:bodyPr lIns="0" tIns="0" rIns="0" bIns="0" rtlCol="0" anchor="t">
            <a:spAutoFit/>
          </a:bodyPr>
          <a:lstStyle/>
          <a:p>
            <a:pPr marL="604519" lvl="1" indent="-302260" algn="l">
              <a:lnSpc>
                <a:spcPts val="3359"/>
              </a:lnSpc>
              <a:spcBef>
                <a:spcPct val="0"/>
              </a:spcBef>
              <a:buFont typeface="Arial"/>
              <a:buChar char="•"/>
            </a:pPr>
            <a:r>
              <a:rPr lang="en-US" sz="2799">
                <a:solidFill>
                  <a:srgbClr val="000000"/>
                </a:solidFill>
                <a:latin typeface="Arial"/>
                <a:ea typeface="Arial"/>
                <a:cs typeface="Arial"/>
                <a:sym typeface="Arial"/>
              </a:rPr>
              <a:t>Tổng số phần tử logic (Total logic elements): 23,258 / 33,216 (chiếm 70%)</a:t>
            </a:r>
          </a:p>
          <a:p>
            <a:pPr algn="l">
              <a:lnSpc>
                <a:spcPts val="3359"/>
              </a:lnSpc>
              <a:spcBef>
                <a:spcPct val="0"/>
              </a:spcBef>
            </a:pPr>
            <a:endParaRPr lang="en-US" sz="2799">
              <a:solidFill>
                <a:srgbClr val="000000"/>
              </a:solidFill>
              <a:latin typeface="Arial"/>
              <a:ea typeface="Arial"/>
              <a:cs typeface="Arial"/>
              <a:sym typeface="Arial"/>
            </a:endParaRPr>
          </a:p>
          <a:p>
            <a:pPr marL="604519" lvl="1" indent="-302260" algn="l">
              <a:lnSpc>
                <a:spcPts val="3359"/>
              </a:lnSpc>
              <a:spcBef>
                <a:spcPct val="0"/>
              </a:spcBef>
              <a:buFont typeface="Arial"/>
              <a:buChar char="•"/>
            </a:pPr>
            <a:r>
              <a:rPr lang="en-US" sz="2799">
                <a:solidFill>
                  <a:srgbClr val="000000"/>
                </a:solidFill>
                <a:latin typeface="Arial"/>
                <a:ea typeface="Arial"/>
                <a:cs typeface="Arial"/>
                <a:sym typeface="Arial"/>
              </a:rPr>
              <a:t>Tổng số thanh ghi (Total registers): 18,564</a:t>
            </a:r>
          </a:p>
          <a:p>
            <a:pPr algn="l">
              <a:lnSpc>
                <a:spcPts val="3359"/>
              </a:lnSpc>
              <a:spcBef>
                <a:spcPct val="0"/>
              </a:spcBef>
            </a:pPr>
            <a:endParaRPr lang="en-US" sz="2799">
              <a:solidFill>
                <a:srgbClr val="000000"/>
              </a:solidFill>
              <a:latin typeface="Arial"/>
              <a:ea typeface="Arial"/>
              <a:cs typeface="Arial"/>
              <a:sym typeface="Arial"/>
            </a:endParaRPr>
          </a:p>
          <a:p>
            <a:pPr marL="604519" lvl="1" indent="-302260" algn="l">
              <a:lnSpc>
                <a:spcPts val="3359"/>
              </a:lnSpc>
              <a:spcBef>
                <a:spcPct val="0"/>
              </a:spcBef>
              <a:buFont typeface="Arial"/>
              <a:buChar char="•"/>
            </a:pPr>
            <a:r>
              <a:rPr lang="en-US" sz="2799">
                <a:solidFill>
                  <a:srgbClr val="000000"/>
                </a:solidFill>
                <a:latin typeface="Arial"/>
                <a:ea typeface="Arial"/>
                <a:cs typeface="Arial"/>
                <a:sym typeface="Arial"/>
              </a:rPr>
              <a:t>Tổng số bit bộ nhớ (Total memory bits): 273,408 / 483,840 (chiếm 57%)</a:t>
            </a:r>
          </a:p>
          <a:p>
            <a:pPr algn="l">
              <a:lnSpc>
                <a:spcPts val="2999"/>
              </a:lnSpc>
              <a:spcBef>
                <a:spcPct val="0"/>
              </a:spcBef>
            </a:pPr>
            <a:endParaRPr lang="en-US" sz="2799">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124"/>
            <a:ext cx="18291715" cy="10295477"/>
            <a:chOff x="0" y="0"/>
            <a:chExt cx="24388953" cy="13727303"/>
          </a:xfrm>
        </p:grpSpPr>
        <p:sp>
          <p:nvSpPr>
            <p:cNvPr id="3" name="Freeform 3"/>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4" name="Group 4"/>
          <p:cNvGrpSpPr/>
          <p:nvPr/>
        </p:nvGrpSpPr>
        <p:grpSpPr>
          <a:xfrm rot="5400000">
            <a:off x="8668464" y="-8670055"/>
            <a:ext cx="947356" cy="18291715"/>
            <a:chOff x="0" y="0"/>
            <a:chExt cx="1263142" cy="24388953"/>
          </a:xfrm>
        </p:grpSpPr>
        <p:sp>
          <p:nvSpPr>
            <p:cNvPr id="5" name="Freeform 5"/>
            <p:cNvSpPr/>
            <p:nvPr/>
          </p:nvSpPr>
          <p:spPr>
            <a:xfrm>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gradFill rotWithShape="1">
              <a:gsLst>
                <a:gs pos="0">
                  <a:srgbClr val="10CC57">
                    <a:alpha val="100000"/>
                  </a:srgbClr>
                </a:gs>
                <a:gs pos="100000">
                  <a:srgbClr val="017058">
                    <a:alpha val="100000"/>
                  </a:srgbClr>
                </a:gs>
              </a:gsLst>
              <a:lin ang="0"/>
            </a:gradFill>
          </p:spPr>
          <p:txBody>
            <a:bodyPr/>
            <a:lstStyle/>
            <a:p>
              <a:endParaRPr lang="en-US"/>
            </a:p>
          </p:txBody>
        </p:sp>
      </p:grpSp>
      <p:grpSp>
        <p:nvGrpSpPr>
          <p:cNvPr id="6" name="Group 6"/>
          <p:cNvGrpSpPr/>
          <p:nvPr/>
        </p:nvGrpSpPr>
        <p:grpSpPr>
          <a:xfrm rot="-5400000">
            <a:off x="8670312" y="-8672208"/>
            <a:ext cx="947356" cy="18291715"/>
            <a:chOff x="0" y="0"/>
            <a:chExt cx="1263142" cy="24388953"/>
          </a:xfrm>
        </p:grpSpPr>
        <p:sp>
          <p:nvSpPr>
            <p:cNvPr id="7" name="Freeform 7"/>
            <p:cNvSpPr/>
            <p:nvPr/>
          </p:nvSpPr>
          <p:spPr>
            <a:xfrm flipH="1">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blipFill>
              <a:blip r:embed="rId2"/>
              <a:stretch>
                <a:fillRect l="-35092" r="-35091"/>
              </a:stretch>
            </a:blipFill>
          </p:spPr>
          <p:txBody>
            <a:bodyPr/>
            <a:lstStyle/>
            <a:p>
              <a:endParaRPr lang="en-US"/>
            </a:p>
          </p:txBody>
        </p:sp>
      </p:grpSp>
      <p:sp>
        <p:nvSpPr>
          <p:cNvPr id="8" name="TextBox 8"/>
          <p:cNvSpPr txBox="1"/>
          <p:nvPr/>
        </p:nvSpPr>
        <p:spPr>
          <a:xfrm>
            <a:off x="428996" y="227362"/>
            <a:ext cx="10993288" cy="456571"/>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9" name="Group 9"/>
          <p:cNvGrpSpPr/>
          <p:nvPr/>
        </p:nvGrpSpPr>
        <p:grpSpPr>
          <a:xfrm>
            <a:off x="6719983" y="457933"/>
            <a:ext cx="4848130" cy="958024"/>
            <a:chOff x="0" y="0"/>
            <a:chExt cx="6464173" cy="1277366"/>
          </a:xfrm>
        </p:grpSpPr>
        <p:sp>
          <p:nvSpPr>
            <p:cNvPr id="10" name="Freeform 10"/>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2700000"/>
            </a:gradFill>
          </p:spPr>
          <p:txBody>
            <a:bodyPr/>
            <a:lstStyle/>
            <a:p>
              <a:endParaRPr lang="en-US"/>
            </a:p>
          </p:txBody>
        </p:sp>
      </p:grpSp>
      <p:grpSp>
        <p:nvGrpSpPr>
          <p:cNvPr id="11" name="Group 11"/>
          <p:cNvGrpSpPr/>
          <p:nvPr/>
        </p:nvGrpSpPr>
        <p:grpSpPr>
          <a:xfrm>
            <a:off x="6807460" y="535972"/>
            <a:ext cx="4673060" cy="801815"/>
            <a:chOff x="0" y="0"/>
            <a:chExt cx="6230747" cy="1069086"/>
          </a:xfrm>
        </p:grpSpPr>
        <p:sp>
          <p:nvSpPr>
            <p:cNvPr id="12" name="Freeform 12"/>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en-US"/>
            </a:p>
          </p:txBody>
        </p:sp>
      </p:grpSp>
      <p:grpSp>
        <p:nvGrpSpPr>
          <p:cNvPr id="13" name="Group 13"/>
          <p:cNvGrpSpPr/>
          <p:nvPr/>
        </p:nvGrpSpPr>
        <p:grpSpPr>
          <a:xfrm>
            <a:off x="9436446" y="362541"/>
            <a:ext cx="1163288" cy="1152620"/>
            <a:chOff x="0" y="0"/>
            <a:chExt cx="1551051" cy="1536827"/>
          </a:xfrm>
        </p:grpSpPr>
        <p:sp>
          <p:nvSpPr>
            <p:cNvPr id="14" name="Freeform 14"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211" r="-210"/>
              </a:stretch>
            </a:blipFill>
          </p:spPr>
          <p:txBody>
            <a:bodyPr/>
            <a:lstStyle/>
            <a:p>
              <a:endParaRPr lang="en-US"/>
            </a:p>
          </p:txBody>
        </p:sp>
      </p:grpSp>
      <p:grpSp>
        <p:nvGrpSpPr>
          <p:cNvPr id="15" name="Group 15"/>
          <p:cNvGrpSpPr/>
          <p:nvPr/>
        </p:nvGrpSpPr>
        <p:grpSpPr>
          <a:xfrm>
            <a:off x="7688247" y="398078"/>
            <a:ext cx="1307497" cy="1081564"/>
            <a:chOff x="0" y="0"/>
            <a:chExt cx="1743329" cy="1442085"/>
          </a:xfrm>
        </p:grpSpPr>
        <p:sp>
          <p:nvSpPr>
            <p:cNvPr id="16" name="Freeform 16"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l="-38" r="-37"/>
              </a:stretch>
            </a:blipFill>
          </p:spPr>
          <p:txBody>
            <a:bodyPr/>
            <a:lstStyle/>
            <a:p>
              <a:endParaRPr lang="en-US"/>
            </a:p>
          </p:txBody>
        </p:sp>
      </p:grpSp>
      <p:grpSp>
        <p:nvGrpSpPr>
          <p:cNvPr id="17" name="Group 17"/>
          <p:cNvGrpSpPr/>
          <p:nvPr/>
        </p:nvGrpSpPr>
        <p:grpSpPr>
          <a:xfrm>
            <a:off x="908999" y="1555147"/>
            <a:ext cx="16470001" cy="1335996"/>
            <a:chOff x="0" y="0"/>
            <a:chExt cx="21960002" cy="1781327"/>
          </a:xfrm>
        </p:grpSpPr>
        <p:sp>
          <p:nvSpPr>
            <p:cNvPr id="18" name="Freeform 18"/>
            <p:cNvSpPr/>
            <p:nvPr/>
          </p:nvSpPr>
          <p:spPr>
            <a:xfrm>
              <a:off x="0" y="0"/>
              <a:ext cx="21959951" cy="1781302"/>
            </a:xfrm>
            <a:custGeom>
              <a:avLst/>
              <a:gdLst/>
              <a:ahLst/>
              <a:cxnLst/>
              <a:rect l="l" t="t" r="r" b="b"/>
              <a:pathLst>
                <a:path w="21959951" h="1781302">
                  <a:moveTo>
                    <a:pt x="0" y="0"/>
                  </a:moveTo>
                  <a:lnTo>
                    <a:pt x="21959951" y="0"/>
                  </a:lnTo>
                  <a:lnTo>
                    <a:pt x="21959951" y="1781302"/>
                  </a:lnTo>
                  <a:lnTo>
                    <a:pt x="0" y="1781302"/>
                  </a:lnTo>
                  <a:close/>
                </a:path>
              </a:pathLst>
            </a:custGeom>
            <a:blipFill>
              <a:blip r:embed="rId5">
                <a:alphaModFix amt="0"/>
              </a:blip>
              <a:stretch>
                <a:fillRect t="-190044" b="-190046"/>
              </a:stretch>
            </a:blipFill>
          </p:spPr>
          <p:txBody>
            <a:bodyPr/>
            <a:lstStyle/>
            <a:p>
              <a:endParaRPr lang="en-US"/>
            </a:p>
          </p:txBody>
        </p:sp>
      </p:grpSp>
      <p:grpSp>
        <p:nvGrpSpPr>
          <p:cNvPr id="19" name="Group 19"/>
          <p:cNvGrpSpPr/>
          <p:nvPr/>
        </p:nvGrpSpPr>
        <p:grpSpPr>
          <a:xfrm>
            <a:off x="908999" y="1576578"/>
            <a:ext cx="16470001" cy="1314563"/>
            <a:chOff x="0" y="0"/>
            <a:chExt cx="21960002" cy="1752750"/>
          </a:xfrm>
        </p:grpSpPr>
        <p:sp>
          <p:nvSpPr>
            <p:cNvPr id="20" name="Freeform 20"/>
            <p:cNvSpPr/>
            <p:nvPr/>
          </p:nvSpPr>
          <p:spPr>
            <a:xfrm>
              <a:off x="0" y="0"/>
              <a:ext cx="21960001" cy="1752748"/>
            </a:xfrm>
            <a:custGeom>
              <a:avLst/>
              <a:gdLst/>
              <a:ahLst/>
              <a:cxnLst/>
              <a:rect l="l" t="t" r="r" b="b"/>
              <a:pathLst>
                <a:path w="21960001" h="1752748">
                  <a:moveTo>
                    <a:pt x="0" y="0"/>
                  </a:moveTo>
                  <a:lnTo>
                    <a:pt x="21960001" y="0"/>
                  </a:lnTo>
                  <a:lnTo>
                    <a:pt x="21960001" y="1752748"/>
                  </a:lnTo>
                  <a:lnTo>
                    <a:pt x="0" y="1752748"/>
                  </a:lnTo>
                  <a:close/>
                </a:path>
              </a:pathLst>
            </a:custGeom>
            <a:blipFill>
              <a:blip r:embed="rId6">
                <a:alphaModFix amt="0"/>
              </a:blip>
              <a:stretch>
                <a:fillRect t="-194125" b="-194126"/>
              </a:stretch>
            </a:blipFill>
          </p:spPr>
          <p:txBody>
            <a:bodyPr/>
            <a:lstStyle/>
            <a:p>
              <a:endParaRPr lang="en-US"/>
            </a:p>
          </p:txBody>
        </p:sp>
        <p:sp>
          <p:nvSpPr>
            <p:cNvPr id="21" name="TextBox 21"/>
            <p:cNvSpPr txBox="1"/>
            <p:nvPr/>
          </p:nvSpPr>
          <p:spPr>
            <a:xfrm>
              <a:off x="0" y="28575"/>
              <a:ext cx="21960002" cy="1724175"/>
            </a:xfrm>
            <a:prstGeom prst="rect">
              <a:avLst/>
            </a:prstGeom>
          </p:spPr>
          <p:txBody>
            <a:bodyPr lIns="0" tIns="0" rIns="0" bIns="0" rtlCol="0" anchor="ctr"/>
            <a:lstStyle/>
            <a:p>
              <a:pPr algn="l">
                <a:lnSpc>
                  <a:spcPts val="6048"/>
                </a:lnSpc>
              </a:pPr>
              <a:r>
                <a:rPr lang="en-US" sz="5599" b="1">
                  <a:solidFill>
                    <a:srgbClr val="017058"/>
                  </a:solidFill>
                  <a:latin typeface="Times New Roman Bold"/>
                  <a:ea typeface="Times New Roman Bold"/>
                  <a:cs typeface="Times New Roman Bold"/>
                  <a:sym typeface="Times New Roman Bold"/>
                </a:rPr>
                <a:t>6. Kết quả, đánh giá  </a:t>
              </a:r>
            </a:p>
          </p:txBody>
        </p:sp>
      </p:grpSp>
      <p:sp>
        <p:nvSpPr>
          <p:cNvPr id="22" name="Freeform 22"/>
          <p:cNvSpPr/>
          <p:nvPr/>
        </p:nvSpPr>
        <p:spPr>
          <a:xfrm>
            <a:off x="3491513" y="3317357"/>
            <a:ext cx="11301259" cy="6003794"/>
          </a:xfrm>
          <a:custGeom>
            <a:avLst/>
            <a:gdLst/>
            <a:ahLst/>
            <a:cxnLst/>
            <a:rect l="l" t="t" r="r" b="b"/>
            <a:pathLst>
              <a:path w="11301259" h="6003794">
                <a:moveTo>
                  <a:pt x="0" y="0"/>
                </a:moveTo>
                <a:lnTo>
                  <a:pt x="11301259" y="0"/>
                </a:lnTo>
                <a:lnTo>
                  <a:pt x="11301259" y="6003794"/>
                </a:lnTo>
                <a:lnTo>
                  <a:pt x="0" y="6003794"/>
                </a:lnTo>
                <a:lnTo>
                  <a:pt x="0" y="0"/>
                </a:lnTo>
                <a:close/>
              </a:path>
            </a:pathLst>
          </a:custGeom>
          <a:blipFill>
            <a:blip r:embed="rId7"/>
            <a:stretch>
              <a:fillRect/>
            </a:stretch>
          </a:blipFill>
        </p:spPr>
        <p:txBody>
          <a:bodyPr/>
          <a:lstStyle/>
          <a:p>
            <a:endParaRPr lang="en-US"/>
          </a:p>
        </p:txBody>
      </p:sp>
      <p:sp>
        <p:nvSpPr>
          <p:cNvPr id="23" name="TextBox 23"/>
          <p:cNvSpPr txBox="1"/>
          <p:nvPr/>
        </p:nvSpPr>
        <p:spPr>
          <a:xfrm>
            <a:off x="68570" y="-2318490"/>
            <a:ext cx="18150850" cy="569719"/>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sp>
        <p:nvSpPr>
          <p:cNvPr id="24" name="TextBox 24"/>
          <p:cNvSpPr txBox="1"/>
          <p:nvPr/>
        </p:nvSpPr>
        <p:spPr>
          <a:xfrm>
            <a:off x="1070182" y="2637272"/>
            <a:ext cx="9313332" cy="584835"/>
          </a:xfrm>
          <a:prstGeom prst="rect">
            <a:avLst/>
          </a:prstGeom>
        </p:spPr>
        <p:txBody>
          <a:bodyPr lIns="0" tIns="0" rIns="0" bIns="0" rtlCol="0" anchor="t">
            <a:spAutoFit/>
          </a:bodyPr>
          <a:lstStyle/>
          <a:p>
            <a:pPr algn="l">
              <a:lnSpc>
                <a:spcPts val="4320"/>
              </a:lnSpc>
            </a:pPr>
            <a:r>
              <a:rPr lang="en-US" sz="4000" b="1">
                <a:solidFill>
                  <a:srgbClr val="017058"/>
                </a:solidFill>
                <a:latin typeface="Times New Roman Bold"/>
                <a:ea typeface="Times New Roman Bold"/>
                <a:cs typeface="Times New Roman Bold"/>
                <a:sym typeface="Times New Roman Bold"/>
              </a:rPr>
              <a:t>6.1 Các thông report thu được </a:t>
            </a:r>
          </a:p>
        </p:txBody>
      </p:sp>
      <p:sp>
        <p:nvSpPr>
          <p:cNvPr id="25" name="TextBox 25"/>
          <p:cNvSpPr txBox="1"/>
          <p:nvPr/>
        </p:nvSpPr>
        <p:spPr>
          <a:xfrm>
            <a:off x="17447714" y="9144000"/>
            <a:ext cx="508635" cy="1114425"/>
          </a:xfrm>
          <a:prstGeom prst="rect">
            <a:avLst/>
          </a:prstGeom>
        </p:spPr>
        <p:txBody>
          <a:bodyPr lIns="0" tIns="0" rIns="0" bIns="0" rtlCol="0" anchor="t">
            <a:spAutoFit/>
          </a:bodyPr>
          <a:lstStyle/>
          <a:p>
            <a:pPr algn="ctr">
              <a:lnSpc>
                <a:spcPts val="4320"/>
              </a:lnSpc>
            </a:pPr>
            <a:r>
              <a:rPr lang="en-US" sz="3600">
                <a:solidFill>
                  <a:srgbClr val="000000"/>
                </a:solidFill>
                <a:latin typeface="Arial"/>
                <a:ea typeface="Arial"/>
                <a:cs typeface="Arial"/>
                <a:sym typeface="Arial"/>
              </a:rPr>
              <a:t>26</a:t>
            </a:r>
          </a:p>
          <a:p>
            <a:pPr algn="ctr">
              <a:lnSpc>
                <a:spcPts val="4320"/>
              </a:lnSpc>
            </a:pPr>
            <a:endParaRPr lang="en-US" sz="3600">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124"/>
            <a:ext cx="18291715" cy="10295477"/>
            <a:chOff x="0" y="0"/>
            <a:chExt cx="24388953" cy="13727303"/>
          </a:xfrm>
        </p:grpSpPr>
        <p:sp>
          <p:nvSpPr>
            <p:cNvPr id="3" name="Freeform 3"/>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4" name="Group 4"/>
          <p:cNvGrpSpPr/>
          <p:nvPr/>
        </p:nvGrpSpPr>
        <p:grpSpPr>
          <a:xfrm rot="5400000">
            <a:off x="8668464" y="-8670055"/>
            <a:ext cx="947356" cy="18291715"/>
            <a:chOff x="0" y="0"/>
            <a:chExt cx="1263142" cy="24388953"/>
          </a:xfrm>
        </p:grpSpPr>
        <p:sp>
          <p:nvSpPr>
            <p:cNvPr id="5" name="Freeform 5"/>
            <p:cNvSpPr/>
            <p:nvPr/>
          </p:nvSpPr>
          <p:spPr>
            <a:xfrm>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gradFill rotWithShape="1">
              <a:gsLst>
                <a:gs pos="0">
                  <a:srgbClr val="10CC57">
                    <a:alpha val="100000"/>
                  </a:srgbClr>
                </a:gs>
                <a:gs pos="100000">
                  <a:srgbClr val="017058">
                    <a:alpha val="100000"/>
                  </a:srgbClr>
                </a:gs>
              </a:gsLst>
              <a:lin ang="0"/>
            </a:gradFill>
          </p:spPr>
          <p:txBody>
            <a:bodyPr/>
            <a:lstStyle/>
            <a:p>
              <a:endParaRPr lang="en-US"/>
            </a:p>
          </p:txBody>
        </p:sp>
      </p:grpSp>
      <p:grpSp>
        <p:nvGrpSpPr>
          <p:cNvPr id="6" name="Group 6"/>
          <p:cNvGrpSpPr/>
          <p:nvPr/>
        </p:nvGrpSpPr>
        <p:grpSpPr>
          <a:xfrm rot="-5400000">
            <a:off x="8670312" y="-8672208"/>
            <a:ext cx="947356" cy="18291715"/>
            <a:chOff x="0" y="0"/>
            <a:chExt cx="1263142" cy="24388953"/>
          </a:xfrm>
        </p:grpSpPr>
        <p:sp>
          <p:nvSpPr>
            <p:cNvPr id="7" name="Freeform 7"/>
            <p:cNvSpPr/>
            <p:nvPr/>
          </p:nvSpPr>
          <p:spPr>
            <a:xfrm flipH="1">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blipFill>
              <a:blip r:embed="rId2"/>
              <a:stretch>
                <a:fillRect l="-35092" r="-35091"/>
              </a:stretch>
            </a:blipFill>
          </p:spPr>
          <p:txBody>
            <a:bodyPr/>
            <a:lstStyle/>
            <a:p>
              <a:endParaRPr lang="en-US"/>
            </a:p>
          </p:txBody>
        </p:sp>
      </p:grpSp>
      <p:sp>
        <p:nvSpPr>
          <p:cNvPr id="8" name="TextBox 8"/>
          <p:cNvSpPr txBox="1"/>
          <p:nvPr/>
        </p:nvSpPr>
        <p:spPr>
          <a:xfrm>
            <a:off x="428996" y="227362"/>
            <a:ext cx="10993288" cy="456571"/>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9" name="Group 9"/>
          <p:cNvGrpSpPr/>
          <p:nvPr/>
        </p:nvGrpSpPr>
        <p:grpSpPr>
          <a:xfrm>
            <a:off x="6719983" y="457933"/>
            <a:ext cx="4848130" cy="958024"/>
            <a:chOff x="0" y="0"/>
            <a:chExt cx="6464173" cy="1277366"/>
          </a:xfrm>
        </p:grpSpPr>
        <p:sp>
          <p:nvSpPr>
            <p:cNvPr id="10" name="Freeform 10"/>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2700000"/>
            </a:gradFill>
          </p:spPr>
          <p:txBody>
            <a:bodyPr/>
            <a:lstStyle/>
            <a:p>
              <a:endParaRPr lang="en-US"/>
            </a:p>
          </p:txBody>
        </p:sp>
      </p:grpSp>
      <p:grpSp>
        <p:nvGrpSpPr>
          <p:cNvPr id="11" name="Group 11"/>
          <p:cNvGrpSpPr/>
          <p:nvPr/>
        </p:nvGrpSpPr>
        <p:grpSpPr>
          <a:xfrm>
            <a:off x="6807460" y="535972"/>
            <a:ext cx="4673060" cy="801815"/>
            <a:chOff x="0" y="0"/>
            <a:chExt cx="6230747" cy="1069086"/>
          </a:xfrm>
        </p:grpSpPr>
        <p:sp>
          <p:nvSpPr>
            <p:cNvPr id="12" name="Freeform 12"/>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en-US"/>
            </a:p>
          </p:txBody>
        </p:sp>
      </p:grpSp>
      <p:grpSp>
        <p:nvGrpSpPr>
          <p:cNvPr id="13" name="Group 13"/>
          <p:cNvGrpSpPr/>
          <p:nvPr/>
        </p:nvGrpSpPr>
        <p:grpSpPr>
          <a:xfrm>
            <a:off x="9436446" y="362541"/>
            <a:ext cx="1163288" cy="1152620"/>
            <a:chOff x="0" y="0"/>
            <a:chExt cx="1551051" cy="1536827"/>
          </a:xfrm>
        </p:grpSpPr>
        <p:sp>
          <p:nvSpPr>
            <p:cNvPr id="14" name="Freeform 14"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211" r="-210"/>
              </a:stretch>
            </a:blipFill>
          </p:spPr>
          <p:txBody>
            <a:bodyPr/>
            <a:lstStyle/>
            <a:p>
              <a:endParaRPr lang="en-US"/>
            </a:p>
          </p:txBody>
        </p:sp>
      </p:grpSp>
      <p:grpSp>
        <p:nvGrpSpPr>
          <p:cNvPr id="15" name="Group 15"/>
          <p:cNvGrpSpPr/>
          <p:nvPr/>
        </p:nvGrpSpPr>
        <p:grpSpPr>
          <a:xfrm>
            <a:off x="7688247" y="398078"/>
            <a:ext cx="1307497" cy="1081564"/>
            <a:chOff x="0" y="0"/>
            <a:chExt cx="1743329" cy="1442085"/>
          </a:xfrm>
        </p:grpSpPr>
        <p:sp>
          <p:nvSpPr>
            <p:cNvPr id="16" name="Freeform 16"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l="-38" r="-37"/>
              </a:stretch>
            </a:blipFill>
          </p:spPr>
          <p:txBody>
            <a:bodyPr/>
            <a:lstStyle/>
            <a:p>
              <a:endParaRPr lang="en-US"/>
            </a:p>
          </p:txBody>
        </p:sp>
      </p:grpSp>
      <p:grpSp>
        <p:nvGrpSpPr>
          <p:cNvPr id="17" name="Group 17"/>
          <p:cNvGrpSpPr/>
          <p:nvPr/>
        </p:nvGrpSpPr>
        <p:grpSpPr>
          <a:xfrm>
            <a:off x="908999" y="1555147"/>
            <a:ext cx="16470001" cy="1335996"/>
            <a:chOff x="0" y="0"/>
            <a:chExt cx="21960002" cy="1781327"/>
          </a:xfrm>
        </p:grpSpPr>
        <p:sp>
          <p:nvSpPr>
            <p:cNvPr id="18" name="Freeform 18"/>
            <p:cNvSpPr/>
            <p:nvPr/>
          </p:nvSpPr>
          <p:spPr>
            <a:xfrm>
              <a:off x="0" y="0"/>
              <a:ext cx="21959951" cy="1781302"/>
            </a:xfrm>
            <a:custGeom>
              <a:avLst/>
              <a:gdLst/>
              <a:ahLst/>
              <a:cxnLst/>
              <a:rect l="l" t="t" r="r" b="b"/>
              <a:pathLst>
                <a:path w="21959951" h="1781302">
                  <a:moveTo>
                    <a:pt x="0" y="0"/>
                  </a:moveTo>
                  <a:lnTo>
                    <a:pt x="21959951" y="0"/>
                  </a:lnTo>
                  <a:lnTo>
                    <a:pt x="21959951" y="1781302"/>
                  </a:lnTo>
                  <a:lnTo>
                    <a:pt x="0" y="1781302"/>
                  </a:lnTo>
                  <a:close/>
                </a:path>
              </a:pathLst>
            </a:custGeom>
            <a:blipFill>
              <a:blip r:embed="rId5">
                <a:alphaModFix amt="0"/>
              </a:blip>
              <a:stretch>
                <a:fillRect t="-190044" b="-190046"/>
              </a:stretch>
            </a:blipFill>
          </p:spPr>
          <p:txBody>
            <a:bodyPr/>
            <a:lstStyle/>
            <a:p>
              <a:endParaRPr lang="en-US"/>
            </a:p>
          </p:txBody>
        </p:sp>
      </p:grpSp>
      <p:grpSp>
        <p:nvGrpSpPr>
          <p:cNvPr id="19" name="Group 19"/>
          <p:cNvGrpSpPr/>
          <p:nvPr/>
        </p:nvGrpSpPr>
        <p:grpSpPr>
          <a:xfrm>
            <a:off x="908999" y="1576578"/>
            <a:ext cx="16470001" cy="1314563"/>
            <a:chOff x="0" y="0"/>
            <a:chExt cx="21960002" cy="1752750"/>
          </a:xfrm>
        </p:grpSpPr>
        <p:sp>
          <p:nvSpPr>
            <p:cNvPr id="20" name="Freeform 20"/>
            <p:cNvSpPr/>
            <p:nvPr/>
          </p:nvSpPr>
          <p:spPr>
            <a:xfrm>
              <a:off x="0" y="0"/>
              <a:ext cx="21960001" cy="1752748"/>
            </a:xfrm>
            <a:custGeom>
              <a:avLst/>
              <a:gdLst/>
              <a:ahLst/>
              <a:cxnLst/>
              <a:rect l="l" t="t" r="r" b="b"/>
              <a:pathLst>
                <a:path w="21960001" h="1752748">
                  <a:moveTo>
                    <a:pt x="0" y="0"/>
                  </a:moveTo>
                  <a:lnTo>
                    <a:pt x="21960001" y="0"/>
                  </a:lnTo>
                  <a:lnTo>
                    <a:pt x="21960001" y="1752748"/>
                  </a:lnTo>
                  <a:lnTo>
                    <a:pt x="0" y="1752748"/>
                  </a:lnTo>
                  <a:close/>
                </a:path>
              </a:pathLst>
            </a:custGeom>
            <a:blipFill>
              <a:blip r:embed="rId6">
                <a:alphaModFix amt="0"/>
              </a:blip>
              <a:stretch>
                <a:fillRect t="-194125" b="-194126"/>
              </a:stretch>
            </a:blipFill>
          </p:spPr>
          <p:txBody>
            <a:bodyPr/>
            <a:lstStyle/>
            <a:p>
              <a:endParaRPr lang="en-US"/>
            </a:p>
          </p:txBody>
        </p:sp>
        <p:sp>
          <p:nvSpPr>
            <p:cNvPr id="21" name="TextBox 21"/>
            <p:cNvSpPr txBox="1"/>
            <p:nvPr/>
          </p:nvSpPr>
          <p:spPr>
            <a:xfrm>
              <a:off x="0" y="28575"/>
              <a:ext cx="21960002" cy="1724175"/>
            </a:xfrm>
            <a:prstGeom prst="rect">
              <a:avLst/>
            </a:prstGeom>
          </p:spPr>
          <p:txBody>
            <a:bodyPr lIns="0" tIns="0" rIns="0" bIns="0" rtlCol="0" anchor="ctr"/>
            <a:lstStyle/>
            <a:p>
              <a:pPr algn="l">
                <a:lnSpc>
                  <a:spcPts val="6048"/>
                </a:lnSpc>
              </a:pPr>
              <a:r>
                <a:rPr lang="en-US" sz="5599" b="1">
                  <a:solidFill>
                    <a:srgbClr val="017058"/>
                  </a:solidFill>
                  <a:latin typeface="Times New Roman Bold"/>
                  <a:ea typeface="Times New Roman Bold"/>
                  <a:cs typeface="Times New Roman Bold"/>
                  <a:sym typeface="Times New Roman Bold"/>
                </a:rPr>
                <a:t>6. Kết quả, đánh giá  </a:t>
              </a:r>
            </a:p>
          </p:txBody>
        </p:sp>
      </p:grpSp>
      <p:sp>
        <p:nvSpPr>
          <p:cNvPr id="22" name="Freeform 22"/>
          <p:cNvSpPr/>
          <p:nvPr/>
        </p:nvSpPr>
        <p:spPr>
          <a:xfrm>
            <a:off x="1362536" y="3718485"/>
            <a:ext cx="6524720" cy="2204558"/>
          </a:xfrm>
          <a:custGeom>
            <a:avLst/>
            <a:gdLst/>
            <a:ahLst/>
            <a:cxnLst/>
            <a:rect l="l" t="t" r="r" b="b"/>
            <a:pathLst>
              <a:path w="6524720" h="2204558">
                <a:moveTo>
                  <a:pt x="0" y="0"/>
                </a:moveTo>
                <a:lnTo>
                  <a:pt x="6524719" y="0"/>
                </a:lnTo>
                <a:lnTo>
                  <a:pt x="6524719" y="2204558"/>
                </a:lnTo>
                <a:lnTo>
                  <a:pt x="0" y="2204558"/>
                </a:lnTo>
                <a:lnTo>
                  <a:pt x="0" y="0"/>
                </a:lnTo>
                <a:close/>
              </a:path>
            </a:pathLst>
          </a:custGeom>
          <a:blipFill>
            <a:blip r:embed="rId7"/>
            <a:stretch>
              <a:fillRect r="-73206" b="-172335"/>
            </a:stretch>
          </a:blipFill>
        </p:spPr>
        <p:txBody>
          <a:bodyPr/>
          <a:lstStyle/>
          <a:p>
            <a:endParaRPr lang="en-US"/>
          </a:p>
        </p:txBody>
      </p:sp>
      <p:sp>
        <p:nvSpPr>
          <p:cNvPr id="23" name="Freeform 23"/>
          <p:cNvSpPr/>
          <p:nvPr/>
        </p:nvSpPr>
        <p:spPr>
          <a:xfrm>
            <a:off x="1344674" y="6426213"/>
            <a:ext cx="6560444" cy="2259974"/>
          </a:xfrm>
          <a:custGeom>
            <a:avLst/>
            <a:gdLst/>
            <a:ahLst/>
            <a:cxnLst/>
            <a:rect l="l" t="t" r="r" b="b"/>
            <a:pathLst>
              <a:path w="6560444" h="2259974">
                <a:moveTo>
                  <a:pt x="0" y="0"/>
                </a:moveTo>
                <a:lnTo>
                  <a:pt x="6560443" y="0"/>
                </a:lnTo>
                <a:lnTo>
                  <a:pt x="6560443" y="2259974"/>
                </a:lnTo>
                <a:lnTo>
                  <a:pt x="0" y="2259974"/>
                </a:lnTo>
                <a:lnTo>
                  <a:pt x="0" y="0"/>
                </a:lnTo>
                <a:close/>
              </a:path>
            </a:pathLst>
          </a:custGeom>
          <a:blipFill>
            <a:blip r:embed="rId8"/>
            <a:stretch>
              <a:fillRect r="-72263" b="-165657"/>
            </a:stretch>
          </a:blipFill>
        </p:spPr>
        <p:txBody>
          <a:bodyPr/>
          <a:lstStyle/>
          <a:p>
            <a:endParaRPr lang="en-US"/>
          </a:p>
        </p:txBody>
      </p:sp>
      <p:sp>
        <p:nvSpPr>
          <p:cNvPr id="24" name="TextBox 24"/>
          <p:cNvSpPr txBox="1"/>
          <p:nvPr/>
        </p:nvSpPr>
        <p:spPr>
          <a:xfrm>
            <a:off x="68570" y="-2318490"/>
            <a:ext cx="18150850" cy="569719"/>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sp>
        <p:nvSpPr>
          <p:cNvPr id="25" name="TextBox 25"/>
          <p:cNvSpPr txBox="1"/>
          <p:nvPr/>
        </p:nvSpPr>
        <p:spPr>
          <a:xfrm>
            <a:off x="1070182" y="2637272"/>
            <a:ext cx="9313332" cy="584835"/>
          </a:xfrm>
          <a:prstGeom prst="rect">
            <a:avLst/>
          </a:prstGeom>
        </p:spPr>
        <p:txBody>
          <a:bodyPr lIns="0" tIns="0" rIns="0" bIns="0" rtlCol="0" anchor="t">
            <a:spAutoFit/>
          </a:bodyPr>
          <a:lstStyle/>
          <a:p>
            <a:pPr algn="l">
              <a:lnSpc>
                <a:spcPts val="4320"/>
              </a:lnSpc>
            </a:pPr>
            <a:r>
              <a:rPr lang="en-US" sz="4000" b="1">
                <a:solidFill>
                  <a:srgbClr val="017058"/>
                </a:solidFill>
                <a:latin typeface="Times New Roman Bold"/>
                <a:ea typeface="Times New Roman Bold"/>
                <a:cs typeface="Times New Roman Bold"/>
                <a:sym typeface="Times New Roman Bold"/>
              </a:rPr>
              <a:t>6.1 Các thông report thu được </a:t>
            </a:r>
          </a:p>
        </p:txBody>
      </p:sp>
      <p:sp>
        <p:nvSpPr>
          <p:cNvPr id="26" name="TextBox 26"/>
          <p:cNvSpPr txBox="1"/>
          <p:nvPr/>
        </p:nvSpPr>
        <p:spPr>
          <a:xfrm>
            <a:off x="17447714" y="9144000"/>
            <a:ext cx="508635" cy="1114425"/>
          </a:xfrm>
          <a:prstGeom prst="rect">
            <a:avLst/>
          </a:prstGeom>
        </p:spPr>
        <p:txBody>
          <a:bodyPr lIns="0" tIns="0" rIns="0" bIns="0" rtlCol="0" anchor="t">
            <a:spAutoFit/>
          </a:bodyPr>
          <a:lstStyle/>
          <a:p>
            <a:pPr algn="ctr">
              <a:lnSpc>
                <a:spcPts val="4320"/>
              </a:lnSpc>
            </a:pPr>
            <a:r>
              <a:rPr lang="en-US" sz="3600">
                <a:solidFill>
                  <a:srgbClr val="000000"/>
                </a:solidFill>
                <a:latin typeface="Arial"/>
                <a:ea typeface="Arial"/>
                <a:cs typeface="Arial"/>
                <a:sym typeface="Arial"/>
              </a:rPr>
              <a:t>27</a:t>
            </a:r>
          </a:p>
          <a:p>
            <a:pPr algn="ctr">
              <a:lnSpc>
                <a:spcPts val="4320"/>
              </a:lnSpc>
            </a:pPr>
            <a:endParaRPr lang="en-US" sz="3600">
              <a:solidFill>
                <a:srgbClr val="000000"/>
              </a:solidFill>
              <a:latin typeface="Arial"/>
              <a:ea typeface="Arial"/>
              <a:cs typeface="Arial"/>
              <a:sym typeface="Arial"/>
            </a:endParaRPr>
          </a:p>
        </p:txBody>
      </p:sp>
      <p:sp>
        <p:nvSpPr>
          <p:cNvPr id="27" name="TextBox 27"/>
          <p:cNvSpPr txBox="1"/>
          <p:nvPr/>
        </p:nvSpPr>
        <p:spPr>
          <a:xfrm>
            <a:off x="9436446" y="3708960"/>
            <a:ext cx="6792032" cy="5210175"/>
          </a:xfrm>
          <a:prstGeom prst="rect">
            <a:avLst/>
          </a:prstGeom>
        </p:spPr>
        <p:txBody>
          <a:bodyPr lIns="0" tIns="0" rIns="0" bIns="0" rtlCol="0" anchor="t">
            <a:spAutoFit/>
          </a:bodyPr>
          <a:lstStyle/>
          <a:p>
            <a:pPr marL="539749" lvl="1" indent="-269875" algn="l">
              <a:lnSpc>
                <a:spcPts val="2999"/>
              </a:lnSpc>
              <a:spcBef>
                <a:spcPct val="0"/>
              </a:spcBef>
              <a:buFont typeface="Arial"/>
              <a:buChar char="•"/>
            </a:pPr>
            <a:r>
              <a:rPr lang="en-US" sz="2499">
                <a:solidFill>
                  <a:srgbClr val="000000"/>
                </a:solidFill>
                <a:latin typeface="Arial"/>
                <a:ea typeface="Arial"/>
                <a:cs typeface="Arial"/>
                <a:sym typeface="Arial"/>
              </a:rPr>
              <a:t>Fmax = 76.37 MHz: Vượt mức xung nhịp tiêu chuẩn của board mạch (50MHz), đảm bảo hệ thống hoạt động an toàn và dư dả tốc độ.</a:t>
            </a:r>
          </a:p>
          <a:p>
            <a:pPr algn="l">
              <a:lnSpc>
                <a:spcPts val="2999"/>
              </a:lnSpc>
              <a:spcBef>
                <a:spcPct val="0"/>
              </a:spcBef>
            </a:pPr>
            <a:endParaRPr lang="en-US" sz="2499">
              <a:solidFill>
                <a:srgbClr val="000000"/>
              </a:solidFill>
              <a:latin typeface="Arial"/>
              <a:ea typeface="Arial"/>
              <a:cs typeface="Arial"/>
              <a:sym typeface="Arial"/>
            </a:endParaRPr>
          </a:p>
          <a:p>
            <a:pPr marL="539749" lvl="1" indent="-269875" algn="l">
              <a:lnSpc>
                <a:spcPts val="2999"/>
              </a:lnSpc>
              <a:spcBef>
                <a:spcPct val="0"/>
              </a:spcBef>
              <a:buFont typeface="Arial"/>
              <a:buChar char="•"/>
            </a:pPr>
            <a:r>
              <a:rPr lang="en-US" sz="2499">
                <a:solidFill>
                  <a:srgbClr val="000000"/>
                </a:solidFill>
                <a:latin typeface="Arial"/>
                <a:ea typeface="Arial"/>
                <a:cs typeface="Arial"/>
                <a:sym typeface="Arial"/>
              </a:rPr>
              <a:t>Setup Slack = +6.905 ns: Đạt giá trị dương, chứng tỏ dữ liệu truyền tải kịp thời trên đường găng (critical path), không xảy ra vi phạm thời gian thiết lập (Setup Violation).</a:t>
            </a:r>
          </a:p>
          <a:p>
            <a:pPr algn="l">
              <a:lnSpc>
                <a:spcPts val="2999"/>
              </a:lnSpc>
              <a:spcBef>
                <a:spcPct val="0"/>
              </a:spcBef>
            </a:pPr>
            <a:endParaRPr lang="en-US" sz="2499">
              <a:solidFill>
                <a:srgbClr val="000000"/>
              </a:solidFill>
              <a:latin typeface="Arial"/>
              <a:ea typeface="Arial"/>
              <a:cs typeface="Arial"/>
              <a:sym typeface="Arial"/>
            </a:endParaRPr>
          </a:p>
          <a:p>
            <a:pPr marL="539749" lvl="1" indent="-269875" algn="l">
              <a:lnSpc>
                <a:spcPts val="2999"/>
              </a:lnSpc>
              <a:spcBef>
                <a:spcPct val="0"/>
              </a:spcBef>
              <a:buFont typeface="Arial"/>
              <a:buChar char="•"/>
            </a:pPr>
            <a:r>
              <a:rPr lang="en-US" sz="2499">
                <a:solidFill>
                  <a:srgbClr val="000000"/>
                </a:solidFill>
                <a:latin typeface="Arial"/>
                <a:ea typeface="Arial"/>
                <a:cs typeface="Arial"/>
                <a:sym typeface="Arial"/>
              </a:rPr>
              <a:t>TNS = 0.000: Tổng Slack âm bằng 0, khẳng định các đường truyền tín hiệu trong hệ thống đều đạt chuẩn an toàn.</a:t>
            </a:r>
          </a:p>
          <a:p>
            <a:pPr algn="ctr">
              <a:lnSpc>
                <a:spcPts val="2999"/>
              </a:lnSpc>
              <a:spcBef>
                <a:spcPct val="0"/>
              </a:spcBef>
            </a:pPr>
            <a:endParaRPr lang="en-US" sz="2499">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124"/>
            <a:ext cx="18291715" cy="10295477"/>
            <a:chOff x="0" y="0"/>
            <a:chExt cx="24388953" cy="13727303"/>
          </a:xfrm>
        </p:grpSpPr>
        <p:sp>
          <p:nvSpPr>
            <p:cNvPr id="3" name="Freeform 3"/>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4" name="Group 4"/>
          <p:cNvGrpSpPr/>
          <p:nvPr/>
        </p:nvGrpSpPr>
        <p:grpSpPr>
          <a:xfrm rot="5400000">
            <a:off x="8668464" y="-8670055"/>
            <a:ext cx="947356" cy="18291715"/>
            <a:chOff x="0" y="0"/>
            <a:chExt cx="1263142" cy="24388953"/>
          </a:xfrm>
        </p:grpSpPr>
        <p:sp>
          <p:nvSpPr>
            <p:cNvPr id="5" name="Freeform 5"/>
            <p:cNvSpPr/>
            <p:nvPr/>
          </p:nvSpPr>
          <p:spPr>
            <a:xfrm>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gradFill rotWithShape="1">
              <a:gsLst>
                <a:gs pos="0">
                  <a:srgbClr val="10CC57">
                    <a:alpha val="100000"/>
                  </a:srgbClr>
                </a:gs>
                <a:gs pos="100000">
                  <a:srgbClr val="017058">
                    <a:alpha val="100000"/>
                  </a:srgbClr>
                </a:gs>
              </a:gsLst>
              <a:lin ang="0"/>
            </a:gradFill>
          </p:spPr>
          <p:txBody>
            <a:bodyPr/>
            <a:lstStyle/>
            <a:p>
              <a:endParaRPr lang="en-US"/>
            </a:p>
          </p:txBody>
        </p:sp>
      </p:grpSp>
      <p:grpSp>
        <p:nvGrpSpPr>
          <p:cNvPr id="6" name="Group 6"/>
          <p:cNvGrpSpPr/>
          <p:nvPr/>
        </p:nvGrpSpPr>
        <p:grpSpPr>
          <a:xfrm rot="-5400000">
            <a:off x="8670312" y="-8672208"/>
            <a:ext cx="947356" cy="18291715"/>
            <a:chOff x="0" y="0"/>
            <a:chExt cx="1263142" cy="24388953"/>
          </a:xfrm>
        </p:grpSpPr>
        <p:sp>
          <p:nvSpPr>
            <p:cNvPr id="7" name="Freeform 7"/>
            <p:cNvSpPr/>
            <p:nvPr/>
          </p:nvSpPr>
          <p:spPr>
            <a:xfrm flipH="1">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blipFill>
              <a:blip r:embed="rId2"/>
              <a:stretch>
                <a:fillRect l="-35092" r="-35091"/>
              </a:stretch>
            </a:blipFill>
          </p:spPr>
          <p:txBody>
            <a:bodyPr/>
            <a:lstStyle/>
            <a:p>
              <a:endParaRPr lang="en-US"/>
            </a:p>
          </p:txBody>
        </p:sp>
      </p:grpSp>
      <p:sp>
        <p:nvSpPr>
          <p:cNvPr id="8" name="TextBox 8"/>
          <p:cNvSpPr txBox="1"/>
          <p:nvPr/>
        </p:nvSpPr>
        <p:spPr>
          <a:xfrm>
            <a:off x="428996" y="227362"/>
            <a:ext cx="10993288" cy="456571"/>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9" name="Group 9"/>
          <p:cNvGrpSpPr/>
          <p:nvPr/>
        </p:nvGrpSpPr>
        <p:grpSpPr>
          <a:xfrm>
            <a:off x="6719983" y="457933"/>
            <a:ext cx="4848130" cy="958024"/>
            <a:chOff x="0" y="0"/>
            <a:chExt cx="6464173" cy="1277366"/>
          </a:xfrm>
        </p:grpSpPr>
        <p:sp>
          <p:nvSpPr>
            <p:cNvPr id="10" name="Freeform 10"/>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2700000"/>
            </a:gradFill>
          </p:spPr>
          <p:txBody>
            <a:bodyPr/>
            <a:lstStyle/>
            <a:p>
              <a:endParaRPr lang="en-US"/>
            </a:p>
          </p:txBody>
        </p:sp>
      </p:grpSp>
      <p:grpSp>
        <p:nvGrpSpPr>
          <p:cNvPr id="11" name="Group 11"/>
          <p:cNvGrpSpPr/>
          <p:nvPr/>
        </p:nvGrpSpPr>
        <p:grpSpPr>
          <a:xfrm>
            <a:off x="6807460" y="535972"/>
            <a:ext cx="4673060" cy="801815"/>
            <a:chOff x="0" y="0"/>
            <a:chExt cx="6230747" cy="1069086"/>
          </a:xfrm>
        </p:grpSpPr>
        <p:sp>
          <p:nvSpPr>
            <p:cNvPr id="12" name="Freeform 12"/>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en-US"/>
            </a:p>
          </p:txBody>
        </p:sp>
      </p:grpSp>
      <p:grpSp>
        <p:nvGrpSpPr>
          <p:cNvPr id="13" name="Group 13"/>
          <p:cNvGrpSpPr/>
          <p:nvPr/>
        </p:nvGrpSpPr>
        <p:grpSpPr>
          <a:xfrm>
            <a:off x="9436446" y="362541"/>
            <a:ext cx="1163288" cy="1152620"/>
            <a:chOff x="0" y="0"/>
            <a:chExt cx="1551051" cy="1536827"/>
          </a:xfrm>
        </p:grpSpPr>
        <p:sp>
          <p:nvSpPr>
            <p:cNvPr id="14" name="Freeform 14"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211" r="-210"/>
              </a:stretch>
            </a:blipFill>
          </p:spPr>
          <p:txBody>
            <a:bodyPr/>
            <a:lstStyle/>
            <a:p>
              <a:endParaRPr lang="en-US"/>
            </a:p>
          </p:txBody>
        </p:sp>
      </p:grpSp>
      <p:grpSp>
        <p:nvGrpSpPr>
          <p:cNvPr id="15" name="Group 15"/>
          <p:cNvGrpSpPr/>
          <p:nvPr/>
        </p:nvGrpSpPr>
        <p:grpSpPr>
          <a:xfrm>
            <a:off x="7688247" y="398078"/>
            <a:ext cx="1307497" cy="1081564"/>
            <a:chOff x="0" y="0"/>
            <a:chExt cx="1743329" cy="1442085"/>
          </a:xfrm>
        </p:grpSpPr>
        <p:sp>
          <p:nvSpPr>
            <p:cNvPr id="16" name="Freeform 16"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l="-38" r="-37"/>
              </a:stretch>
            </a:blipFill>
          </p:spPr>
          <p:txBody>
            <a:bodyPr/>
            <a:lstStyle/>
            <a:p>
              <a:endParaRPr lang="en-US"/>
            </a:p>
          </p:txBody>
        </p:sp>
      </p:grpSp>
      <p:grpSp>
        <p:nvGrpSpPr>
          <p:cNvPr id="17" name="Group 17"/>
          <p:cNvGrpSpPr/>
          <p:nvPr/>
        </p:nvGrpSpPr>
        <p:grpSpPr>
          <a:xfrm>
            <a:off x="908999" y="1555147"/>
            <a:ext cx="16470001" cy="1335996"/>
            <a:chOff x="0" y="0"/>
            <a:chExt cx="21960002" cy="1781327"/>
          </a:xfrm>
        </p:grpSpPr>
        <p:sp>
          <p:nvSpPr>
            <p:cNvPr id="18" name="Freeform 18"/>
            <p:cNvSpPr/>
            <p:nvPr/>
          </p:nvSpPr>
          <p:spPr>
            <a:xfrm>
              <a:off x="0" y="0"/>
              <a:ext cx="21959951" cy="1781302"/>
            </a:xfrm>
            <a:custGeom>
              <a:avLst/>
              <a:gdLst/>
              <a:ahLst/>
              <a:cxnLst/>
              <a:rect l="l" t="t" r="r" b="b"/>
              <a:pathLst>
                <a:path w="21959951" h="1781302">
                  <a:moveTo>
                    <a:pt x="0" y="0"/>
                  </a:moveTo>
                  <a:lnTo>
                    <a:pt x="21959951" y="0"/>
                  </a:lnTo>
                  <a:lnTo>
                    <a:pt x="21959951" y="1781302"/>
                  </a:lnTo>
                  <a:lnTo>
                    <a:pt x="0" y="1781302"/>
                  </a:lnTo>
                  <a:close/>
                </a:path>
              </a:pathLst>
            </a:custGeom>
            <a:blipFill>
              <a:blip r:embed="rId5">
                <a:alphaModFix amt="0"/>
              </a:blip>
              <a:stretch>
                <a:fillRect t="-190044" b="-190046"/>
              </a:stretch>
            </a:blipFill>
          </p:spPr>
          <p:txBody>
            <a:bodyPr/>
            <a:lstStyle/>
            <a:p>
              <a:endParaRPr lang="en-US"/>
            </a:p>
          </p:txBody>
        </p:sp>
      </p:grpSp>
      <p:grpSp>
        <p:nvGrpSpPr>
          <p:cNvPr id="19" name="Group 19"/>
          <p:cNvGrpSpPr/>
          <p:nvPr/>
        </p:nvGrpSpPr>
        <p:grpSpPr>
          <a:xfrm>
            <a:off x="908999" y="1576578"/>
            <a:ext cx="16470001" cy="1314563"/>
            <a:chOff x="0" y="0"/>
            <a:chExt cx="21960002" cy="1752750"/>
          </a:xfrm>
        </p:grpSpPr>
        <p:sp>
          <p:nvSpPr>
            <p:cNvPr id="20" name="Freeform 20"/>
            <p:cNvSpPr/>
            <p:nvPr/>
          </p:nvSpPr>
          <p:spPr>
            <a:xfrm>
              <a:off x="0" y="0"/>
              <a:ext cx="21960001" cy="1752748"/>
            </a:xfrm>
            <a:custGeom>
              <a:avLst/>
              <a:gdLst/>
              <a:ahLst/>
              <a:cxnLst/>
              <a:rect l="l" t="t" r="r" b="b"/>
              <a:pathLst>
                <a:path w="21960001" h="1752748">
                  <a:moveTo>
                    <a:pt x="0" y="0"/>
                  </a:moveTo>
                  <a:lnTo>
                    <a:pt x="21960001" y="0"/>
                  </a:lnTo>
                  <a:lnTo>
                    <a:pt x="21960001" y="1752748"/>
                  </a:lnTo>
                  <a:lnTo>
                    <a:pt x="0" y="1752748"/>
                  </a:lnTo>
                  <a:close/>
                </a:path>
              </a:pathLst>
            </a:custGeom>
            <a:blipFill>
              <a:blip r:embed="rId6">
                <a:alphaModFix amt="0"/>
              </a:blip>
              <a:stretch>
                <a:fillRect t="-194125" b="-194126"/>
              </a:stretch>
            </a:blipFill>
          </p:spPr>
          <p:txBody>
            <a:bodyPr/>
            <a:lstStyle/>
            <a:p>
              <a:endParaRPr lang="en-US"/>
            </a:p>
          </p:txBody>
        </p:sp>
        <p:sp>
          <p:nvSpPr>
            <p:cNvPr id="21" name="TextBox 21"/>
            <p:cNvSpPr txBox="1"/>
            <p:nvPr/>
          </p:nvSpPr>
          <p:spPr>
            <a:xfrm>
              <a:off x="0" y="28575"/>
              <a:ext cx="21960002" cy="1724175"/>
            </a:xfrm>
            <a:prstGeom prst="rect">
              <a:avLst/>
            </a:prstGeom>
          </p:spPr>
          <p:txBody>
            <a:bodyPr lIns="0" tIns="0" rIns="0" bIns="0" rtlCol="0" anchor="ctr"/>
            <a:lstStyle/>
            <a:p>
              <a:pPr algn="l">
                <a:lnSpc>
                  <a:spcPts val="6048"/>
                </a:lnSpc>
              </a:pPr>
              <a:r>
                <a:rPr lang="en-US" sz="5599" b="1">
                  <a:solidFill>
                    <a:srgbClr val="017058"/>
                  </a:solidFill>
                  <a:latin typeface="Times New Roman Bold"/>
                  <a:ea typeface="Times New Roman Bold"/>
                  <a:cs typeface="Times New Roman Bold"/>
                  <a:sym typeface="Times New Roman Bold"/>
                </a:rPr>
                <a:t>6. Kết quả, đánh giá  </a:t>
              </a:r>
            </a:p>
          </p:txBody>
        </p:sp>
      </p:grpSp>
      <p:sp>
        <p:nvSpPr>
          <p:cNvPr id="22" name="Freeform 22"/>
          <p:cNvSpPr/>
          <p:nvPr/>
        </p:nvSpPr>
        <p:spPr>
          <a:xfrm>
            <a:off x="9436446" y="3168781"/>
            <a:ext cx="6885993" cy="6003794"/>
          </a:xfrm>
          <a:custGeom>
            <a:avLst/>
            <a:gdLst/>
            <a:ahLst/>
            <a:cxnLst/>
            <a:rect l="l" t="t" r="r" b="b"/>
            <a:pathLst>
              <a:path w="6885993" h="6003794">
                <a:moveTo>
                  <a:pt x="0" y="0"/>
                </a:moveTo>
                <a:lnTo>
                  <a:pt x="6885993" y="0"/>
                </a:lnTo>
                <a:lnTo>
                  <a:pt x="6885993" y="6003794"/>
                </a:lnTo>
                <a:lnTo>
                  <a:pt x="0" y="6003794"/>
                </a:lnTo>
                <a:lnTo>
                  <a:pt x="0" y="0"/>
                </a:lnTo>
                <a:close/>
              </a:path>
            </a:pathLst>
          </a:custGeom>
          <a:blipFill>
            <a:blip r:embed="rId7"/>
            <a:stretch>
              <a:fillRect l="-29843" r="-34275"/>
            </a:stretch>
          </a:blipFill>
        </p:spPr>
        <p:txBody>
          <a:bodyPr/>
          <a:lstStyle/>
          <a:p>
            <a:endParaRPr lang="en-US"/>
          </a:p>
        </p:txBody>
      </p:sp>
      <p:sp>
        <p:nvSpPr>
          <p:cNvPr id="23" name="TextBox 23"/>
          <p:cNvSpPr txBox="1"/>
          <p:nvPr/>
        </p:nvSpPr>
        <p:spPr>
          <a:xfrm>
            <a:off x="68570" y="-2318490"/>
            <a:ext cx="18150850" cy="569719"/>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sp>
        <p:nvSpPr>
          <p:cNvPr id="24" name="TextBox 24"/>
          <p:cNvSpPr txBox="1"/>
          <p:nvPr/>
        </p:nvSpPr>
        <p:spPr>
          <a:xfrm>
            <a:off x="1070182" y="2637272"/>
            <a:ext cx="9313332" cy="584835"/>
          </a:xfrm>
          <a:prstGeom prst="rect">
            <a:avLst/>
          </a:prstGeom>
        </p:spPr>
        <p:txBody>
          <a:bodyPr lIns="0" tIns="0" rIns="0" bIns="0" rtlCol="0" anchor="t">
            <a:spAutoFit/>
          </a:bodyPr>
          <a:lstStyle/>
          <a:p>
            <a:pPr algn="l">
              <a:lnSpc>
                <a:spcPts val="4320"/>
              </a:lnSpc>
            </a:pPr>
            <a:r>
              <a:rPr lang="en-US" sz="4000" b="1">
                <a:solidFill>
                  <a:srgbClr val="017058"/>
                </a:solidFill>
                <a:latin typeface="Times New Roman Bold"/>
                <a:ea typeface="Times New Roman Bold"/>
                <a:cs typeface="Times New Roman Bold"/>
                <a:sym typeface="Times New Roman Bold"/>
              </a:rPr>
              <a:t>6.1 Các thông report thu được </a:t>
            </a:r>
          </a:p>
        </p:txBody>
      </p:sp>
      <p:sp>
        <p:nvSpPr>
          <p:cNvPr id="25" name="TextBox 25"/>
          <p:cNvSpPr txBox="1"/>
          <p:nvPr/>
        </p:nvSpPr>
        <p:spPr>
          <a:xfrm>
            <a:off x="17447714" y="9144000"/>
            <a:ext cx="508635" cy="1114425"/>
          </a:xfrm>
          <a:prstGeom prst="rect">
            <a:avLst/>
          </a:prstGeom>
        </p:spPr>
        <p:txBody>
          <a:bodyPr lIns="0" tIns="0" rIns="0" bIns="0" rtlCol="0" anchor="t">
            <a:spAutoFit/>
          </a:bodyPr>
          <a:lstStyle/>
          <a:p>
            <a:pPr algn="ctr">
              <a:lnSpc>
                <a:spcPts val="4320"/>
              </a:lnSpc>
            </a:pPr>
            <a:r>
              <a:rPr lang="en-US" sz="3600">
                <a:solidFill>
                  <a:srgbClr val="000000"/>
                </a:solidFill>
                <a:latin typeface="Arial"/>
                <a:ea typeface="Arial"/>
                <a:cs typeface="Arial"/>
                <a:sym typeface="Arial"/>
              </a:rPr>
              <a:t>28</a:t>
            </a:r>
          </a:p>
          <a:p>
            <a:pPr algn="ctr">
              <a:lnSpc>
                <a:spcPts val="4320"/>
              </a:lnSpc>
            </a:pPr>
            <a:endParaRPr lang="en-US" sz="3600">
              <a:solidFill>
                <a:srgbClr val="000000"/>
              </a:solidFill>
              <a:latin typeface="Arial"/>
              <a:ea typeface="Arial"/>
              <a:cs typeface="Arial"/>
              <a:sym typeface="Arial"/>
            </a:endParaRPr>
          </a:p>
        </p:txBody>
      </p:sp>
      <p:sp>
        <p:nvSpPr>
          <p:cNvPr id="26" name="TextBox 26"/>
          <p:cNvSpPr txBox="1"/>
          <p:nvPr/>
        </p:nvSpPr>
        <p:spPr>
          <a:xfrm>
            <a:off x="908999" y="3822182"/>
            <a:ext cx="7115213" cy="5210175"/>
          </a:xfrm>
          <a:prstGeom prst="rect">
            <a:avLst/>
          </a:prstGeom>
        </p:spPr>
        <p:txBody>
          <a:bodyPr lIns="0" tIns="0" rIns="0" bIns="0" rtlCol="0" anchor="t">
            <a:spAutoFit/>
          </a:bodyPr>
          <a:lstStyle/>
          <a:p>
            <a:pPr marL="539749" lvl="1" indent="-269875" algn="l">
              <a:lnSpc>
                <a:spcPts val="2999"/>
              </a:lnSpc>
              <a:spcBef>
                <a:spcPct val="0"/>
              </a:spcBef>
              <a:buFont typeface="Arial"/>
              <a:buChar char="•"/>
            </a:pPr>
            <a:r>
              <a:rPr lang="en-US" sz="2499">
                <a:solidFill>
                  <a:srgbClr val="000000"/>
                </a:solidFill>
                <a:latin typeface="Arial"/>
                <a:ea typeface="Arial"/>
                <a:cs typeface="Arial"/>
                <a:sym typeface="Arial"/>
              </a:rPr>
              <a:t>Tổng công suất tiêu thụ (Total Thermal Power): 350.61 mW</a:t>
            </a:r>
          </a:p>
          <a:p>
            <a:pPr algn="l">
              <a:lnSpc>
                <a:spcPts val="2999"/>
              </a:lnSpc>
              <a:spcBef>
                <a:spcPct val="0"/>
              </a:spcBef>
            </a:pPr>
            <a:endParaRPr lang="en-US" sz="2499">
              <a:solidFill>
                <a:srgbClr val="000000"/>
              </a:solidFill>
              <a:latin typeface="Arial"/>
              <a:ea typeface="Arial"/>
              <a:cs typeface="Arial"/>
              <a:sym typeface="Arial"/>
            </a:endParaRPr>
          </a:p>
          <a:p>
            <a:pPr marL="539749" lvl="1" indent="-269875" algn="l">
              <a:lnSpc>
                <a:spcPts val="2999"/>
              </a:lnSpc>
              <a:spcBef>
                <a:spcPct val="0"/>
              </a:spcBef>
              <a:buFont typeface="Arial"/>
              <a:buChar char="•"/>
            </a:pPr>
            <a:r>
              <a:rPr lang="en-US" sz="2499">
                <a:solidFill>
                  <a:srgbClr val="000000"/>
                </a:solidFill>
                <a:latin typeface="Arial"/>
                <a:ea typeface="Arial"/>
                <a:cs typeface="Arial"/>
                <a:sym typeface="Arial"/>
              </a:rPr>
              <a:t>Công suất động (Core Dynamic Power): 238.02 mW (Phần năng lượng hao tốn khi lõi RSA thực hiện các phép tính toán học).</a:t>
            </a:r>
          </a:p>
          <a:p>
            <a:pPr algn="l">
              <a:lnSpc>
                <a:spcPts val="2999"/>
              </a:lnSpc>
              <a:spcBef>
                <a:spcPct val="0"/>
              </a:spcBef>
            </a:pPr>
            <a:endParaRPr lang="en-US" sz="2499">
              <a:solidFill>
                <a:srgbClr val="000000"/>
              </a:solidFill>
              <a:latin typeface="Arial"/>
              <a:ea typeface="Arial"/>
              <a:cs typeface="Arial"/>
              <a:sym typeface="Arial"/>
            </a:endParaRPr>
          </a:p>
          <a:p>
            <a:pPr marL="539749" lvl="1" indent="-269875" algn="l">
              <a:lnSpc>
                <a:spcPts val="2999"/>
              </a:lnSpc>
              <a:spcBef>
                <a:spcPct val="0"/>
              </a:spcBef>
              <a:buFont typeface="Arial"/>
              <a:buChar char="•"/>
            </a:pPr>
            <a:r>
              <a:rPr lang="en-US" sz="2499">
                <a:solidFill>
                  <a:srgbClr val="000000"/>
                </a:solidFill>
                <a:latin typeface="Arial"/>
                <a:ea typeface="Arial"/>
                <a:cs typeface="Arial"/>
                <a:sym typeface="Arial"/>
              </a:rPr>
              <a:t>Công suất tĩnh (Core Static Power): 80.73 mW (Năng lượng duy trì, rò rỉ nội tại của chip khi được cấp nguồn).</a:t>
            </a:r>
          </a:p>
          <a:p>
            <a:pPr algn="l">
              <a:lnSpc>
                <a:spcPts val="2999"/>
              </a:lnSpc>
              <a:spcBef>
                <a:spcPct val="0"/>
              </a:spcBef>
            </a:pPr>
            <a:endParaRPr lang="en-US" sz="2499">
              <a:solidFill>
                <a:srgbClr val="000000"/>
              </a:solidFill>
              <a:latin typeface="Arial"/>
              <a:ea typeface="Arial"/>
              <a:cs typeface="Arial"/>
              <a:sym typeface="Arial"/>
            </a:endParaRPr>
          </a:p>
          <a:p>
            <a:pPr marL="539749" lvl="1" indent="-269875" algn="l">
              <a:lnSpc>
                <a:spcPts val="2999"/>
              </a:lnSpc>
              <a:spcBef>
                <a:spcPct val="0"/>
              </a:spcBef>
              <a:buFont typeface="Arial"/>
              <a:buChar char="•"/>
            </a:pPr>
            <a:r>
              <a:rPr lang="en-US" sz="2499">
                <a:solidFill>
                  <a:srgbClr val="000000"/>
                </a:solidFill>
                <a:latin typeface="Arial"/>
                <a:ea typeface="Arial"/>
                <a:cs typeface="Arial"/>
                <a:sym typeface="Arial"/>
              </a:rPr>
              <a:t>Công suất I/O (I/O Thermal Power): 31.86 mW (Năng lượng tiêu hao tại các chân cắm giao tiếp vào/ra).</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124"/>
            <a:ext cx="18291715" cy="10295477"/>
            <a:chOff x="0" y="0"/>
            <a:chExt cx="24388953" cy="13727303"/>
          </a:xfrm>
        </p:grpSpPr>
        <p:sp>
          <p:nvSpPr>
            <p:cNvPr id="3" name="Freeform 3"/>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4" name="Group 4"/>
          <p:cNvGrpSpPr/>
          <p:nvPr/>
        </p:nvGrpSpPr>
        <p:grpSpPr>
          <a:xfrm rot="5400000">
            <a:off x="8668464" y="-8670055"/>
            <a:ext cx="947356" cy="18291715"/>
            <a:chOff x="0" y="0"/>
            <a:chExt cx="1263142" cy="24388953"/>
          </a:xfrm>
        </p:grpSpPr>
        <p:sp>
          <p:nvSpPr>
            <p:cNvPr id="5" name="Freeform 5"/>
            <p:cNvSpPr/>
            <p:nvPr/>
          </p:nvSpPr>
          <p:spPr>
            <a:xfrm>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gradFill rotWithShape="1">
              <a:gsLst>
                <a:gs pos="0">
                  <a:srgbClr val="10CC57">
                    <a:alpha val="100000"/>
                  </a:srgbClr>
                </a:gs>
                <a:gs pos="100000">
                  <a:srgbClr val="017058">
                    <a:alpha val="100000"/>
                  </a:srgbClr>
                </a:gs>
              </a:gsLst>
              <a:lin ang="0"/>
            </a:gradFill>
          </p:spPr>
          <p:txBody>
            <a:bodyPr/>
            <a:lstStyle/>
            <a:p>
              <a:endParaRPr lang="en-US"/>
            </a:p>
          </p:txBody>
        </p:sp>
      </p:grpSp>
      <p:grpSp>
        <p:nvGrpSpPr>
          <p:cNvPr id="6" name="Group 6"/>
          <p:cNvGrpSpPr/>
          <p:nvPr/>
        </p:nvGrpSpPr>
        <p:grpSpPr>
          <a:xfrm rot="-5400000">
            <a:off x="8670312" y="-8672208"/>
            <a:ext cx="947356" cy="18291715"/>
            <a:chOff x="0" y="0"/>
            <a:chExt cx="1263142" cy="24388953"/>
          </a:xfrm>
        </p:grpSpPr>
        <p:sp>
          <p:nvSpPr>
            <p:cNvPr id="7" name="Freeform 7"/>
            <p:cNvSpPr/>
            <p:nvPr/>
          </p:nvSpPr>
          <p:spPr>
            <a:xfrm flipH="1">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blipFill>
              <a:blip r:embed="rId2"/>
              <a:stretch>
                <a:fillRect l="-35092" r="-35091"/>
              </a:stretch>
            </a:blipFill>
          </p:spPr>
          <p:txBody>
            <a:bodyPr/>
            <a:lstStyle/>
            <a:p>
              <a:endParaRPr lang="en-US"/>
            </a:p>
          </p:txBody>
        </p:sp>
      </p:grpSp>
      <p:sp>
        <p:nvSpPr>
          <p:cNvPr id="8" name="TextBox 8"/>
          <p:cNvSpPr txBox="1"/>
          <p:nvPr/>
        </p:nvSpPr>
        <p:spPr>
          <a:xfrm>
            <a:off x="428996" y="227362"/>
            <a:ext cx="10993288" cy="456571"/>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9" name="Group 9"/>
          <p:cNvGrpSpPr/>
          <p:nvPr/>
        </p:nvGrpSpPr>
        <p:grpSpPr>
          <a:xfrm>
            <a:off x="6719983" y="457933"/>
            <a:ext cx="4848130" cy="958024"/>
            <a:chOff x="0" y="0"/>
            <a:chExt cx="6464173" cy="1277366"/>
          </a:xfrm>
        </p:grpSpPr>
        <p:sp>
          <p:nvSpPr>
            <p:cNvPr id="10" name="Freeform 10"/>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2700000"/>
            </a:gradFill>
          </p:spPr>
          <p:txBody>
            <a:bodyPr/>
            <a:lstStyle/>
            <a:p>
              <a:endParaRPr lang="en-US"/>
            </a:p>
          </p:txBody>
        </p:sp>
      </p:grpSp>
      <p:grpSp>
        <p:nvGrpSpPr>
          <p:cNvPr id="11" name="Group 11"/>
          <p:cNvGrpSpPr/>
          <p:nvPr/>
        </p:nvGrpSpPr>
        <p:grpSpPr>
          <a:xfrm>
            <a:off x="6807460" y="535972"/>
            <a:ext cx="4673060" cy="801815"/>
            <a:chOff x="0" y="0"/>
            <a:chExt cx="6230747" cy="1069086"/>
          </a:xfrm>
        </p:grpSpPr>
        <p:sp>
          <p:nvSpPr>
            <p:cNvPr id="12" name="Freeform 12"/>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en-US"/>
            </a:p>
          </p:txBody>
        </p:sp>
      </p:grpSp>
      <p:grpSp>
        <p:nvGrpSpPr>
          <p:cNvPr id="13" name="Group 13"/>
          <p:cNvGrpSpPr/>
          <p:nvPr/>
        </p:nvGrpSpPr>
        <p:grpSpPr>
          <a:xfrm>
            <a:off x="9436446" y="362541"/>
            <a:ext cx="1163288" cy="1152620"/>
            <a:chOff x="0" y="0"/>
            <a:chExt cx="1551051" cy="1536827"/>
          </a:xfrm>
        </p:grpSpPr>
        <p:sp>
          <p:nvSpPr>
            <p:cNvPr id="14" name="Freeform 14"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211" r="-210"/>
              </a:stretch>
            </a:blipFill>
          </p:spPr>
          <p:txBody>
            <a:bodyPr/>
            <a:lstStyle/>
            <a:p>
              <a:endParaRPr lang="en-US"/>
            </a:p>
          </p:txBody>
        </p:sp>
      </p:grpSp>
      <p:grpSp>
        <p:nvGrpSpPr>
          <p:cNvPr id="15" name="Group 15"/>
          <p:cNvGrpSpPr/>
          <p:nvPr/>
        </p:nvGrpSpPr>
        <p:grpSpPr>
          <a:xfrm>
            <a:off x="7688247" y="398078"/>
            <a:ext cx="1307497" cy="1081564"/>
            <a:chOff x="0" y="0"/>
            <a:chExt cx="1743329" cy="1442085"/>
          </a:xfrm>
        </p:grpSpPr>
        <p:sp>
          <p:nvSpPr>
            <p:cNvPr id="16" name="Freeform 16"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l="-38" r="-37"/>
              </a:stretch>
            </a:blipFill>
          </p:spPr>
          <p:txBody>
            <a:bodyPr/>
            <a:lstStyle/>
            <a:p>
              <a:endParaRPr lang="en-US"/>
            </a:p>
          </p:txBody>
        </p:sp>
      </p:grpSp>
      <p:grpSp>
        <p:nvGrpSpPr>
          <p:cNvPr id="17" name="Group 17"/>
          <p:cNvGrpSpPr/>
          <p:nvPr/>
        </p:nvGrpSpPr>
        <p:grpSpPr>
          <a:xfrm>
            <a:off x="908999" y="1555147"/>
            <a:ext cx="16470001" cy="1335996"/>
            <a:chOff x="0" y="0"/>
            <a:chExt cx="21960002" cy="1781327"/>
          </a:xfrm>
        </p:grpSpPr>
        <p:sp>
          <p:nvSpPr>
            <p:cNvPr id="18" name="Freeform 18"/>
            <p:cNvSpPr/>
            <p:nvPr/>
          </p:nvSpPr>
          <p:spPr>
            <a:xfrm>
              <a:off x="0" y="0"/>
              <a:ext cx="21959951" cy="1781302"/>
            </a:xfrm>
            <a:custGeom>
              <a:avLst/>
              <a:gdLst/>
              <a:ahLst/>
              <a:cxnLst/>
              <a:rect l="l" t="t" r="r" b="b"/>
              <a:pathLst>
                <a:path w="21959951" h="1781302">
                  <a:moveTo>
                    <a:pt x="0" y="0"/>
                  </a:moveTo>
                  <a:lnTo>
                    <a:pt x="21959951" y="0"/>
                  </a:lnTo>
                  <a:lnTo>
                    <a:pt x="21959951" y="1781302"/>
                  </a:lnTo>
                  <a:lnTo>
                    <a:pt x="0" y="1781302"/>
                  </a:lnTo>
                  <a:close/>
                </a:path>
              </a:pathLst>
            </a:custGeom>
            <a:blipFill>
              <a:blip r:embed="rId5">
                <a:alphaModFix amt="0"/>
              </a:blip>
              <a:stretch>
                <a:fillRect t="-190044" b="-190046"/>
              </a:stretch>
            </a:blipFill>
          </p:spPr>
          <p:txBody>
            <a:bodyPr/>
            <a:lstStyle/>
            <a:p>
              <a:endParaRPr lang="en-US"/>
            </a:p>
          </p:txBody>
        </p:sp>
      </p:grpSp>
      <p:grpSp>
        <p:nvGrpSpPr>
          <p:cNvPr id="19" name="Group 19"/>
          <p:cNvGrpSpPr/>
          <p:nvPr/>
        </p:nvGrpSpPr>
        <p:grpSpPr>
          <a:xfrm>
            <a:off x="907142" y="1126570"/>
            <a:ext cx="16470001" cy="1314563"/>
            <a:chOff x="0" y="0"/>
            <a:chExt cx="21960002" cy="1752750"/>
          </a:xfrm>
        </p:grpSpPr>
        <p:sp>
          <p:nvSpPr>
            <p:cNvPr id="20" name="Freeform 20"/>
            <p:cNvSpPr/>
            <p:nvPr/>
          </p:nvSpPr>
          <p:spPr>
            <a:xfrm>
              <a:off x="0" y="0"/>
              <a:ext cx="21960001" cy="1752748"/>
            </a:xfrm>
            <a:custGeom>
              <a:avLst/>
              <a:gdLst/>
              <a:ahLst/>
              <a:cxnLst/>
              <a:rect l="l" t="t" r="r" b="b"/>
              <a:pathLst>
                <a:path w="21960001" h="1752748">
                  <a:moveTo>
                    <a:pt x="0" y="0"/>
                  </a:moveTo>
                  <a:lnTo>
                    <a:pt x="21960001" y="0"/>
                  </a:lnTo>
                  <a:lnTo>
                    <a:pt x="21960001" y="1752748"/>
                  </a:lnTo>
                  <a:lnTo>
                    <a:pt x="0" y="1752748"/>
                  </a:lnTo>
                  <a:close/>
                </a:path>
              </a:pathLst>
            </a:custGeom>
            <a:blipFill>
              <a:blip r:embed="rId6">
                <a:alphaModFix amt="0"/>
              </a:blip>
              <a:stretch>
                <a:fillRect t="-194125" b="-194126"/>
              </a:stretch>
            </a:blipFill>
          </p:spPr>
          <p:txBody>
            <a:bodyPr/>
            <a:lstStyle/>
            <a:p>
              <a:endParaRPr lang="en-US"/>
            </a:p>
          </p:txBody>
        </p:sp>
        <p:sp>
          <p:nvSpPr>
            <p:cNvPr id="21" name="TextBox 21"/>
            <p:cNvSpPr txBox="1"/>
            <p:nvPr/>
          </p:nvSpPr>
          <p:spPr>
            <a:xfrm>
              <a:off x="0" y="28575"/>
              <a:ext cx="21960002" cy="1724175"/>
            </a:xfrm>
            <a:prstGeom prst="rect">
              <a:avLst/>
            </a:prstGeom>
          </p:spPr>
          <p:txBody>
            <a:bodyPr lIns="0" tIns="0" rIns="0" bIns="0" rtlCol="0" anchor="ctr"/>
            <a:lstStyle/>
            <a:p>
              <a:pPr algn="l">
                <a:lnSpc>
                  <a:spcPts val="6048"/>
                </a:lnSpc>
              </a:pPr>
              <a:r>
                <a:rPr lang="en-US" sz="5599" b="1">
                  <a:solidFill>
                    <a:srgbClr val="017058"/>
                  </a:solidFill>
                  <a:latin typeface="Times New Roman Bold"/>
                  <a:ea typeface="Times New Roman Bold"/>
                  <a:cs typeface="Times New Roman Bold"/>
                  <a:sym typeface="Times New Roman Bold"/>
                </a:rPr>
                <a:t>6. Kết quả, đánh giá  </a:t>
              </a:r>
            </a:p>
          </p:txBody>
        </p:sp>
      </p:grpSp>
      <p:sp>
        <p:nvSpPr>
          <p:cNvPr id="23" name="TextBox 23"/>
          <p:cNvSpPr txBox="1"/>
          <p:nvPr/>
        </p:nvSpPr>
        <p:spPr>
          <a:xfrm>
            <a:off x="68570" y="-2318490"/>
            <a:ext cx="18150850" cy="569719"/>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sp>
        <p:nvSpPr>
          <p:cNvPr id="24" name="TextBox 24"/>
          <p:cNvSpPr txBox="1"/>
          <p:nvPr/>
        </p:nvSpPr>
        <p:spPr>
          <a:xfrm>
            <a:off x="1028700" y="2242195"/>
            <a:ext cx="9313332" cy="584835"/>
          </a:xfrm>
          <a:prstGeom prst="rect">
            <a:avLst/>
          </a:prstGeom>
        </p:spPr>
        <p:txBody>
          <a:bodyPr lIns="0" tIns="0" rIns="0" bIns="0" rtlCol="0" anchor="t">
            <a:spAutoFit/>
          </a:bodyPr>
          <a:lstStyle/>
          <a:p>
            <a:pPr algn="l">
              <a:lnSpc>
                <a:spcPts val="4320"/>
              </a:lnSpc>
            </a:pPr>
            <a:r>
              <a:rPr lang="en-US" sz="4000" b="1">
                <a:solidFill>
                  <a:srgbClr val="017058"/>
                </a:solidFill>
                <a:latin typeface="Times New Roman Bold"/>
                <a:ea typeface="Times New Roman Bold"/>
                <a:cs typeface="Times New Roman Bold"/>
                <a:sym typeface="Times New Roman Bold"/>
              </a:rPr>
              <a:t>6.2 So sánh với các nghiên cứu khác </a:t>
            </a:r>
          </a:p>
        </p:txBody>
      </p:sp>
      <p:sp>
        <p:nvSpPr>
          <p:cNvPr id="25" name="TextBox 25"/>
          <p:cNvSpPr txBox="1"/>
          <p:nvPr/>
        </p:nvSpPr>
        <p:spPr>
          <a:xfrm>
            <a:off x="17447714" y="9144000"/>
            <a:ext cx="508635" cy="1114425"/>
          </a:xfrm>
          <a:prstGeom prst="rect">
            <a:avLst/>
          </a:prstGeom>
        </p:spPr>
        <p:txBody>
          <a:bodyPr lIns="0" tIns="0" rIns="0" bIns="0" rtlCol="0" anchor="t">
            <a:spAutoFit/>
          </a:bodyPr>
          <a:lstStyle/>
          <a:p>
            <a:pPr algn="ctr">
              <a:lnSpc>
                <a:spcPts val="4320"/>
              </a:lnSpc>
            </a:pPr>
            <a:r>
              <a:rPr lang="en-US" sz="3600">
                <a:solidFill>
                  <a:srgbClr val="000000"/>
                </a:solidFill>
                <a:latin typeface="Arial"/>
                <a:ea typeface="Arial"/>
                <a:cs typeface="Arial"/>
                <a:sym typeface="Arial"/>
              </a:rPr>
              <a:t>29</a:t>
            </a:r>
          </a:p>
          <a:p>
            <a:pPr algn="ctr">
              <a:lnSpc>
                <a:spcPts val="4320"/>
              </a:lnSpc>
            </a:pPr>
            <a:endParaRPr lang="en-US" sz="3600">
              <a:solidFill>
                <a:srgbClr val="000000"/>
              </a:solidFill>
              <a:latin typeface="Arial"/>
              <a:ea typeface="Arial"/>
              <a:cs typeface="Arial"/>
              <a:sym typeface="Arial"/>
            </a:endParaRPr>
          </a:p>
        </p:txBody>
      </p:sp>
      <p:graphicFrame>
        <p:nvGraphicFramePr>
          <p:cNvPr id="26" name="Table 25">
            <a:extLst>
              <a:ext uri="{FF2B5EF4-FFF2-40B4-BE49-F238E27FC236}">
                <a16:creationId xmlns:a16="http://schemas.microsoft.com/office/drawing/2014/main" id="{48E5464D-A251-FC8E-404F-5CD2C49F9285}"/>
              </a:ext>
            </a:extLst>
          </p:cNvPr>
          <p:cNvGraphicFramePr>
            <a:graphicFrameLocks noGrp="1"/>
          </p:cNvGraphicFramePr>
          <p:nvPr>
            <p:extLst>
              <p:ext uri="{D42A27DB-BD31-4B8C-83A1-F6EECF244321}">
                <p14:modId xmlns:p14="http://schemas.microsoft.com/office/powerpoint/2010/main" val="2538438797"/>
              </p:ext>
            </p:extLst>
          </p:nvPr>
        </p:nvGraphicFramePr>
        <p:xfrm>
          <a:off x="1515271" y="3030314"/>
          <a:ext cx="14960946" cy="5870945"/>
        </p:xfrm>
        <a:graphic>
          <a:graphicData uri="http://schemas.openxmlformats.org/drawingml/2006/table">
            <a:tbl>
              <a:tblPr/>
              <a:tblGrid>
                <a:gridCol w="2211221">
                  <a:extLst>
                    <a:ext uri="{9D8B030D-6E8A-4147-A177-3AD203B41FA5}">
                      <a16:colId xmlns:a16="http://schemas.microsoft.com/office/drawing/2014/main" val="1215961404"/>
                    </a:ext>
                  </a:extLst>
                </a:gridCol>
                <a:gridCol w="4367725">
                  <a:extLst>
                    <a:ext uri="{9D8B030D-6E8A-4147-A177-3AD203B41FA5}">
                      <a16:colId xmlns:a16="http://schemas.microsoft.com/office/drawing/2014/main" val="3802035637"/>
                    </a:ext>
                  </a:extLst>
                </a:gridCol>
                <a:gridCol w="4343400">
                  <a:extLst>
                    <a:ext uri="{9D8B030D-6E8A-4147-A177-3AD203B41FA5}">
                      <a16:colId xmlns:a16="http://schemas.microsoft.com/office/drawing/2014/main" val="3335410395"/>
                    </a:ext>
                  </a:extLst>
                </a:gridCol>
                <a:gridCol w="4038600">
                  <a:extLst>
                    <a:ext uri="{9D8B030D-6E8A-4147-A177-3AD203B41FA5}">
                      <a16:colId xmlns:a16="http://schemas.microsoft.com/office/drawing/2014/main" val="2506846551"/>
                    </a:ext>
                  </a:extLst>
                </a:gridCol>
              </a:tblGrid>
              <a:tr h="614695">
                <a:tc>
                  <a:txBody>
                    <a:bodyPr/>
                    <a:lstStyle/>
                    <a:p>
                      <a:pPr>
                        <a:buNone/>
                      </a:pPr>
                      <a:r>
                        <a:rPr lang="en-US" sz="1700" b="1">
                          <a:effectLst/>
                        </a:rPr>
                        <a:t>Tiêu chí So sánh</a:t>
                      </a:r>
                    </a:p>
                  </a:txBody>
                  <a:tcPr marL="53628" marR="53628" marT="26814" marB="26814"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buNone/>
                      </a:pPr>
                      <a:r>
                        <a:rPr lang="en-US" sz="1700" b="1">
                          <a:effectLst/>
                        </a:rPr>
                        <a:t>Đề tài thực hiện</a:t>
                      </a:r>
                    </a:p>
                  </a:txBody>
                  <a:tcPr marL="53628" marR="53628" marT="26814" marB="26814"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buNone/>
                      </a:pPr>
                      <a:r>
                        <a:rPr lang="en-US" sz="1700" b="1">
                          <a:effectLst/>
                        </a:rPr>
                        <a:t>Bài báo Tham khảo (Ari Shawkat Tahir)</a:t>
                      </a:r>
                    </a:p>
                  </a:txBody>
                  <a:tcPr marL="53628" marR="53628" marT="26814" marB="26814" anchor="ctr">
                    <a:lnL w="10135"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buNone/>
                      </a:pPr>
                      <a:r>
                        <a:rPr lang="en-US" sz="1700" b="1">
                          <a:effectLst/>
                        </a:rPr>
                        <a:t>Bài báo Tham khảo (M. I. Ibrahimy et al.) </a:t>
                      </a:r>
                    </a:p>
                  </a:txBody>
                  <a:tcPr marL="53628" marR="53628" marT="26814" marB="26814" anchor="ctr">
                    <a:lnL w="7620"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463329174"/>
                  </a:ext>
                </a:extLst>
              </a:tr>
              <a:tr h="445774">
                <a:tc>
                  <a:txBody>
                    <a:bodyPr/>
                    <a:lstStyle/>
                    <a:p>
                      <a:pPr>
                        <a:buNone/>
                      </a:pPr>
                      <a:r>
                        <a:rPr lang="en-US" sz="1700">
                          <a:effectLst/>
                        </a:rPr>
                        <a:t>Kích thước Khóa (Key Size)</a:t>
                      </a:r>
                    </a:p>
                  </a:txBody>
                  <a:tcPr marL="53628" marR="53628" marT="26814" marB="26814"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buNone/>
                      </a:pPr>
                      <a:r>
                        <a:rPr lang="en-US" sz="1700">
                          <a:effectLst/>
                        </a:rPr>
                        <a:t>1024-bit</a:t>
                      </a:r>
                    </a:p>
                  </a:txBody>
                  <a:tcPr marL="53628" marR="53628" marT="26814" marB="26814"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buNone/>
                      </a:pPr>
                      <a:r>
                        <a:rPr lang="en-US" sz="1700">
                          <a:effectLst/>
                        </a:rPr>
                        <a:t>1024-bit</a:t>
                      </a:r>
                    </a:p>
                  </a:txBody>
                  <a:tcPr marL="53628" marR="53628" marT="26814" marB="26814" anchor="ctr">
                    <a:lnL w="10135"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buNone/>
                      </a:pPr>
                      <a:r>
                        <a:rPr lang="en-US" sz="1700">
                          <a:effectLst/>
                        </a:rPr>
                        <a:t>Hỗ trợ linh hoạt lên đến 1024-bit </a:t>
                      </a:r>
                    </a:p>
                  </a:txBody>
                  <a:tcPr marL="53628" marR="53628" marT="26814" marB="26814" anchor="ctr">
                    <a:lnL w="7620"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148595982"/>
                  </a:ext>
                </a:extLst>
              </a:tr>
              <a:tr h="445774">
                <a:tc>
                  <a:txBody>
                    <a:bodyPr/>
                    <a:lstStyle/>
                    <a:p>
                      <a:pPr>
                        <a:buNone/>
                      </a:pPr>
                      <a:r>
                        <a:rPr lang="en-US" sz="1700">
                          <a:effectLst/>
                        </a:rPr>
                        <a:t>Nền tảng Thiết bị (FPGA Platform)</a:t>
                      </a:r>
                    </a:p>
                  </a:txBody>
                  <a:tcPr marL="53628" marR="53628" marT="26814" marB="26814"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buNone/>
                      </a:pPr>
                      <a:r>
                        <a:rPr lang="en-US" sz="1700">
                          <a:effectLst/>
                        </a:rPr>
                        <a:t>Altera Cyclone II (EP2C35F672C6)</a:t>
                      </a:r>
                    </a:p>
                  </a:txBody>
                  <a:tcPr marL="53628" marR="53628" marT="26814" marB="26814"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buNone/>
                      </a:pPr>
                      <a:r>
                        <a:rPr lang="en-US" sz="1700">
                          <a:effectLst/>
                        </a:rPr>
                        <a:t>Xilinx Spartan-3 (XC3S50)</a:t>
                      </a:r>
                    </a:p>
                  </a:txBody>
                  <a:tcPr marL="53628" marR="53628" marT="26814" marB="26814" anchor="ctr">
                    <a:lnL w="10135"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buNone/>
                      </a:pPr>
                      <a:r>
                        <a:rPr lang="en-US" sz="1700">
                          <a:effectLst/>
                        </a:rPr>
                        <a:t>Altera Stratix II (EP2S30F484C3) </a:t>
                      </a:r>
                    </a:p>
                  </a:txBody>
                  <a:tcPr marL="53628" marR="53628" marT="26814" marB="26814" anchor="ctr">
                    <a:lnL w="7620"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65359519"/>
                  </a:ext>
                </a:extLst>
              </a:tr>
              <a:tr h="614695">
                <a:tc>
                  <a:txBody>
                    <a:bodyPr/>
                    <a:lstStyle/>
                    <a:p>
                      <a:pPr>
                        <a:buNone/>
                      </a:pPr>
                      <a:r>
                        <a:rPr lang="en-US" sz="1700">
                          <a:effectLst/>
                        </a:rPr>
                        <a:t>Thuật toán Lũy thừa (Exponentiation)</a:t>
                      </a:r>
                    </a:p>
                  </a:txBody>
                  <a:tcPr marL="53628" marR="53628" marT="26814" marB="26814"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buNone/>
                      </a:pPr>
                      <a:r>
                        <a:rPr lang="en-US" sz="1700">
                          <a:effectLst/>
                        </a:rPr>
                        <a:t>Bình phương và Nhân (Square and Multiply)</a:t>
                      </a:r>
                    </a:p>
                  </a:txBody>
                  <a:tcPr marL="53628" marR="53628" marT="26814" marB="26814"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buNone/>
                      </a:pPr>
                      <a:r>
                        <a:rPr lang="en-US" sz="1700">
                          <a:effectLst/>
                        </a:rPr>
                        <a:t>Bình phương và Nhân (Square and Multiply)</a:t>
                      </a:r>
                    </a:p>
                  </a:txBody>
                  <a:tcPr marL="53628" marR="53628" marT="26814" marB="26814" anchor="ctr">
                    <a:lnL w="10135"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rowSpan="2">
                  <a:txBody>
                    <a:bodyPr/>
                    <a:lstStyle/>
                    <a:p>
                      <a:pPr>
                        <a:buNone/>
                      </a:pPr>
                      <a:r>
                        <a:rPr lang="en-US" sz="1700">
                          <a:effectLst/>
                        </a:rPr>
                        <a:t>Vòng lặp Cộng và Trừ lồng nhau (Nested loop addition and subtraction) </a:t>
                      </a:r>
                    </a:p>
                  </a:txBody>
                  <a:tcPr marL="53628" marR="53628" marT="26814" marB="26814" anchor="ctr">
                    <a:lnL w="7620" cap="flat" cmpd="sng" algn="ctr">
                      <a:solidFill>
                        <a:srgbClr val="000000"/>
                      </a:solidFill>
                      <a:prstDash val="solid"/>
                      <a:round/>
                      <a:headEnd type="none" w="med" len="med"/>
                      <a:tailEnd type="none" w="med" len="med"/>
                    </a:lnL>
                    <a:lnR>
                      <a:noFill/>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964172615"/>
                  </a:ext>
                </a:extLst>
              </a:tr>
              <a:tr h="445774">
                <a:tc>
                  <a:txBody>
                    <a:bodyPr/>
                    <a:lstStyle/>
                    <a:p>
                      <a:pPr>
                        <a:buNone/>
                      </a:pPr>
                      <a:r>
                        <a:rPr lang="en-US" sz="1700">
                          <a:effectLst/>
                        </a:rPr>
                        <a:t>Thuật toán Nhân (Multiplication)</a:t>
                      </a:r>
                    </a:p>
                  </a:txBody>
                  <a:tcPr marL="53628" marR="53628" marT="26814" marB="26814"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buNone/>
                      </a:pPr>
                      <a:r>
                        <a:rPr lang="en-US" sz="1700">
                          <a:effectLst/>
                        </a:rPr>
                        <a:t>Montgomery Multiplication</a:t>
                      </a:r>
                    </a:p>
                  </a:txBody>
                  <a:tcPr marL="53628" marR="53628" marT="26814" marB="26814"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buNone/>
                      </a:pPr>
                      <a:r>
                        <a:rPr lang="en-US" sz="1700">
                          <a:effectLst/>
                        </a:rPr>
                        <a:t>Dịch và Cộng (Shift and Add)</a:t>
                      </a:r>
                    </a:p>
                  </a:txBody>
                  <a:tcPr marL="53628" marR="53628" marT="26814" marB="26814" anchor="ctr">
                    <a:lnL w="10135"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tc>
                <a:extLst>
                  <a:ext uri="{0D108BD9-81ED-4DB2-BD59-A6C34878D82A}">
                    <a16:rowId xmlns:a16="http://schemas.microsoft.com/office/drawing/2014/main" val="4088967757"/>
                  </a:ext>
                </a:extLst>
              </a:tr>
              <a:tr h="445774">
                <a:tc>
                  <a:txBody>
                    <a:bodyPr/>
                    <a:lstStyle/>
                    <a:p>
                      <a:pPr>
                        <a:buNone/>
                      </a:pPr>
                      <a:r>
                        <a:rPr lang="en-US" sz="1700">
                          <a:effectLst/>
                        </a:rPr>
                        <a:t>Tốc độ Xung nhịp tối đa (Fmax)</a:t>
                      </a:r>
                    </a:p>
                  </a:txBody>
                  <a:tcPr marL="53628" marR="53628" marT="26814" marB="26814"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buNone/>
                      </a:pPr>
                      <a:r>
                        <a:rPr lang="en-US" sz="1700" b="1">
                          <a:effectLst/>
                        </a:rPr>
                        <a:t>76.37 MHz</a:t>
                      </a:r>
                    </a:p>
                  </a:txBody>
                  <a:tcPr marL="53628" marR="53628" marT="26814" marB="26814"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buNone/>
                      </a:pPr>
                      <a:r>
                        <a:rPr lang="en-US" sz="1700">
                          <a:effectLst/>
                        </a:rPr>
                        <a:t>68.573 MHz</a:t>
                      </a:r>
                    </a:p>
                  </a:txBody>
                  <a:tcPr marL="53628" marR="53628" marT="26814" marB="26814" anchor="ctr">
                    <a:lnL w="10135"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buNone/>
                      </a:pPr>
                      <a:r>
                        <a:rPr lang="en-US" sz="1700">
                          <a:effectLst/>
                        </a:rPr>
                        <a:t>17.77 MHz </a:t>
                      </a:r>
                    </a:p>
                  </a:txBody>
                  <a:tcPr marL="53628" marR="53628" marT="26814" marB="26814" anchor="ctr">
                    <a:lnL w="7620"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166632217"/>
                  </a:ext>
                </a:extLst>
              </a:tr>
              <a:tr h="614695">
                <a:tc>
                  <a:txBody>
                    <a:bodyPr/>
                    <a:lstStyle/>
                    <a:p>
                      <a:pPr>
                        <a:buNone/>
                      </a:pPr>
                      <a:r>
                        <a:rPr lang="en-US" sz="1700">
                          <a:effectLst/>
                        </a:rPr>
                        <a:t>Tài nguyên Logic (Logic Elements / LUTs)</a:t>
                      </a:r>
                    </a:p>
                  </a:txBody>
                  <a:tcPr marL="53628" marR="53628" marT="26814" marB="26814"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buNone/>
                      </a:pPr>
                      <a:r>
                        <a:rPr lang="en-US" sz="1700">
                          <a:effectLst/>
                        </a:rPr>
                        <a:t>23,258 LEs (Altera)</a:t>
                      </a:r>
                    </a:p>
                  </a:txBody>
                  <a:tcPr marL="53628" marR="53628" marT="26814" marB="26814"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buNone/>
                      </a:pPr>
                      <a:r>
                        <a:rPr lang="en-US" sz="1700">
                          <a:effectLst/>
                        </a:rPr>
                        <a:t>932 LUTs / 557 Slices (Xilinx)</a:t>
                      </a:r>
                    </a:p>
                  </a:txBody>
                  <a:tcPr marL="53628" marR="53628" marT="26814" marB="26814" anchor="ctr">
                    <a:lnL w="10135"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buNone/>
                      </a:pPr>
                      <a:r>
                        <a:rPr lang="en-US" sz="1700">
                          <a:effectLst/>
                        </a:rPr>
                        <a:t>13,779 LEs </a:t>
                      </a:r>
                    </a:p>
                  </a:txBody>
                  <a:tcPr marL="53628" marR="53628" marT="26814" marB="26814" anchor="ctr">
                    <a:lnL w="7620"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490472411"/>
                  </a:ext>
                </a:extLst>
              </a:tr>
              <a:tr h="454598">
                <a:tc>
                  <a:txBody>
                    <a:bodyPr/>
                    <a:lstStyle/>
                    <a:p>
                      <a:pPr>
                        <a:buNone/>
                      </a:pPr>
                      <a:r>
                        <a:rPr lang="en-US" sz="1700">
                          <a:effectLst/>
                        </a:rPr>
                        <a:t>Tài nguyên Bộ nhớ (Memory / BRAM)</a:t>
                      </a:r>
                    </a:p>
                  </a:txBody>
                  <a:tcPr marL="53628" marR="53628" marT="26814" marB="26814"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buNone/>
                      </a:pPr>
                      <a:r>
                        <a:rPr lang="en-US" sz="1700" b="1">
                          <a:effectLst/>
                        </a:rPr>
                        <a:t>273,408 bits</a:t>
                      </a:r>
                    </a:p>
                  </a:txBody>
                  <a:tcPr marL="53628" marR="53628" marT="26814" marB="26814"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buNone/>
                      </a:pPr>
                      <a:endParaRPr lang="en-US" sz="1700">
                        <a:effectLst/>
                      </a:endParaRPr>
                    </a:p>
                  </a:txBody>
                  <a:tcPr marL="53628" marR="53628" marT="26814" marB="26814" anchor="ctr">
                    <a:lnL w="10135"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buNone/>
                      </a:pPr>
                      <a:endParaRPr lang="en-US" sz="1700">
                        <a:effectLst/>
                      </a:endParaRPr>
                    </a:p>
                  </a:txBody>
                  <a:tcPr marL="53628" marR="53628" marT="26814" marB="26814" anchor="ctr">
                    <a:lnL w="7620"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758607225"/>
                  </a:ext>
                </a:extLst>
              </a:tr>
              <a:tr h="1167920">
                <a:tc>
                  <a:txBody>
                    <a:bodyPr/>
                    <a:lstStyle/>
                    <a:p>
                      <a:pPr>
                        <a:buNone/>
                      </a:pPr>
                      <a:r>
                        <a:rPr lang="en-US" sz="1700">
                          <a:effectLst/>
                        </a:rPr>
                        <a:t>Định hướng Tối ưu hóa</a:t>
                      </a:r>
                    </a:p>
                  </a:txBody>
                  <a:tcPr marL="53628" marR="53628" marT="26814" marB="26814"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buNone/>
                      </a:pPr>
                      <a:r>
                        <a:rPr lang="en-US" sz="1700">
                          <a:effectLst/>
                        </a:rPr>
                        <a:t>Tối ưu Tốc độ (Speed-Optimized): Truy xuất tức thời bằng thanh ghi khổng lồ và xử lý xoay vòng 32-bit.</a:t>
                      </a:r>
                    </a:p>
                  </a:txBody>
                  <a:tcPr marL="53628" marR="53628" marT="26814" marB="26814"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buNone/>
                      </a:pPr>
                      <a:r>
                        <a:rPr lang="en-US" sz="1700">
                          <a:effectLst/>
                        </a:rPr>
                        <a:t>Tối ưu Diện tích (Area-Optimized): Dùng bộ cộng nhỏ và đọc/ghi tuần tự, tiết kiệm không gian lõi chip</a:t>
                      </a:r>
                    </a:p>
                  </a:txBody>
                  <a:tcPr marL="53628" marR="53628" marT="26814" marB="26814" anchor="ctr">
                    <a:lnL w="10135"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pPr>
                        <a:buNone/>
                      </a:pPr>
                      <a:r>
                        <a:rPr lang="en-US" sz="1700">
                          <a:effectLst/>
                        </a:rPr>
                        <a:t>Ưu tiên Diện tích (Area)</a:t>
                      </a:r>
                    </a:p>
                  </a:txBody>
                  <a:tcPr marL="53628" marR="53628" marT="26814" marB="26814" anchor="ctr">
                    <a:lnL w="7620"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20525867"/>
                  </a:ext>
                </a:extLst>
              </a:tr>
            </a:tbl>
          </a:graphicData>
        </a:graphic>
      </p:graphicFrame>
      <p:cxnSp>
        <p:nvCxnSpPr>
          <p:cNvPr id="29" name="Straight Connector 28">
            <a:extLst>
              <a:ext uri="{FF2B5EF4-FFF2-40B4-BE49-F238E27FC236}">
                <a16:creationId xmlns:a16="http://schemas.microsoft.com/office/drawing/2014/main" id="{2DCFAF9C-2F29-6B82-FED2-A04FF252A74C}"/>
              </a:ext>
            </a:extLst>
          </p:cNvPr>
          <p:cNvCxnSpPr>
            <a:cxnSpLocks/>
            <a:endCxn id="26" idx="3"/>
          </p:cNvCxnSpPr>
          <p:nvPr/>
        </p:nvCxnSpPr>
        <p:spPr>
          <a:xfrm>
            <a:off x="16476217" y="4762500"/>
            <a:ext cx="0" cy="1203286"/>
          </a:xfrm>
          <a:prstGeom prst="line">
            <a:avLst/>
          </a:prstGeom>
          <a:ln w="12700"/>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70" y="-2318490"/>
            <a:ext cx="18150850" cy="569719"/>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grpSp>
        <p:nvGrpSpPr>
          <p:cNvPr id="3" name="Group 3"/>
          <p:cNvGrpSpPr/>
          <p:nvPr/>
        </p:nvGrpSpPr>
        <p:grpSpPr>
          <a:xfrm>
            <a:off x="0" y="2124"/>
            <a:ext cx="18291715" cy="10295477"/>
            <a:chOff x="0" y="0"/>
            <a:chExt cx="24388953" cy="13727303"/>
          </a:xfrm>
        </p:grpSpPr>
        <p:sp>
          <p:nvSpPr>
            <p:cNvPr id="4" name="Freeform 4"/>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5" name="Group 5"/>
          <p:cNvGrpSpPr/>
          <p:nvPr/>
        </p:nvGrpSpPr>
        <p:grpSpPr>
          <a:xfrm>
            <a:off x="-36214" y="0"/>
            <a:ext cx="6084570" cy="10287000"/>
            <a:chOff x="0" y="0"/>
            <a:chExt cx="8112760" cy="13716000"/>
          </a:xfrm>
        </p:grpSpPr>
        <p:sp>
          <p:nvSpPr>
            <p:cNvPr id="6" name="Freeform 6"/>
            <p:cNvSpPr/>
            <p:nvPr/>
          </p:nvSpPr>
          <p:spPr>
            <a:xfrm>
              <a:off x="0" y="0"/>
              <a:ext cx="8112760" cy="13716000"/>
            </a:xfrm>
            <a:custGeom>
              <a:avLst/>
              <a:gdLst/>
              <a:ahLst/>
              <a:cxnLst/>
              <a:rect l="l" t="t" r="r" b="b"/>
              <a:pathLst>
                <a:path w="8112760" h="13716000">
                  <a:moveTo>
                    <a:pt x="0" y="0"/>
                  </a:moveTo>
                  <a:lnTo>
                    <a:pt x="8112760" y="0"/>
                  </a:lnTo>
                  <a:lnTo>
                    <a:pt x="8112760" y="13716000"/>
                  </a:lnTo>
                  <a:lnTo>
                    <a:pt x="0" y="13716000"/>
                  </a:lnTo>
                  <a:close/>
                </a:path>
              </a:pathLst>
            </a:custGeom>
            <a:gradFill rotWithShape="1">
              <a:gsLst>
                <a:gs pos="0">
                  <a:srgbClr val="38EF7D">
                    <a:alpha val="100000"/>
                  </a:srgbClr>
                </a:gs>
                <a:gs pos="100000">
                  <a:srgbClr val="11998E">
                    <a:alpha val="100000"/>
                  </a:srgbClr>
                </a:gs>
              </a:gsLst>
              <a:lin ang="5400000"/>
            </a:gradFill>
          </p:spPr>
          <p:txBody>
            <a:bodyPr/>
            <a:lstStyle/>
            <a:p>
              <a:endParaRPr lang="en-US"/>
            </a:p>
          </p:txBody>
        </p:sp>
      </p:grpSp>
      <p:grpSp>
        <p:nvGrpSpPr>
          <p:cNvPr id="7" name="Group 7"/>
          <p:cNvGrpSpPr/>
          <p:nvPr/>
        </p:nvGrpSpPr>
        <p:grpSpPr>
          <a:xfrm rot="-10800000">
            <a:off x="-46892" y="0"/>
            <a:ext cx="2707196" cy="10287000"/>
            <a:chOff x="0" y="0"/>
            <a:chExt cx="3609594" cy="13716000"/>
          </a:xfrm>
        </p:grpSpPr>
        <p:sp>
          <p:nvSpPr>
            <p:cNvPr id="8" name="Freeform 8"/>
            <p:cNvSpPr/>
            <p:nvPr/>
          </p:nvSpPr>
          <p:spPr>
            <a:xfrm flipH="1">
              <a:off x="0" y="0"/>
              <a:ext cx="3609594" cy="13716000"/>
            </a:xfrm>
            <a:custGeom>
              <a:avLst/>
              <a:gdLst/>
              <a:ahLst/>
              <a:cxnLst/>
              <a:rect l="l" t="t" r="r" b="b"/>
              <a:pathLst>
                <a:path w="3609594" h="13716000">
                  <a:moveTo>
                    <a:pt x="0" y="0"/>
                  </a:moveTo>
                  <a:lnTo>
                    <a:pt x="3609594" y="0"/>
                  </a:lnTo>
                  <a:lnTo>
                    <a:pt x="3609594" y="13716000"/>
                  </a:lnTo>
                  <a:lnTo>
                    <a:pt x="0" y="13716000"/>
                  </a:lnTo>
                  <a:close/>
                </a:path>
              </a:pathLst>
            </a:custGeom>
            <a:blipFill>
              <a:blip r:embed="rId2"/>
              <a:stretch>
                <a:fillRect l="-2907" r="-2907"/>
              </a:stretch>
            </a:blipFill>
          </p:spPr>
          <p:txBody>
            <a:bodyPr/>
            <a:lstStyle/>
            <a:p>
              <a:endParaRPr lang="en-US"/>
            </a:p>
          </p:txBody>
        </p:sp>
      </p:grpSp>
      <p:sp>
        <p:nvSpPr>
          <p:cNvPr id="9" name="TextBox 9"/>
          <p:cNvSpPr txBox="1"/>
          <p:nvPr/>
        </p:nvSpPr>
        <p:spPr>
          <a:xfrm rot="-5400000">
            <a:off x="-2642312" y="6723250"/>
            <a:ext cx="6122451" cy="458333"/>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10" name="Group 10"/>
          <p:cNvGrpSpPr/>
          <p:nvPr/>
        </p:nvGrpSpPr>
        <p:grpSpPr>
          <a:xfrm>
            <a:off x="6719983" y="293303"/>
            <a:ext cx="4848130" cy="958024"/>
            <a:chOff x="0" y="0"/>
            <a:chExt cx="6464173" cy="1277366"/>
          </a:xfrm>
        </p:grpSpPr>
        <p:sp>
          <p:nvSpPr>
            <p:cNvPr id="11" name="Freeform 11"/>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2700000"/>
            </a:gradFill>
          </p:spPr>
          <p:txBody>
            <a:bodyPr/>
            <a:lstStyle/>
            <a:p>
              <a:endParaRPr lang="en-US"/>
            </a:p>
          </p:txBody>
        </p:sp>
      </p:grpSp>
      <p:grpSp>
        <p:nvGrpSpPr>
          <p:cNvPr id="12" name="Group 12"/>
          <p:cNvGrpSpPr/>
          <p:nvPr/>
        </p:nvGrpSpPr>
        <p:grpSpPr>
          <a:xfrm>
            <a:off x="6807460" y="371332"/>
            <a:ext cx="4673060" cy="801815"/>
            <a:chOff x="0" y="0"/>
            <a:chExt cx="6230747" cy="1069086"/>
          </a:xfrm>
        </p:grpSpPr>
        <p:sp>
          <p:nvSpPr>
            <p:cNvPr id="13" name="Freeform 13"/>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en-US"/>
            </a:p>
          </p:txBody>
        </p:sp>
      </p:grpSp>
      <p:grpSp>
        <p:nvGrpSpPr>
          <p:cNvPr id="14" name="Group 14"/>
          <p:cNvGrpSpPr/>
          <p:nvPr/>
        </p:nvGrpSpPr>
        <p:grpSpPr>
          <a:xfrm>
            <a:off x="9436446" y="197910"/>
            <a:ext cx="1163288" cy="1152620"/>
            <a:chOff x="0" y="0"/>
            <a:chExt cx="1551051" cy="1536827"/>
          </a:xfrm>
        </p:grpSpPr>
        <p:sp>
          <p:nvSpPr>
            <p:cNvPr id="15" name="Freeform 15"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211" r="-210"/>
              </a:stretch>
            </a:blipFill>
          </p:spPr>
          <p:txBody>
            <a:bodyPr/>
            <a:lstStyle/>
            <a:p>
              <a:endParaRPr lang="en-US"/>
            </a:p>
          </p:txBody>
        </p:sp>
      </p:grpSp>
      <p:grpSp>
        <p:nvGrpSpPr>
          <p:cNvPr id="16" name="Group 16"/>
          <p:cNvGrpSpPr/>
          <p:nvPr/>
        </p:nvGrpSpPr>
        <p:grpSpPr>
          <a:xfrm>
            <a:off x="7688247" y="233439"/>
            <a:ext cx="1307497" cy="1081564"/>
            <a:chOff x="0" y="0"/>
            <a:chExt cx="1743329" cy="1442085"/>
          </a:xfrm>
        </p:grpSpPr>
        <p:sp>
          <p:nvSpPr>
            <p:cNvPr id="17" name="Freeform 17"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l="-38" r="-37"/>
              </a:stretch>
            </a:blipFill>
          </p:spPr>
          <p:txBody>
            <a:bodyPr/>
            <a:lstStyle/>
            <a:p>
              <a:endParaRPr lang="en-US"/>
            </a:p>
          </p:txBody>
        </p:sp>
      </p:grpSp>
      <p:grpSp>
        <p:nvGrpSpPr>
          <p:cNvPr id="18" name="Group 18"/>
          <p:cNvGrpSpPr/>
          <p:nvPr/>
        </p:nvGrpSpPr>
        <p:grpSpPr>
          <a:xfrm>
            <a:off x="17262338" y="364607"/>
            <a:ext cx="819150" cy="819150"/>
            <a:chOff x="0" y="0"/>
            <a:chExt cx="1092200" cy="1092200"/>
          </a:xfrm>
        </p:grpSpPr>
        <p:sp>
          <p:nvSpPr>
            <p:cNvPr id="19" name="Freeform 19"/>
            <p:cNvSpPr/>
            <p:nvPr/>
          </p:nvSpPr>
          <p:spPr>
            <a:xfrm>
              <a:off x="0" y="0"/>
              <a:ext cx="1092200" cy="1092200"/>
            </a:xfrm>
            <a:custGeom>
              <a:avLst/>
              <a:gdLst/>
              <a:ahLst/>
              <a:cxnLst/>
              <a:rect l="l" t="t" r="r" b="b"/>
              <a:pathLst>
                <a:path w="1092200" h="1092200">
                  <a:moveTo>
                    <a:pt x="0" y="546100"/>
                  </a:moveTo>
                  <a:cubicBezTo>
                    <a:pt x="0" y="244475"/>
                    <a:pt x="244475" y="0"/>
                    <a:pt x="546100" y="0"/>
                  </a:cubicBezTo>
                  <a:cubicBezTo>
                    <a:pt x="847725" y="0"/>
                    <a:pt x="1092200" y="244475"/>
                    <a:pt x="1092200" y="546100"/>
                  </a:cubicBezTo>
                  <a:cubicBezTo>
                    <a:pt x="1092200" y="847725"/>
                    <a:pt x="847725" y="1092200"/>
                    <a:pt x="546100" y="1092200"/>
                  </a:cubicBezTo>
                  <a:cubicBezTo>
                    <a:pt x="244475" y="1092200"/>
                    <a:pt x="0" y="847725"/>
                    <a:pt x="0" y="546100"/>
                  </a:cubicBezTo>
                  <a:close/>
                </a:path>
              </a:pathLst>
            </a:custGeom>
            <a:gradFill rotWithShape="1">
              <a:gsLst>
                <a:gs pos="0">
                  <a:srgbClr val="38EF7D">
                    <a:alpha val="65098"/>
                  </a:srgbClr>
                </a:gs>
                <a:gs pos="100000">
                  <a:srgbClr val="11998E">
                    <a:alpha val="64705"/>
                  </a:srgbClr>
                </a:gs>
              </a:gsLst>
              <a:lin ang="2700000"/>
            </a:gradFill>
          </p:spPr>
          <p:txBody>
            <a:bodyPr/>
            <a:lstStyle/>
            <a:p>
              <a:endParaRPr lang="en-US"/>
            </a:p>
          </p:txBody>
        </p:sp>
      </p:grpSp>
      <p:grpSp>
        <p:nvGrpSpPr>
          <p:cNvPr id="20" name="Group 20"/>
          <p:cNvGrpSpPr/>
          <p:nvPr/>
        </p:nvGrpSpPr>
        <p:grpSpPr>
          <a:xfrm>
            <a:off x="17486462" y="588731"/>
            <a:ext cx="370999" cy="370999"/>
            <a:chOff x="0" y="0"/>
            <a:chExt cx="494665" cy="494665"/>
          </a:xfrm>
        </p:grpSpPr>
        <p:sp>
          <p:nvSpPr>
            <p:cNvPr id="21" name="Freeform 21"/>
            <p:cNvSpPr/>
            <p:nvPr/>
          </p:nvSpPr>
          <p:spPr>
            <a:xfrm>
              <a:off x="0" y="0"/>
              <a:ext cx="494665" cy="494665"/>
            </a:xfrm>
            <a:custGeom>
              <a:avLst/>
              <a:gdLst/>
              <a:ahLst/>
              <a:cxnLst/>
              <a:rect l="l" t="t" r="r" b="b"/>
              <a:pathLst>
                <a:path w="494665" h="494665">
                  <a:moveTo>
                    <a:pt x="0" y="247269"/>
                  </a:moveTo>
                  <a:cubicBezTo>
                    <a:pt x="0" y="110744"/>
                    <a:pt x="110744" y="0"/>
                    <a:pt x="247269" y="0"/>
                  </a:cubicBezTo>
                  <a:cubicBezTo>
                    <a:pt x="383794" y="0"/>
                    <a:pt x="494665" y="110744"/>
                    <a:pt x="494665" y="247269"/>
                  </a:cubicBezTo>
                  <a:cubicBezTo>
                    <a:pt x="494665" y="383794"/>
                    <a:pt x="383921" y="494665"/>
                    <a:pt x="247269" y="494665"/>
                  </a:cubicBezTo>
                  <a:cubicBezTo>
                    <a:pt x="110617" y="494665"/>
                    <a:pt x="0" y="383921"/>
                    <a:pt x="0" y="247269"/>
                  </a:cubicBezTo>
                  <a:close/>
                </a:path>
              </a:pathLst>
            </a:custGeom>
            <a:gradFill rotWithShape="1">
              <a:gsLst>
                <a:gs pos="0">
                  <a:srgbClr val="38EF7D">
                    <a:alpha val="65098"/>
                  </a:srgbClr>
                </a:gs>
                <a:gs pos="100000">
                  <a:srgbClr val="11998E">
                    <a:alpha val="64705"/>
                  </a:srgbClr>
                </a:gs>
              </a:gsLst>
              <a:lin ang="2700000"/>
            </a:gradFill>
          </p:spPr>
          <p:txBody>
            <a:bodyPr/>
            <a:lstStyle/>
            <a:p>
              <a:endParaRPr lang="en-US"/>
            </a:p>
          </p:txBody>
        </p:sp>
      </p:grpSp>
      <p:grpSp>
        <p:nvGrpSpPr>
          <p:cNvPr id="22" name="Group 22"/>
          <p:cNvGrpSpPr/>
          <p:nvPr/>
        </p:nvGrpSpPr>
        <p:grpSpPr>
          <a:xfrm>
            <a:off x="1705232" y="2175643"/>
            <a:ext cx="15316010" cy="6434518"/>
            <a:chOff x="0" y="0"/>
            <a:chExt cx="20421346" cy="8579358"/>
          </a:xfrm>
        </p:grpSpPr>
        <p:sp>
          <p:nvSpPr>
            <p:cNvPr id="23" name="Freeform 23"/>
            <p:cNvSpPr/>
            <p:nvPr/>
          </p:nvSpPr>
          <p:spPr>
            <a:xfrm>
              <a:off x="0" y="0"/>
              <a:ext cx="20421346" cy="8579358"/>
            </a:xfrm>
            <a:custGeom>
              <a:avLst/>
              <a:gdLst/>
              <a:ahLst/>
              <a:cxnLst/>
              <a:rect l="l" t="t" r="r" b="b"/>
              <a:pathLst>
                <a:path w="20421346" h="8579358">
                  <a:moveTo>
                    <a:pt x="0" y="231775"/>
                  </a:moveTo>
                  <a:cubicBezTo>
                    <a:pt x="0" y="103759"/>
                    <a:pt x="103759" y="0"/>
                    <a:pt x="231775" y="0"/>
                  </a:cubicBezTo>
                  <a:lnTo>
                    <a:pt x="20189571" y="0"/>
                  </a:lnTo>
                  <a:cubicBezTo>
                    <a:pt x="20317586" y="0"/>
                    <a:pt x="20421346" y="103759"/>
                    <a:pt x="20421346" y="231775"/>
                  </a:cubicBezTo>
                  <a:lnTo>
                    <a:pt x="20421346" y="8347583"/>
                  </a:lnTo>
                  <a:cubicBezTo>
                    <a:pt x="20421346" y="8475599"/>
                    <a:pt x="20317586" y="8579358"/>
                    <a:pt x="20189571" y="8579358"/>
                  </a:cubicBezTo>
                  <a:lnTo>
                    <a:pt x="231775" y="8579358"/>
                  </a:lnTo>
                  <a:cubicBezTo>
                    <a:pt x="103759" y="8579358"/>
                    <a:pt x="0" y="8475599"/>
                    <a:pt x="0" y="8347583"/>
                  </a:cubicBezTo>
                  <a:close/>
                </a:path>
              </a:pathLst>
            </a:custGeom>
            <a:blipFill>
              <a:blip r:embed="rId5"/>
              <a:stretch>
                <a:fillRect l="-194" r="-194"/>
              </a:stretch>
            </a:blipFill>
          </p:spPr>
          <p:txBody>
            <a:bodyPr/>
            <a:lstStyle/>
            <a:p>
              <a:endParaRPr lang="en-US"/>
            </a:p>
          </p:txBody>
        </p:sp>
      </p:grpSp>
      <p:grpSp>
        <p:nvGrpSpPr>
          <p:cNvPr id="24" name="Group 24"/>
          <p:cNvGrpSpPr/>
          <p:nvPr/>
        </p:nvGrpSpPr>
        <p:grpSpPr>
          <a:xfrm>
            <a:off x="1705232" y="2175643"/>
            <a:ext cx="15316010" cy="6434518"/>
            <a:chOff x="0" y="0"/>
            <a:chExt cx="20421346" cy="8579358"/>
          </a:xfrm>
        </p:grpSpPr>
        <p:sp>
          <p:nvSpPr>
            <p:cNvPr id="25" name="Freeform 25"/>
            <p:cNvSpPr/>
            <p:nvPr/>
          </p:nvSpPr>
          <p:spPr>
            <a:xfrm>
              <a:off x="0" y="0"/>
              <a:ext cx="20421346" cy="8579358"/>
            </a:xfrm>
            <a:custGeom>
              <a:avLst/>
              <a:gdLst/>
              <a:ahLst/>
              <a:cxnLst/>
              <a:rect l="l" t="t" r="r" b="b"/>
              <a:pathLst>
                <a:path w="20421346" h="8579358">
                  <a:moveTo>
                    <a:pt x="0" y="231775"/>
                  </a:moveTo>
                  <a:cubicBezTo>
                    <a:pt x="0" y="103759"/>
                    <a:pt x="103759" y="0"/>
                    <a:pt x="231775" y="0"/>
                  </a:cubicBezTo>
                  <a:lnTo>
                    <a:pt x="20189571" y="0"/>
                  </a:lnTo>
                  <a:cubicBezTo>
                    <a:pt x="20317586" y="0"/>
                    <a:pt x="20421346" y="103759"/>
                    <a:pt x="20421346" y="231775"/>
                  </a:cubicBezTo>
                  <a:lnTo>
                    <a:pt x="20421346" y="8347583"/>
                  </a:lnTo>
                  <a:cubicBezTo>
                    <a:pt x="20421346" y="8475599"/>
                    <a:pt x="20317586" y="8579358"/>
                    <a:pt x="20189571" y="8579358"/>
                  </a:cubicBezTo>
                  <a:lnTo>
                    <a:pt x="231775" y="8579358"/>
                  </a:lnTo>
                  <a:cubicBezTo>
                    <a:pt x="103759" y="8579358"/>
                    <a:pt x="0" y="8475599"/>
                    <a:pt x="0" y="8347583"/>
                  </a:cubicBezTo>
                  <a:close/>
                </a:path>
              </a:pathLst>
            </a:custGeom>
            <a:gradFill rotWithShape="1">
              <a:gsLst>
                <a:gs pos="0">
                  <a:srgbClr val="38EF7D">
                    <a:alpha val="40000"/>
                  </a:srgbClr>
                </a:gs>
                <a:gs pos="100000">
                  <a:srgbClr val="11998E">
                    <a:alpha val="40000"/>
                  </a:srgbClr>
                </a:gs>
              </a:gsLst>
              <a:lin ang="2700000"/>
            </a:gradFill>
          </p:spPr>
          <p:txBody>
            <a:bodyPr/>
            <a:lstStyle/>
            <a:p>
              <a:endParaRPr lang="en-US"/>
            </a:p>
          </p:txBody>
        </p:sp>
      </p:grpSp>
      <p:grpSp>
        <p:nvGrpSpPr>
          <p:cNvPr id="26" name="Group 26"/>
          <p:cNvGrpSpPr/>
          <p:nvPr/>
        </p:nvGrpSpPr>
        <p:grpSpPr>
          <a:xfrm>
            <a:off x="0" y="2124"/>
            <a:ext cx="18291715" cy="10295477"/>
            <a:chOff x="0" y="0"/>
            <a:chExt cx="24388953" cy="13727303"/>
          </a:xfrm>
        </p:grpSpPr>
        <p:sp>
          <p:nvSpPr>
            <p:cNvPr id="27" name="Freeform 27"/>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28" name="Group 28"/>
          <p:cNvGrpSpPr/>
          <p:nvPr/>
        </p:nvGrpSpPr>
        <p:grpSpPr>
          <a:xfrm>
            <a:off x="15614542" y="498424"/>
            <a:ext cx="4114800" cy="547688"/>
            <a:chOff x="0" y="0"/>
            <a:chExt cx="5486400" cy="730250"/>
          </a:xfrm>
        </p:grpSpPr>
        <p:sp>
          <p:nvSpPr>
            <p:cNvPr id="29" name="Freeform 29"/>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6">
                <a:alphaModFix amt="0"/>
              </a:blip>
              <a:stretch>
                <a:fillRect t="-96290" b="-96290"/>
              </a:stretch>
            </a:blipFill>
          </p:spPr>
          <p:txBody>
            <a:bodyPr/>
            <a:lstStyle/>
            <a:p>
              <a:endParaRPr lang="en-US"/>
            </a:p>
          </p:txBody>
        </p:sp>
      </p:grpSp>
      <p:grpSp>
        <p:nvGrpSpPr>
          <p:cNvPr id="30" name="Group 30"/>
          <p:cNvGrpSpPr/>
          <p:nvPr/>
        </p:nvGrpSpPr>
        <p:grpSpPr>
          <a:xfrm>
            <a:off x="15614542" y="484137"/>
            <a:ext cx="4114800" cy="561975"/>
            <a:chOff x="0" y="0"/>
            <a:chExt cx="5486400" cy="749300"/>
          </a:xfrm>
        </p:grpSpPr>
        <p:sp>
          <p:nvSpPr>
            <p:cNvPr id="31" name="Freeform 31"/>
            <p:cNvSpPr/>
            <p:nvPr/>
          </p:nvSpPr>
          <p:spPr>
            <a:xfrm>
              <a:off x="0" y="0"/>
              <a:ext cx="5486400" cy="749301"/>
            </a:xfrm>
            <a:custGeom>
              <a:avLst/>
              <a:gdLst/>
              <a:ahLst/>
              <a:cxnLst/>
              <a:rect l="l" t="t" r="r" b="b"/>
              <a:pathLst>
                <a:path w="5486400" h="749301">
                  <a:moveTo>
                    <a:pt x="0" y="0"/>
                  </a:moveTo>
                  <a:lnTo>
                    <a:pt x="5486400" y="0"/>
                  </a:lnTo>
                  <a:lnTo>
                    <a:pt x="5486400" y="749301"/>
                  </a:lnTo>
                  <a:lnTo>
                    <a:pt x="0" y="749301"/>
                  </a:lnTo>
                  <a:close/>
                </a:path>
              </a:pathLst>
            </a:custGeom>
            <a:blipFill>
              <a:blip r:embed="rId7">
                <a:alphaModFix amt="0"/>
              </a:blip>
              <a:stretch>
                <a:fillRect t="-92670" b="-92669"/>
              </a:stretch>
            </a:blipFill>
          </p:spPr>
          <p:txBody>
            <a:bodyPr/>
            <a:lstStyle/>
            <a:p>
              <a:endParaRPr lang="en-US"/>
            </a:p>
          </p:txBody>
        </p:sp>
        <p:sp>
          <p:nvSpPr>
            <p:cNvPr id="32" name="TextBox 32"/>
            <p:cNvSpPr txBox="1"/>
            <p:nvPr/>
          </p:nvSpPr>
          <p:spPr>
            <a:xfrm>
              <a:off x="0" y="-19050"/>
              <a:ext cx="5486400" cy="768350"/>
            </a:xfrm>
            <a:prstGeom prst="rect">
              <a:avLst/>
            </a:prstGeom>
          </p:spPr>
          <p:txBody>
            <a:bodyPr lIns="0" tIns="0" rIns="0" bIns="0" rtlCol="0" anchor="ctr"/>
            <a:lstStyle/>
            <a:p>
              <a:pPr algn="ctr">
                <a:lnSpc>
                  <a:spcPts val="2160"/>
                </a:lnSpc>
              </a:pPr>
              <a:r>
                <a:rPr lang="en-US" sz="1800">
                  <a:solidFill>
                    <a:srgbClr val="FFFFFF"/>
                  </a:solidFill>
                  <a:latin typeface="Arial"/>
                  <a:ea typeface="Arial"/>
                  <a:cs typeface="Arial"/>
                  <a:sym typeface="Arial"/>
                </a:rPr>
                <a:t>‹#›</a:t>
              </a:r>
            </a:p>
          </p:txBody>
        </p:sp>
      </p:grpSp>
      <p:grpSp>
        <p:nvGrpSpPr>
          <p:cNvPr id="33" name="Group 33"/>
          <p:cNvGrpSpPr/>
          <p:nvPr/>
        </p:nvGrpSpPr>
        <p:grpSpPr>
          <a:xfrm>
            <a:off x="2480043" y="3431010"/>
            <a:ext cx="13766397" cy="2259006"/>
            <a:chOff x="0" y="0"/>
            <a:chExt cx="18355196" cy="3012008"/>
          </a:xfrm>
        </p:grpSpPr>
        <p:sp>
          <p:nvSpPr>
            <p:cNvPr id="34" name="Freeform 34"/>
            <p:cNvSpPr/>
            <p:nvPr/>
          </p:nvSpPr>
          <p:spPr>
            <a:xfrm>
              <a:off x="0" y="0"/>
              <a:ext cx="18355183" cy="3012059"/>
            </a:xfrm>
            <a:custGeom>
              <a:avLst/>
              <a:gdLst/>
              <a:ahLst/>
              <a:cxnLst/>
              <a:rect l="l" t="t" r="r" b="b"/>
              <a:pathLst>
                <a:path w="18355183" h="3012059">
                  <a:moveTo>
                    <a:pt x="0" y="0"/>
                  </a:moveTo>
                  <a:lnTo>
                    <a:pt x="18355183" y="0"/>
                  </a:lnTo>
                  <a:lnTo>
                    <a:pt x="18355183" y="3012059"/>
                  </a:lnTo>
                  <a:lnTo>
                    <a:pt x="0" y="3012059"/>
                  </a:lnTo>
                  <a:close/>
                </a:path>
              </a:pathLst>
            </a:custGeom>
            <a:blipFill>
              <a:blip r:embed="rId6">
                <a:alphaModFix amt="0"/>
              </a:blip>
              <a:stretch>
                <a:fillRect t="-68658" b="-68656"/>
              </a:stretch>
            </a:blipFill>
          </p:spPr>
          <p:txBody>
            <a:bodyPr/>
            <a:lstStyle/>
            <a:p>
              <a:endParaRPr lang="en-US"/>
            </a:p>
          </p:txBody>
        </p:sp>
      </p:grpSp>
      <p:grpSp>
        <p:nvGrpSpPr>
          <p:cNvPr id="35" name="Group 35"/>
          <p:cNvGrpSpPr/>
          <p:nvPr/>
        </p:nvGrpSpPr>
        <p:grpSpPr>
          <a:xfrm>
            <a:off x="2480043" y="3473872"/>
            <a:ext cx="13766397" cy="2216138"/>
            <a:chOff x="0" y="0"/>
            <a:chExt cx="18355196" cy="2954850"/>
          </a:xfrm>
        </p:grpSpPr>
        <p:sp>
          <p:nvSpPr>
            <p:cNvPr id="36" name="Freeform 36"/>
            <p:cNvSpPr/>
            <p:nvPr/>
          </p:nvSpPr>
          <p:spPr>
            <a:xfrm>
              <a:off x="0" y="0"/>
              <a:ext cx="18355196" cy="2954855"/>
            </a:xfrm>
            <a:custGeom>
              <a:avLst/>
              <a:gdLst/>
              <a:ahLst/>
              <a:cxnLst/>
              <a:rect l="l" t="t" r="r" b="b"/>
              <a:pathLst>
                <a:path w="18355196" h="2954855">
                  <a:moveTo>
                    <a:pt x="0" y="0"/>
                  </a:moveTo>
                  <a:lnTo>
                    <a:pt x="18355196" y="0"/>
                  </a:lnTo>
                  <a:lnTo>
                    <a:pt x="18355196" y="2954855"/>
                  </a:lnTo>
                  <a:lnTo>
                    <a:pt x="0" y="2954855"/>
                  </a:lnTo>
                  <a:close/>
                </a:path>
              </a:pathLst>
            </a:custGeom>
            <a:blipFill>
              <a:blip r:embed="rId7">
                <a:alphaModFix amt="0"/>
              </a:blip>
              <a:stretch>
                <a:fillRect t="-71038" b="-71038"/>
              </a:stretch>
            </a:blipFill>
          </p:spPr>
          <p:txBody>
            <a:bodyPr/>
            <a:lstStyle/>
            <a:p>
              <a:endParaRPr lang="en-US"/>
            </a:p>
          </p:txBody>
        </p:sp>
        <p:sp>
          <p:nvSpPr>
            <p:cNvPr id="37" name="TextBox 37"/>
            <p:cNvSpPr txBox="1"/>
            <p:nvPr/>
          </p:nvSpPr>
          <p:spPr>
            <a:xfrm>
              <a:off x="0" y="57150"/>
              <a:ext cx="18355196" cy="2897700"/>
            </a:xfrm>
            <a:prstGeom prst="rect">
              <a:avLst/>
            </a:prstGeom>
          </p:spPr>
          <p:txBody>
            <a:bodyPr lIns="0" tIns="0" rIns="0" bIns="0" rtlCol="0" anchor="ctr"/>
            <a:lstStyle/>
            <a:p>
              <a:pPr algn="l">
                <a:lnSpc>
                  <a:spcPts val="8856"/>
                </a:lnSpc>
              </a:pPr>
              <a:r>
                <a:rPr lang="en-US" sz="8200" b="1">
                  <a:solidFill>
                    <a:srgbClr val="FFFFFF"/>
                  </a:solidFill>
                  <a:latin typeface="Times New Roman Bold"/>
                  <a:ea typeface="Times New Roman Bold"/>
                  <a:cs typeface="Times New Roman Bold"/>
                  <a:sym typeface="Times New Roman Bold"/>
                </a:rPr>
                <a:t>Kết luận </a:t>
              </a:r>
            </a:p>
          </p:txBody>
        </p:sp>
      </p:grpSp>
      <p:sp>
        <p:nvSpPr>
          <p:cNvPr id="38" name="TextBox 38"/>
          <p:cNvSpPr txBox="1"/>
          <p:nvPr/>
        </p:nvSpPr>
        <p:spPr>
          <a:xfrm>
            <a:off x="2548614" y="1142886"/>
            <a:ext cx="2429709" cy="2481453"/>
          </a:xfrm>
          <a:prstGeom prst="rect">
            <a:avLst/>
          </a:prstGeom>
        </p:spPr>
        <p:txBody>
          <a:bodyPr lIns="0" tIns="0" rIns="0" bIns="0" rtlCol="0" anchor="t">
            <a:spAutoFit/>
          </a:bodyPr>
          <a:lstStyle/>
          <a:p>
            <a:pPr algn="l">
              <a:lnSpc>
                <a:spcPts val="18576"/>
              </a:lnSpc>
            </a:pPr>
            <a:r>
              <a:rPr lang="en-US" sz="17200">
                <a:solidFill>
                  <a:srgbClr val="FFFFFF"/>
                </a:solidFill>
                <a:latin typeface="Arial"/>
                <a:ea typeface="Arial"/>
                <a:cs typeface="Arial"/>
                <a:sym typeface="Arial"/>
              </a:rPr>
              <a:t>07</a:t>
            </a:r>
          </a:p>
        </p:txBody>
      </p:sp>
      <p:sp>
        <p:nvSpPr>
          <p:cNvPr id="39" name="TextBox 39"/>
          <p:cNvSpPr txBox="1"/>
          <p:nvPr/>
        </p:nvSpPr>
        <p:spPr>
          <a:xfrm>
            <a:off x="17486462" y="9172575"/>
            <a:ext cx="536705" cy="1114425"/>
          </a:xfrm>
          <a:prstGeom prst="rect">
            <a:avLst/>
          </a:prstGeom>
        </p:spPr>
        <p:txBody>
          <a:bodyPr lIns="0" tIns="0" rIns="0" bIns="0" rtlCol="0" anchor="t">
            <a:spAutoFit/>
          </a:bodyPr>
          <a:lstStyle/>
          <a:p>
            <a:pPr algn="ctr">
              <a:lnSpc>
                <a:spcPts val="4320"/>
              </a:lnSpc>
            </a:pPr>
            <a:r>
              <a:rPr lang="en-US" sz="3600">
                <a:solidFill>
                  <a:srgbClr val="000000"/>
                </a:solidFill>
                <a:latin typeface="Arial"/>
                <a:ea typeface="Arial"/>
                <a:cs typeface="Arial"/>
                <a:sym typeface="Arial"/>
              </a:rPr>
              <a:t>30</a:t>
            </a:r>
          </a:p>
          <a:p>
            <a:pPr algn="ctr">
              <a:lnSpc>
                <a:spcPts val="4320"/>
              </a:lnSpc>
            </a:pPr>
            <a:endParaRPr lang="en-US" sz="3600">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124"/>
            <a:ext cx="18291715" cy="10295477"/>
            <a:chOff x="0" y="0"/>
            <a:chExt cx="24388953" cy="13727303"/>
          </a:xfrm>
        </p:grpSpPr>
        <p:sp>
          <p:nvSpPr>
            <p:cNvPr id="3" name="Freeform 3"/>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4" name="Group 4"/>
          <p:cNvGrpSpPr/>
          <p:nvPr/>
        </p:nvGrpSpPr>
        <p:grpSpPr>
          <a:xfrm rot="5400000">
            <a:off x="8668464" y="-8670055"/>
            <a:ext cx="947356" cy="18291715"/>
            <a:chOff x="0" y="0"/>
            <a:chExt cx="1263142" cy="24388953"/>
          </a:xfrm>
        </p:grpSpPr>
        <p:sp>
          <p:nvSpPr>
            <p:cNvPr id="5" name="Freeform 5"/>
            <p:cNvSpPr/>
            <p:nvPr/>
          </p:nvSpPr>
          <p:spPr>
            <a:xfrm>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gradFill rotWithShape="1">
              <a:gsLst>
                <a:gs pos="0">
                  <a:srgbClr val="10CC57">
                    <a:alpha val="100000"/>
                  </a:srgbClr>
                </a:gs>
                <a:gs pos="100000">
                  <a:srgbClr val="017058">
                    <a:alpha val="100000"/>
                  </a:srgbClr>
                </a:gs>
              </a:gsLst>
              <a:lin ang="0"/>
            </a:gradFill>
          </p:spPr>
          <p:txBody>
            <a:bodyPr/>
            <a:lstStyle/>
            <a:p>
              <a:endParaRPr lang="en-US"/>
            </a:p>
          </p:txBody>
        </p:sp>
      </p:grpSp>
      <p:grpSp>
        <p:nvGrpSpPr>
          <p:cNvPr id="6" name="Group 6"/>
          <p:cNvGrpSpPr/>
          <p:nvPr/>
        </p:nvGrpSpPr>
        <p:grpSpPr>
          <a:xfrm rot="-5400000">
            <a:off x="8670312" y="-8672208"/>
            <a:ext cx="947356" cy="18291715"/>
            <a:chOff x="0" y="0"/>
            <a:chExt cx="1263142" cy="24388953"/>
          </a:xfrm>
        </p:grpSpPr>
        <p:sp>
          <p:nvSpPr>
            <p:cNvPr id="7" name="Freeform 7"/>
            <p:cNvSpPr/>
            <p:nvPr/>
          </p:nvSpPr>
          <p:spPr>
            <a:xfrm flipH="1">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blipFill>
              <a:blip r:embed="rId2"/>
              <a:stretch>
                <a:fillRect l="-35092" r="-35091"/>
              </a:stretch>
            </a:blipFill>
          </p:spPr>
          <p:txBody>
            <a:bodyPr/>
            <a:lstStyle/>
            <a:p>
              <a:endParaRPr lang="en-US"/>
            </a:p>
          </p:txBody>
        </p:sp>
      </p:grpSp>
      <p:sp>
        <p:nvSpPr>
          <p:cNvPr id="8" name="TextBox 8"/>
          <p:cNvSpPr txBox="1"/>
          <p:nvPr/>
        </p:nvSpPr>
        <p:spPr>
          <a:xfrm>
            <a:off x="428996" y="227362"/>
            <a:ext cx="10993288" cy="456571"/>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9" name="Group 9"/>
          <p:cNvGrpSpPr/>
          <p:nvPr/>
        </p:nvGrpSpPr>
        <p:grpSpPr>
          <a:xfrm>
            <a:off x="6719983" y="457933"/>
            <a:ext cx="4848130" cy="958024"/>
            <a:chOff x="0" y="0"/>
            <a:chExt cx="6464173" cy="1277366"/>
          </a:xfrm>
        </p:grpSpPr>
        <p:sp>
          <p:nvSpPr>
            <p:cNvPr id="10" name="Freeform 10"/>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2700000"/>
            </a:gradFill>
          </p:spPr>
          <p:txBody>
            <a:bodyPr/>
            <a:lstStyle/>
            <a:p>
              <a:endParaRPr lang="en-US"/>
            </a:p>
          </p:txBody>
        </p:sp>
      </p:grpSp>
      <p:grpSp>
        <p:nvGrpSpPr>
          <p:cNvPr id="11" name="Group 11"/>
          <p:cNvGrpSpPr/>
          <p:nvPr/>
        </p:nvGrpSpPr>
        <p:grpSpPr>
          <a:xfrm>
            <a:off x="6807460" y="535972"/>
            <a:ext cx="4673060" cy="801815"/>
            <a:chOff x="0" y="0"/>
            <a:chExt cx="6230747" cy="1069086"/>
          </a:xfrm>
        </p:grpSpPr>
        <p:sp>
          <p:nvSpPr>
            <p:cNvPr id="12" name="Freeform 12"/>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en-US"/>
            </a:p>
          </p:txBody>
        </p:sp>
      </p:grpSp>
      <p:grpSp>
        <p:nvGrpSpPr>
          <p:cNvPr id="13" name="Group 13"/>
          <p:cNvGrpSpPr/>
          <p:nvPr/>
        </p:nvGrpSpPr>
        <p:grpSpPr>
          <a:xfrm>
            <a:off x="9436446" y="362541"/>
            <a:ext cx="1163288" cy="1152620"/>
            <a:chOff x="0" y="0"/>
            <a:chExt cx="1551051" cy="1536827"/>
          </a:xfrm>
        </p:grpSpPr>
        <p:sp>
          <p:nvSpPr>
            <p:cNvPr id="14" name="Freeform 14"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211" r="-210"/>
              </a:stretch>
            </a:blipFill>
          </p:spPr>
          <p:txBody>
            <a:bodyPr/>
            <a:lstStyle/>
            <a:p>
              <a:endParaRPr lang="en-US"/>
            </a:p>
          </p:txBody>
        </p:sp>
      </p:grpSp>
      <p:grpSp>
        <p:nvGrpSpPr>
          <p:cNvPr id="15" name="Group 15"/>
          <p:cNvGrpSpPr/>
          <p:nvPr/>
        </p:nvGrpSpPr>
        <p:grpSpPr>
          <a:xfrm>
            <a:off x="7688247" y="398078"/>
            <a:ext cx="1307497" cy="1081564"/>
            <a:chOff x="0" y="0"/>
            <a:chExt cx="1743329" cy="1442085"/>
          </a:xfrm>
        </p:grpSpPr>
        <p:sp>
          <p:nvSpPr>
            <p:cNvPr id="16" name="Freeform 16"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l="-38" r="-37"/>
              </a:stretch>
            </a:blipFill>
          </p:spPr>
          <p:txBody>
            <a:bodyPr/>
            <a:lstStyle/>
            <a:p>
              <a:endParaRPr lang="en-US"/>
            </a:p>
          </p:txBody>
        </p:sp>
      </p:grpSp>
      <p:grpSp>
        <p:nvGrpSpPr>
          <p:cNvPr id="17" name="Group 17"/>
          <p:cNvGrpSpPr/>
          <p:nvPr/>
        </p:nvGrpSpPr>
        <p:grpSpPr>
          <a:xfrm>
            <a:off x="908999" y="1555147"/>
            <a:ext cx="16470001" cy="1335996"/>
            <a:chOff x="0" y="0"/>
            <a:chExt cx="21960002" cy="1781327"/>
          </a:xfrm>
        </p:grpSpPr>
        <p:sp>
          <p:nvSpPr>
            <p:cNvPr id="18" name="Freeform 18"/>
            <p:cNvSpPr/>
            <p:nvPr/>
          </p:nvSpPr>
          <p:spPr>
            <a:xfrm>
              <a:off x="0" y="0"/>
              <a:ext cx="21959951" cy="1781302"/>
            </a:xfrm>
            <a:custGeom>
              <a:avLst/>
              <a:gdLst/>
              <a:ahLst/>
              <a:cxnLst/>
              <a:rect l="l" t="t" r="r" b="b"/>
              <a:pathLst>
                <a:path w="21959951" h="1781302">
                  <a:moveTo>
                    <a:pt x="0" y="0"/>
                  </a:moveTo>
                  <a:lnTo>
                    <a:pt x="21959951" y="0"/>
                  </a:lnTo>
                  <a:lnTo>
                    <a:pt x="21959951" y="1781302"/>
                  </a:lnTo>
                  <a:lnTo>
                    <a:pt x="0" y="1781302"/>
                  </a:lnTo>
                  <a:close/>
                </a:path>
              </a:pathLst>
            </a:custGeom>
            <a:blipFill>
              <a:blip r:embed="rId5">
                <a:alphaModFix amt="0"/>
              </a:blip>
              <a:stretch>
                <a:fillRect t="-190044" b="-190046"/>
              </a:stretch>
            </a:blipFill>
          </p:spPr>
          <p:txBody>
            <a:bodyPr/>
            <a:lstStyle/>
            <a:p>
              <a:endParaRPr lang="en-US"/>
            </a:p>
          </p:txBody>
        </p:sp>
      </p:grpSp>
      <p:grpSp>
        <p:nvGrpSpPr>
          <p:cNvPr id="19" name="Group 19"/>
          <p:cNvGrpSpPr/>
          <p:nvPr/>
        </p:nvGrpSpPr>
        <p:grpSpPr>
          <a:xfrm>
            <a:off x="908999" y="1576578"/>
            <a:ext cx="16470001" cy="1314563"/>
            <a:chOff x="0" y="0"/>
            <a:chExt cx="21960002" cy="1752750"/>
          </a:xfrm>
        </p:grpSpPr>
        <p:sp>
          <p:nvSpPr>
            <p:cNvPr id="20" name="Freeform 20"/>
            <p:cNvSpPr/>
            <p:nvPr/>
          </p:nvSpPr>
          <p:spPr>
            <a:xfrm>
              <a:off x="0" y="0"/>
              <a:ext cx="21960001" cy="1752748"/>
            </a:xfrm>
            <a:custGeom>
              <a:avLst/>
              <a:gdLst/>
              <a:ahLst/>
              <a:cxnLst/>
              <a:rect l="l" t="t" r="r" b="b"/>
              <a:pathLst>
                <a:path w="21960001" h="1752748">
                  <a:moveTo>
                    <a:pt x="0" y="0"/>
                  </a:moveTo>
                  <a:lnTo>
                    <a:pt x="21960001" y="0"/>
                  </a:lnTo>
                  <a:lnTo>
                    <a:pt x="21960001" y="1752748"/>
                  </a:lnTo>
                  <a:lnTo>
                    <a:pt x="0" y="1752748"/>
                  </a:lnTo>
                  <a:close/>
                </a:path>
              </a:pathLst>
            </a:custGeom>
            <a:blipFill>
              <a:blip r:embed="rId6">
                <a:alphaModFix amt="0"/>
              </a:blip>
              <a:stretch>
                <a:fillRect t="-194125" b="-194126"/>
              </a:stretch>
            </a:blipFill>
          </p:spPr>
          <p:txBody>
            <a:bodyPr/>
            <a:lstStyle/>
            <a:p>
              <a:endParaRPr lang="en-US"/>
            </a:p>
          </p:txBody>
        </p:sp>
        <p:sp>
          <p:nvSpPr>
            <p:cNvPr id="21" name="TextBox 21"/>
            <p:cNvSpPr txBox="1"/>
            <p:nvPr/>
          </p:nvSpPr>
          <p:spPr>
            <a:xfrm>
              <a:off x="0" y="28575"/>
              <a:ext cx="21960002" cy="1724175"/>
            </a:xfrm>
            <a:prstGeom prst="rect">
              <a:avLst/>
            </a:prstGeom>
          </p:spPr>
          <p:txBody>
            <a:bodyPr lIns="0" tIns="0" rIns="0" bIns="0" rtlCol="0" anchor="ctr"/>
            <a:lstStyle/>
            <a:p>
              <a:pPr algn="l">
                <a:lnSpc>
                  <a:spcPts val="6048"/>
                </a:lnSpc>
              </a:pPr>
              <a:r>
                <a:rPr lang="en-US" sz="5599" b="1">
                  <a:solidFill>
                    <a:srgbClr val="017058"/>
                  </a:solidFill>
                  <a:latin typeface="Times New Roman Bold"/>
                  <a:ea typeface="Times New Roman Bold"/>
                  <a:cs typeface="Times New Roman Bold"/>
                  <a:sym typeface="Times New Roman Bold"/>
                </a:rPr>
                <a:t>7. Kết luận </a:t>
              </a:r>
            </a:p>
          </p:txBody>
        </p:sp>
      </p:grpSp>
      <p:sp>
        <p:nvSpPr>
          <p:cNvPr id="22" name="TextBox 22"/>
          <p:cNvSpPr txBox="1"/>
          <p:nvPr/>
        </p:nvSpPr>
        <p:spPr>
          <a:xfrm>
            <a:off x="68570" y="-2318490"/>
            <a:ext cx="18150850" cy="569719"/>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sp>
        <p:nvSpPr>
          <p:cNvPr id="23" name="TextBox 23"/>
          <p:cNvSpPr txBox="1"/>
          <p:nvPr/>
        </p:nvSpPr>
        <p:spPr>
          <a:xfrm>
            <a:off x="1070182" y="2637272"/>
            <a:ext cx="9313332" cy="584835"/>
          </a:xfrm>
          <a:prstGeom prst="rect">
            <a:avLst/>
          </a:prstGeom>
        </p:spPr>
        <p:txBody>
          <a:bodyPr lIns="0" tIns="0" rIns="0" bIns="0" rtlCol="0" anchor="t">
            <a:spAutoFit/>
          </a:bodyPr>
          <a:lstStyle/>
          <a:p>
            <a:pPr algn="l">
              <a:lnSpc>
                <a:spcPts val="4320"/>
              </a:lnSpc>
            </a:pPr>
            <a:r>
              <a:rPr lang="en-US" sz="4000" b="1">
                <a:solidFill>
                  <a:srgbClr val="017058"/>
                </a:solidFill>
                <a:latin typeface="Times New Roman Bold"/>
                <a:ea typeface="Times New Roman Bold"/>
                <a:cs typeface="Times New Roman Bold"/>
                <a:sym typeface="Times New Roman Bold"/>
              </a:rPr>
              <a:t>7.1 Kết luận chung  </a:t>
            </a:r>
          </a:p>
        </p:txBody>
      </p:sp>
      <p:sp>
        <p:nvSpPr>
          <p:cNvPr id="24" name="TextBox 24"/>
          <p:cNvSpPr txBox="1"/>
          <p:nvPr/>
        </p:nvSpPr>
        <p:spPr>
          <a:xfrm>
            <a:off x="17447714" y="9144000"/>
            <a:ext cx="508635" cy="1114425"/>
          </a:xfrm>
          <a:prstGeom prst="rect">
            <a:avLst/>
          </a:prstGeom>
        </p:spPr>
        <p:txBody>
          <a:bodyPr lIns="0" tIns="0" rIns="0" bIns="0" rtlCol="0" anchor="t">
            <a:spAutoFit/>
          </a:bodyPr>
          <a:lstStyle/>
          <a:p>
            <a:pPr algn="ctr">
              <a:lnSpc>
                <a:spcPts val="4320"/>
              </a:lnSpc>
            </a:pPr>
            <a:r>
              <a:rPr lang="en-US" sz="3600">
                <a:solidFill>
                  <a:srgbClr val="000000"/>
                </a:solidFill>
                <a:latin typeface="Arial"/>
                <a:ea typeface="Arial"/>
                <a:cs typeface="Arial"/>
                <a:sym typeface="Arial"/>
              </a:rPr>
              <a:t>31</a:t>
            </a:r>
          </a:p>
          <a:p>
            <a:pPr algn="ctr">
              <a:lnSpc>
                <a:spcPts val="4320"/>
              </a:lnSpc>
            </a:pPr>
            <a:endParaRPr lang="en-US" sz="3600">
              <a:solidFill>
                <a:srgbClr val="000000"/>
              </a:solidFill>
              <a:latin typeface="Arial"/>
              <a:ea typeface="Arial"/>
              <a:cs typeface="Arial"/>
              <a:sym typeface="Arial"/>
            </a:endParaRPr>
          </a:p>
        </p:txBody>
      </p:sp>
      <p:sp>
        <p:nvSpPr>
          <p:cNvPr id="25" name="TextBox 25"/>
          <p:cNvSpPr txBox="1"/>
          <p:nvPr/>
        </p:nvSpPr>
        <p:spPr>
          <a:xfrm>
            <a:off x="1070182" y="3812657"/>
            <a:ext cx="15520829" cy="4591050"/>
          </a:xfrm>
          <a:prstGeom prst="rect">
            <a:avLst/>
          </a:prstGeom>
        </p:spPr>
        <p:txBody>
          <a:bodyPr lIns="0" tIns="0" rIns="0" bIns="0" rtlCol="0" anchor="t">
            <a:spAutoFit/>
          </a:bodyPr>
          <a:lstStyle/>
          <a:p>
            <a:pPr marL="647700" lvl="1" indent="-323850" algn="l">
              <a:lnSpc>
                <a:spcPts val="3600"/>
              </a:lnSpc>
              <a:spcBef>
                <a:spcPct val="0"/>
              </a:spcBef>
              <a:buFont typeface="Arial"/>
              <a:buChar char="•"/>
            </a:pPr>
            <a:r>
              <a:rPr lang="en-US" sz="3000">
                <a:solidFill>
                  <a:srgbClr val="000000"/>
                </a:solidFill>
                <a:latin typeface="Arial"/>
                <a:ea typeface="Arial"/>
                <a:cs typeface="Arial"/>
                <a:sym typeface="Arial"/>
              </a:rPr>
              <a:t>Đồ án đã thiết kế và tích hợp thành công bộ tăng tốc mã hóa RSA trên nền tảng SoC. Sử dụng ngôn ngữ Verilog, các module cốt lõi như MontgomeryMul.v và ModExp.v đã được tối ưu hiệu năng bằng cách thay thế phép chia phức tạp bằng các phép dịch bit và cộng đơn giản. </a:t>
            </a:r>
          </a:p>
          <a:p>
            <a:pPr algn="l">
              <a:lnSpc>
                <a:spcPts val="3600"/>
              </a:lnSpc>
              <a:spcBef>
                <a:spcPct val="0"/>
              </a:spcBef>
            </a:pPr>
            <a:endParaRPr lang="en-US" sz="3000">
              <a:solidFill>
                <a:srgbClr val="000000"/>
              </a:solidFill>
              <a:latin typeface="Arial"/>
              <a:ea typeface="Arial"/>
              <a:cs typeface="Arial"/>
              <a:sym typeface="Arial"/>
            </a:endParaRPr>
          </a:p>
          <a:p>
            <a:pPr marL="647700" lvl="1" indent="-323850" algn="l">
              <a:lnSpc>
                <a:spcPts val="3600"/>
              </a:lnSpc>
              <a:spcBef>
                <a:spcPct val="0"/>
              </a:spcBef>
              <a:buFont typeface="Arial"/>
              <a:buChar char="•"/>
            </a:pPr>
            <a:r>
              <a:rPr lang="en-US" sz="3000">
                <a:solidFill>
                  <a:srgbClr val="000000"/>
                </a:solidFill>
                <a:latin typeface="Arial"/>
                <a:ea typeface="Arial"/>
                <a:cs typeface="Arial"/>
                <a:sym typeface="Arial"/>
              </a:rPr>
              <a:t>Thành công đóng gói thiết kế thành một IP Core hoàn chỉnh (Avalon_RSA_Wrapper.v), kết nối trơn tru với vi xử lý Nios II qua chuẩn Avalon (địa chỉ 0x0001_1000). </a:t>
            </a:r>
          </a:p>
          <a:p>
            <a:pPr algn="l">
              <a:lnSpc>
                <a:spcPts val="3600"/>
              </a:lnSpc>
              <a:spcBef>
                <a:spcPct val="0"/>
              </a:spcBef>
            </a:pPr>
            <a:endParaRPr lang="en-US" sz="3000">
              <a:solidFill>
                <a:srgbClr val="000000"/>
              </a:solidFill>
              <a:latin typeface="Arial"/>
              <a:ea typeface="Arial"/>
              <a:cs typeface="Arial"/>
              <a:sym typeface="Arial"/>
            </a:endParaRPr>
          </a:p>
          <a:p>
            <a:pPr marL="647700" lvl="1" indent="-323850" algn="l">
              <a:lnSpc>
                <a:spcPts val="3600"/>
              </a:lnSpc>
              <a:spcBef>
                <a:spcPct val="0"/>
              </a:spcBef>
              <a:buFont typeface="Arial"/>
              <a:buChar char="•"/>
            </a:pPr>
            <a:r>
              <a:rPr lang="en-US" sz="3000">
                <a:solidFill>
                  <a:srgbClr val="000000"/>
                </a:solidFill>
                <a:latin typeface="Arial"/>
                <a:ea typeface="Arial"/>
                <a:cs typeface="Arial"/>
                <a:sym typeface="Arial"/>
              </a:rPr>
              <a:t>Kết quả này khẳng định tính hiệu quả của phương pháp đồng thiết kế phần cứng/phần mềm (HW/SW co-design) trong việc gia tốc các thuật toán bảo mật cho hệ thống nhúng.</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124"/>
            <a:ext cx="18291715" cy="10295477"/>
            <a:chOff x="0" y="0"/>
            <a:chExt cx="24388953" cy="13727303"/>
          </a:xfrm>
        </p:grpSpPr>
        <p:sp>
          <p:nvSpPr>
            <p:cNvPr id="3" name="Freeform 3"/>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4" name="Group 4"/>
          <p:cNvGrpSpPr/>
          <p:nvPr/>
        </p:nvGrpSpPr>
        <p:grpSpPr>
          <a:xfrm rot="5400000">
            <a:off x="8668464" y="-8670055"/>
            <a:ext cx="947356" cy="18291715"/>
            <a:chOff x="0" y="0"/>
            <a:chExt cx="1263142" cy="24388953"/>
          </a:xfrm>
        </p:grpSpPr>
        <p:sp>
          <p:nvSpPr>
            <p:cNvPr id="5" name="Freeform 5"/>
            <p:cNvSpPr/>
            <p:nvPr/>
          </p:nvSpPr>
          <p:spPr>
            <a:xfrm>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gradFill rotWithShape="1">
              <a:gsLst>
                <a:gs pos="0">
                  <a:srgbClr val="10CC57">
                    <a:alpha val="100000"/>
                  </a:srgbClr>
                </a:gs>
                <a:gs pos="100000">
                  <a:srgbClr val="017058">
                    <a:alpha val="100000"/>
                  </a:srgbClr>
                </a:gs>
              </a:gsLst>
              <a:lin ang="0"/>
            </a:gradFill>
          </p:spPr>
          <p:txBody>
            <a:bodyPr/>
            <a:lstStyle/>
            <a:p>
              <a:endParaRPr lang="en-US"/>
            </a:p>
          </p:txBody>
        </p:sp>
      </p:grpSp>
      <p:grpSp>
        <p:nvGrpSpPr>
          <p:cNvPr id="6" name="Group 6"/>
          <p:cNvGrpSpPr/>
          <p:nvPr/>
        </p:nvGrpSpPr>
        <p:grpSpPr>
          <a:xfrm rot="-5400000">
            <a:off x="8670312" y="-8672208"/>
            <a:ext cx="947356" cy="18291715"/>
            <a:chOff x="0" y="0"/>
            <a:chExt cx="1263142" cy="24388953"/>
          </a:xfrm>
        </p:grpSpPr>
        <p:sp>
          <p:nvSpPr>
            <p:cNvPr id="7" name="Freeform 7"/>
            <p:cNvSpPr/>
            <p:nvPr/>
          </p:nvSpPr>
          <p:spPr>
            <a:xfrm flipH="1">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blipFill>
              <a:blip r:embed="rId2"/>
              <a:stretch>
                <a:fillRect l="-35092" r="-35091"/>
              </a:stretch>
            </a:blipFill>
          </p:spPr>
          <p:txBody>
            <a:bodyPr/>
            <a:lstStyle/>
            <a:p>
              <a:endParaRPr lang="en-US"/>
            </a:p>
          </p:txBody>
        </p:sp>
      </p:grpSp>
      <p:sp>
        <p:nvSpPr>
          <p:cNvPr id="8" name="TextBox 8"/>
          <p:cNvSpPr txBox="1"/>
          <p:nvPr/>
        </p:nvSpPr>
        <p:spPr>
          <a:xfrm>
            <a:off x="428996" y="227362"/>
            <a:ext cx="10993288" cy="456571"/>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9" name="Group 9"/>
          <p:cNvGrpSpPr/>
          <p:nvPr/>
        </p:nvGrpSpPr>
        <p:grpSpPr>
          <a:xfrm>
            <a:off x="6719983" y="457933"/>
            <a:ext cx="4848130" cy="958024"/>
            <a:chOff x="0" y="0"/>
            <a:chExt cx="6464173" cy="1277366"/>
          </a:xfrm>
        </p:grpSpPr>
        <p:sp>
          <p:nvSpPr>
            <p:cNvPr id="10" name="Freeform 10"/>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2700000"/>
            </a:gradFill>
          </p:spPr>
          <p:txBody>
            <a:bodyPr/>
            <a:lstStyle/>
            <a:p>
              <a:endParaRPr lang="en-US"/>
            </a:p>
          </p:txBody>
        </p:sp>
      </p:grpSp>
      <p:grpSp>
        <p:nvGrpSpPr>
          <p:cNvPr id="11" name="Group 11"/>
          <p:cNvGrpSpPr/>
          <p:nvPr/>
        </p:nvGrpSpPr>
        <p:grpSpPr>
          <a:xfrm>
            <a:off x="6807460" y="535972"/>
            <a:ext cx="4673060" cy="801815"/>
            <a:chOff x="0" y="0"/>
            <a:chExt cx="6230747" cy="1069086"/>
          </a:xfrm>
        </p:grpSpPr>
        <p:sp>
          <p:nvSpPr>
            <p:cNvPr id="12" name="Freeform 12"/>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en-US"/>
            </a:p>
          </p:txBody>
        </p:sp>
      </p:grpSp>
      <p:grpSp>
        <p:nvGrpSpPr>
          <p:cNvPr id="13" name="Group 13"/>
          <p:cNvGrpSpPr/>
          <p:nvPr/>
        </p:nvGrpSpPr>
        <p:grpSpPr>
          <a:xfrm>
            <a:off x="9436446" y="362541"/>
            <a:ext cx="1163288" cy="1152620"/>
            <a:chOff x="0" y="0"/>
            <a:chExt cx="1551051" cy="1536827"/>
          </a:xfrm>
        </p:grpSpPr>
        <p:sp>
          <p:nvSpPr>
            <p:cNvPr id="14" name="Freeform 14"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211" r="-210"/>
              </a:stretch>
            </a:blipFill>
          </p:spPr>
          <p:txBody>
            <a:bodyPr/>
            <a:lstStyle/>
            <a:p>
              <a:endParaRPr lang="en-US"/>
            </a:p>
          </p:txBody>
        </p:sp>
      </p:grpSp>
      <p:grpSp>
        <p:nvGrpSpPr>
          <p:cNvPr id="15" name="Group 15"/>
          <p:cNvGrpSpPr/>
          <p:nvPr/>
        </p:nvGrpSpPr>
        <p:grpSpPr>
          <a:xfrm>
            <a:off x="7688247" y="398078"/>
            <a:ext cx="1307497" cy="1081564"/>
            <a:chOff x="0" y="0"/>
            <a:chExt cx="1743329" cy="1442085"/>
          </a:xfrm>
        </p:grpSpPr>
        <p:sp>
          <p:nvSpPr>
            <p:cNvPr id="16" name="Freeform 16"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l="-38" r="-37"/>
              </a:stretch>
            </a:blipFill>
          </p:spPr>
          <p:txBody>
            <a:bodyPr/>
            <a:lstStyle/>
            <a:p>
              <a:endParaRPr lang="en-US"/>
            </a:p>
          </p:txBody>
        </p:sp>
      </p:grpSp>
      <p:grpSp>
        <p:nvGrpSpPr>
          <p:cNvPr id="17" name="Group 17"/>
          <p:cNvGrpSpPr/>
          <p:nvPr/>
        </p:nvGrpSpPr>
        <p:grpSpPr>
          <a:xfrm>
            <a:off x="908999" y="1555147"/>
            <a:ext cx="16470001" cy="1335996"/>
            <a:chOff x="0" y="0"/>
            <a:chExt cx="21960002" cy="1781327"/>
          </a:xfrm>
        </p:grpSpPr>
        <p:sp>
          <p:nvSpPr>
            <p:cNvPr id="18" name="Freeform 18"/>
            <p:cNvSpPr/>
            <p:nvPr/>
          </p:nvSpPr>
          <p:spPr>
            <a:xfrm>
              <a:off x="0" y="0"/>
              <a:ext cx="21959951" cy="1781302"/>
            </a:xfrm>
            <a:custGeom>
              <a:avLst/>
              <a:gdLst/>
              <a:ahLst/>
              <a:cxnLst/>
              <a:rect l="l" t="t" r="r" b="b"/>
              <a:pathLst>
                <a:path w="21959951" h="1781302">
                  <a:moveTo>
                    <a:pt x="0" y="0"/>
                  </a:moveTo>
                  <a:lnTo>
                    <a:pt x="21959951" y="0"/>
                  </a:lnTo>
                  <a:lnTo>
                    <a:pt x="21959951" y="1781302"/>
                  </a:lnTo>
                  <a:lnTo>
                    <a:pt x="0" y="1781302"/>
                  </a:lnTo>
                  <a:close/>
                </a:path>
              </a:pathLst>
            </a:custGeom>
            <a:blipFill>
              <a:blip r:embed="rId5">
                <a:alphaModFix amt="0"/>
              </a:blip>
              <a:stretch>
                <a:fillRect t="-190044" b="-190046"/>
              </a:stretch>
            </a:blipFill>
          </p:spPr>
          <p:txBody>
            <a:bodyPr/>
            <a:lstStyle/>
            <a:p>
              <a:endParaRPr lang="en-US"/>
            </a:p>
          </p:txBody>
        </p:sp>
      </p:grpSp>
      <p:grpSp>
        <p:nvGrpSpPr>
          <p:cNvPr id="19" name="Group 19"/>
          <p:cNvGrpSpPr/>
          <p:nvPr/>
        </p:nvGrpSpPr>
        <p:grpSpPr>
          <a:xfrm>
            <a:off x="908999" y="1576578"/>
            <a:ext cx="16470001" cy="1314563"/>
            <a:chOff x="0" y="0"/>
            <a:chExt cx="21960002" cy="1752750"/>
          </a:xfrm>
        </p:grpSpPr>
        <p:sp>
          <p:nvSpPr>
            <p:cNvPr id="20" name="Freeform 20"/>
            <p:cNvSpPr/>
            <p:nvPr/>
          </p:nvSpPr>
          <p:spPr>
            <a:xfrm>
              <a:off x="0" y="0"/>
              <a:ext cx="21960001" cy="1752748"/>
            </a:xfrm>
            <a:custGeom>
              <a:avLst/>
              <a:gdLst/>
              <a:ahLst/>
              <a:cxnLst/>
              <a:rect l="l" t="t" r="r" b="b"/>
              <a:pathLst>
                <a:path w="21960001" h="1752748">
                  <a:moveTo>
                    <a:pt x="0" y="0"/>
                  </a:moveTo>
                  <a:lnTo>
                    <a:pt x="21960001" y="0"/>
                  </a:lnTo>
                  <a:lnTo>
                    <a:pt x="21960001" y="1752748"/>
                  </a:lnTo>
                  <a:lnTo>
                    <a:pt x="0" y="1752748"/>
                  </a:lnTo>
                  <a:close/>
                </a:path>
              </a:pathLst>
            </a:custGeom>
            <a:blipFill>
              <a:blip r:embed="rId6">
                <a:alphaModFix amt="0"/>
              </a:blip>
              <a:stretch>
                <a:fillRect t="-194125" b="-194126"/>
              </a:stretch>
            </a:blipFill>
          </p:spPr>
          <p:txBody>
            <a:bodyPr/>
            <a:lstStyle/>
            <a:p>
              <a:endParaRPr lang="en-US"/>
            </a:p>
          </p:txBody>
        </p:sp>
        <p:sp>
          <p:nvSpPr>
            <p:cNvPr id="21" name="TextBox 21"/>
            <p:cNvSpPr txBox="1"/>
            <p:nvPr/>
          </p:nvSpPr>
          <p:spPr>
            <a:xfrm>
              <a:off x="0" y="28575"/>
              <a:ext cx="21960002" cy="1724175"/>
            </a:xfrm>
            <a:prstGeom prst="rect">
              <a:avLst/>
            </a:prstGeom>
          </p:spPr>
          <p:txBody>
            <a:bodyPr lIns="0" tIns="0" rIns="0" bIns="0" rtlCol="0" anchor="ctr"/>
            <a:lstStyle/>
            <a:p>
              <a:pPr algn="l">
                <a:lnSpc>
                  <a:spcPts val="6048"/>
                </a:lnSpc>
              </a:pPr>
              <a:r>
                <a:rPr lang="en-US" sz="5599" b="1">
                  <a:solidFill>
                    <a:srgbClr val="017058"/>
                  </a:solidFill>
                  <a:latin typeface="Times New Roman Bold"/>
                  <a:ea typeface="Times New Roman Bold"/>
                  <a:cs typeface="Times New Roman Bold"/>
                  <a:sym typeface="Times New Roman Bold"/>
                </a:rPr>
                <a:t>7. Kết luận </a:t>
              </a:r>
            </a:p>
          </p:txBody>
        </p:sp>
      </p:grpSp>
      <p:sp>
        <p:nvSpPr>
          <p:cNvPr id="22" name="TextBox 22"/>
          <p:cNvSpPr txBox="1"/>
          <p:nvPr/>
        </p:nvSpPr>
        <p:spPr>
          <a:xfrm>
            <a:off x="68570" y="-2318490"/>
            <a:ext cx="18150850" cy="569719"/>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sp>
        <p:nvSpPr>
          <p:cNvPr id="23" name="TextBox 23"/>
          <p:cNvSpPr txBox="1"/>
          <p:nvPr/>
        </p:nvSpPr>
        <p:spPr>
          <a:xfrm>
            <a:off x="1070182" y="2637272"/>
            <a:ext cx="9313332" cy="584835"/>
          </a:xfrm>
          <a:prstGeom prst="rect">
            <a:avLst/>
          </a:prstGeom>
        </p:spPr>
        <p:txBody>
          <a:bodyPr lIns="0" tIns="0" rIns="0" bIns="0" rtlCol="0" anchor="t">
            <a:spAutoFit/>
          </a:bodyPr>
          <a:lstStyle/>
          <a:p>
            <a:pPr algn="l">
              <a:lnSpc>
                <a:spcPts val="4320"/>
              </a:lnSpc>
            </a:pPr>
            <a:r>
              <a:rPr lang="en-US" sz="4000" b="1">
                <a:solidFill>
                  <a:srgbClr val="017058"/>
                </a:solidFill>
                <a:latin typeface="Times New Roman Bold"/>
                <a:ea typeface="Times New Roman Bold"/>
                <a:cs typeface="Times New Roman Bold"/>
                <a:sym typeface="Times New Roman Bold"/>
              </a:rPr>
              <a:t>7.2 Hướng phát triển  </a:t>
            </a:r>
          </a:p>
        </p:txBody>
      </p:sp>
      <p:sp>
        <p:nvSpPr>
          <p:cNvPr id="24" name="TextBox 24"/>
          <p:cNvSpPr txBox="1"/>
          <p:nvPr/>
        </p:nvSpPr>
        <p:spPr>
          <a:xfrm>
            <a:off x="17447714" y="9144000"/>
            <a:ext cx="508635" cy="1114425"/>
          </a:xfrm>
          <a:prstGeom prst="rect">
            <a:avLst/>
          </a:prstGeom>
        </p:spPr>
        <p:txBody>
          <a:bodyPr lIns="0" tIns="0" rIns="0" bIns="0" rtlCol="0" anchor="t">
            <a:spAutoFit/>
          </a:bodyPr>
          <a:lstStyle/>
          <a:p>
            <a:pPr algn="ctr">
              <a:lnSpc>
                <a:spcPts val="4320"/>
              </a:lnSpc>
            </a:pPr>
            <a:r>
              <a:rPr lang="en-US" sz="3600">
                <a:solidFill>
                  <a:srgbClr val="000000"/>
                </a:solidFill>
                <a:latin typeface="Arial"/>
                <a:ea typeface="Arial"/>
                <a:cs typeface="Arial"/>
                <a:sym typeface="Arial"/>
              </a:rPr>
              <a:t>32</a:t>
            </a:r>
          </a:p>
          <a:p>
            <a:pPr algn="ctr">
              <a:lnSpc>
                <a:spcPts val="4320"/>
              </a:lnSpc>
            </a:pPr>
            <a:endParaRPr lang="en-US" sz="3600">
              <a:solidFill>
                <a:srgbClr val="000000"/>
              </a:solidFill>
              <a:latin typeface="Arial"/>
              <a:ea typeface="Arial"/>
              <a:cs typeface="Arial"/>
              <a:sym typeface="Arial"/>
            </a:endParaRPr>
          </a:p>
        </p:txBody>
      </p:sp>
      <p:sp>
        <p:nvSpPr>
          <p:cNvPr id="25" name="TextBox 25"/>
          <p:cNvSpPr txBox="1"/>
          <p:nvPr/>
        </p:nvSpPr>
        <p:spPr>
          <a:xfrm>
            <a:off x="1916948" y="4098407"/>
            <a:ext cx="14157590" cy="3219450"/>
          </a:xfrm>
          <a:prstGeom prst="rect">
            <a:avLst/>
          </a:prstGeom>
        </p:spPr>
        <p:txBody>
          <a:bodyPr lIns="0" tIns="0" rIns="0" bIns="0" rtlCol="0" anchor="t">
            <a:spAutoFit/>
          </a:bodyPr>
          <a:lstStyle/>
          <a:p>
            <a:pPr marL="647700" lvl="1" indent="-323850" algn="l">
              <a:lnSpc>
                <a:spcPts val="3600"/>
              </a:lnSpc>
              <a:spcBef>
                <a:spcPct val="0"/>
              </a:spcBef>
              <a:buFont typeface="Arial"/>
              <a:buChar char="•"/>
            </a:pPr>
            <a:r>
              <a:rPr lang="en-US" sz="3000">
                <a:solidFill>
                  <a:srgbClr val="000000"/>
                </a:solidFill>
                <a:latin typeface="Arial"/>
                <a:ea typeface="Arial"/>
                <a:cs typeface="Arial"/>
                <a:sym typeface="Arial"/>
              </a:rPr>
              <a:t>Trong tương lai, đồ án có thể mở rộng hỗ trợ độ dài khóa 2048-bit hoặc 4096-bit để đáp ứng các tiêu chuẩn bảo mật cao hơn. </a:t>
            </a:r>
          </a:p>
          <a:p>
            <a:pPr algn="l">
              <a:lnSpc>
                <a:spcPts val="3600"/>
              </a:lnSpc>
              <a:spcBef>
                <a:spcPct val="0"/>
              </a:spcBef>
            </a:pPr>
            <a:endParaRPr lang="en-US" sz="3000">
              <a:solidFill>
                <a:srgbClr val="000000"/>
              </a:solidFill>
              <a:latin typeface="Arial"/>
              <a:ea typeface="Arial"/>
              <a:cs typeface="Arial"/>
              <a:sym typeface="Arial"/>
            </a:endParaRPr>
          </a:p>
          <a:p>
            <a:pPr marL="647700" lvl="1" indent="-323850" algn="l">
              <a:lnSpc>
                <a:spcPts val="3600"/>
              </a:lnSpc>
              <a:spcBef>
                <a:spcPct val="0"/>
              </a:spcBef>
              <a:buFont typeface="Arial"/>
              <a:buChar char="•"/>
            </a:pPr>
            <a:r>
              <a:rPr lang="en-US" sz="3000">
                <a:solidFill>
                  <a:srgbClr val="000000"/>
                </a:solidFill>
                <a:latin typeface="Arial"/>
                <a:ea typeface="Arial"/>
                <a:cs typeface="Arial"/>
                <a:sym typeface="Arial"/>
              </a:rPr>
              <a:t>Việc áp dụng kiến trúc Pipeline vào khối nhân Montgomery sẽ giúp cải thiện tần số hoạt động (Fmax) và thông lượng hệ thống. </a:t>
            </a:r>
          </a:p>
          <a:p>
            <a:pPr algn="l">
              <a:lnSpc>
                <a:spcPts val="3600"/>
              </a:lnSpc>
              <a:spcBef>
                <a:spcPct val="0"/>
              </a:spcBef>
            </a:pPr>
            <a:endParaRPr lang="en-US" sz="3000">
              <a:solidFill>
                <a:srgbClr val="000000"/>
              </a:solidFill>
              <a:latin typeface="Arial"/>
              <a:ea typeface="Arial"/>
              <a:cs typeface="Arial"/>
              <a:sym typeface="Arial"/>
            </a:endParaRPr>
          </a:p>
          <a:p>
            <a:pPr marL="647700" lvl="1" indent="-323850" algn="l">
              <a:lnSpc>
                <a:spcPts val="3600"/>
              </a:lnSpc>
              <a:spcBef>
                <a:spcPct val="0"/>
              </a:spcBef>
              <a:buFont typeface="Arial"/>
              <a:buChar char="•"/>
            </a:pPr>
            <a:r>
              <a:rPr lang="en-US" sz="3000">
                <a:solidFill>
                  <a:srgbClr val="000000"/>
                </a:solidFill>
                <a:latin typeface="Arial"/>
                <a:ea typeface="Arial"/>
                <a:cs typeface="Arial"/>
                <a:sym typeface="Arial"/>
              </a:rPr>
              <a:t>Tham khảo các phương pháp để có thể tối ưu hóa được diện tích của hệ thống.</a:t>
            </a:r>
          </a:p>
        </p:txBody>
      </p:sp>
      <p:grpSp>
        <p:nvGrpSpPr>
          <p:cNvPr id="26" name="Group 26"/>
          <p:cNvGrpSpPr/>
          <p:nvPr/>
        </p:nvGrpSpPr>
        <p:grpSpPr>
          <a:xfrm>
            <a:off x="152400" y="154524"/>
            <a:ext cx="18291715" cy="10295477"/>
            <a:chOff x="0" y="0"/>
            <a:chExt cx="24388953" cy="13727303"/>
          </a:xfrm>
        </p:grpSpPr>
        <p:sp>
          <p:nvSpPr>
            <p:cNvPr id="27" name="Freeform 27"/>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70" y="-2318490"/>
            <a:ext cx="18150850" cy="569719"/>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grpSp>
        <p:nvGrpSpPr>
          <p:cNvPr id="3" name="Group 3"/>
          <p:cNvGrpSpPr/>
          <p:nvPr/>
        </p:nvGrpSpPr>
        <p:grpSpPr>
          <a:xfrm>
            <a:off x="0" y="2124"/>
            <a:ext cx="18291715" cy="10295477"/>
            <a:chOff x="0" y="0"/>
            <a:chExt cx="24388953" cy="13727303"/>
          </a:xfrm>
        </p:grpSpPr>
        <p:sp>
          <p:nvSpPr>
            <p:cNvPr id="4" name="Freeform 4"/>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5" name="Group 5"/>
          <p:cNvGrpSpPr/>
          <p:nvPr/>
        </p:nvGrpSpPr>
        <p:grpSpPr>
          <a:xfrm>
            <a:off x="-36214" y="0"/>
            <a:ext cx="6084570" cy="10287000"/>
            <a:chOff x="0" y="0"/>
            <a:chExt cx="8112760" cy="13716000"/>
          </a:xfrm>
        </p:grpSpPr>
        <p:sp>
          <p:nvSpPr>
            <p:cNvPr id="6" name="Freeform 6"/>
            <p:cNvSpPr/>
            <p:nvPr/>
          </p:nvSpPr>
          <p:spPr>
            <a:xfrm>
              <a:off x="0" y="0"/>
              <a:ext cx="8112760" cy="13716000"/>
            </a:xfrm>
            <a:custGeom>
              <a:avLst/>
              <a:gdLst/>
              <a:ahLst/>
              <a:cxnLst/>
              <a:rect l="l" t="t" r="r" b="b"/>
              <a:pathLst>
                <a:path w="8112760" h="13716000">
                  <a:moveTo>
                    <a:pt x="0" y="0"/>
                  </a:moveTo>
                  <a:lnTo>
                    <a:pt x="8112760" y="0"/>
                  </a:lnTo>
                  <a:lnTo>
                    <a:pt x="8112760" y="13716000"/>
                  </a:lnTo>
                  <a:lnTo>
                    <a:pt x="0" y="13716000"/>
                  </a:lnTo>
                  <a:close/>
                </a:path>
              </a:pathLst>
            </a:custGeom>
            <a:gradFill rotWithShape="1">
              <a:gsLst>
                <a:gs pos="0">
                  <a:srgbClr val="38EF7D">
                    <a:alpha val="100000"/>
                  </a:srgbClr>
                </a:gs>
                <a:gs pos="100000">
                  <a:srgbClr val="11998E">
                    <a:alpha val="100000"/>
                  </a:srgbClr>
                </a:gs>
              </a:gsLst>
              <a:lin ang="5400000"/>
            </a:gradFill>
          </p:spPr>
          <p:txBody>
            <a:bodyPr/>
            <a:lstStyle/>
            <a:p>
              <a:endParaRPr lang="en-US"/>
            </a:p>
          </p:txBody>
        </p:sp>
      </p:grpSp>
      <p:grpSp>
        <p:nvGrpSpPr>
          <p:cNvPr id="7" name="Group 7"/>
          <p:cNvGrpSpPr/>
          <p:nvPr/>
        </p:nvGrpSpPr>
        <p:grpSpPr>
          <a:xfrm rot="-10800000">
            <a:off x="-46892" y="0"/>
            <a:ext cx="2707196" cy="10287000"/>
            <a:chOff x="0" y="0"/>
            <a:chExt cx="3609594" cy="13716000"/>
          </a:xfrm>
        </p:grpSpPr>
        <p:sp>
          <p:nvSpPr>
            <p:cNvPr id="8" name="Freeform 8"/>
            <p:cNvSpPr/>
            <p:nvPr/>
          </p:nvSpPr>
          <p:spPr>
            <a:xfrm flipH="1">
              <a:off x="0" y="0"/>
              <a:ext cx="3609594" cy="13716000"/>
            </a:xfrm>
            <a:custGeom>
              <a:avLst/>
              <a:gdLst/>
              <a:ahLst/>
              <a:cxnLst/>
              <a:rect l="l" t="t" r="r" b="b"/>
              <a:pathLst>
                <a:path w="3609594" h="13716000">
                  <a:moveTo>
                    <a:pt x="0" y="0"/>
                  </a:moveTo>
                  <a:lnTo>
                    <a:pt x="3609594" y="0"/>
                  </a:lnTo>
                  <a:lnTo>
                    <a:pt x="3609594" y="13716000"/>
                  </a:lnTo>
                  <a:lnTo>
                    <a:pt x="0" y="13716000"/>
                  </a:lnTo>
                  <a:close/>
                </a:path>
              </a:pathLst>
            </a:custGeom>
            <a:blipFill>
              <a:blip r:embed="rId2"/>
              <a:stretch>
                <a:fillRect l="-2907" r="-2907"/>
              </a:stretch>
            </a:blipFill>
          </p:spPr>
          <p:txBody>
            <a:bodyPr/>
            <a:lstStyle/>
            <a:p>
              <a:endParaRPr lang="en-US"/>
            </a:p>
          </p:txBody>
        </p:sp>
      </p:grpSp>
      <p:sp>
        <p:nvSpPr>
          <p:cNvPr id="9" name="TextBox 9"/>
          <p:cNvSpPr txBox="1"/>
          <p:nvPr/>
        </p:nvSpPr>
        <p:spPr>
          <a:xfrm rot="-5400000">
            <a:off x="-2642312" y="6723250"/>
            <a:ext cx="6122451" cy="458333"/>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10" name="Group 10"/>
          <p:cNvGrpSpPr/>
          <p:nvPr/>
        </p:nvGrpSpPr>
        <p:grpSpPr>
          <a:xfrm>
            <a:off x="6719983" y="293303"/>
            <a:ext cx="4848130" cy="958024"/>
            <a:chOff x="0" y="0"/>
            <a:chExt cx="6464173" cy="1277366"/>
          </a:xfrm>
        </p:grpSpPr>
        <p:sp>
          <p:nvSpPr>
            <p:cNvPr id="11" name="Freeform 11"/>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2700000"/>
            </a:gradFill>
          </p:spPr>
          <p:txBody>
            <a:bodyPr/>
            <a:lstStyle/>
            <a:p>
              <a:endParaRPr lang="en-US"/>
            </a:p>
          </p:txBody>
        </p:sp>
      </p:grpSp>
      <p:grpSp>
        <p:nvGrpSpPr>
          <p:cNvPr id="12" name="Group 12"/>
          <p:cNvGrpSpPr/>
          <p:nvPr/>
        </p:nvGrpSpPr>
        <p:grpSpPr>
          <a:xfrm>
            <a:off x="6807460" y="371332"/>
            <a:ext cx="4673060" cy="801815"/>
            <a:chOff x="0" y="0"/>
            <a:chExt cx="6230747" cy="1069086"/>
          </a:xfrm>
        </p:grpSpPr>
        <p:sp>
          <p:nvSpPr>
            <p:cNvPr id="13" name="Freeform 13"/>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en-US"/>
            </a:p>
          </p:txBody>
        </p:sp>
      </p:grpSp>
      <p:grpSp>
        <p:nvGrpSpPr>
          <p:cNvPr id="14" name="Group 14"/>
          <p:cNvGrpSpPr/>
          <p:nvPr/>
        </p:nvGrpSpPr>
        <p:grpSpPr>
          <a:xfrm>
            <a:off x="9436446" y="197910"/>
            <a:ext cx="1163288" cy="1152620"/>
            <a:chOff x="0" y="0"/>
            <a:chExt cx="1551051" cy="1536827"/>
          </a:xfrm>
        </p:grpSpPr>
        <p:sp>
          <p:nvSpPr>
            <p:cNvPr id="15" name="Freeform 15"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211" r="-210"/>
              </a:stretch>
            </a:blipFill>
          </p:spPr>
          <p:txBody>
            <a:bodyPr/>
            <a:lstStyle/>
            <a:p>
              <a:endParaRPr lang="en-US"/>
            </a:p>
          </p:txBody>
        </p:sp>
      </p:grpSp>
      <p:grpSp>
        <p:nvGrpSpPr>
          <p:cNvPr id="16" name="Group 16"/>
          <p:cNvGrpSpPr/>
          <p:nvPr/>
        </p:nvGrpSpPr>
        <p:grpSpPr>
          <a:xfrm>
            <a:off x="7688247" y="233439"/>
            <a:ext cx="1307497" cy="1081564"/>
            <a:chOff x="0" y="0"/>
            <a:chExt cx="1743329" cy="1442085"/>
          </a:xfrm>
        </p:grpSpPr>
        <p:sp>
          <p:nvSpPr>
            <p:cNvPr id="17" name="Freeform 17"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l="-38" r="-37"/>
              </a:stretch>
            </a:blipFill>
          </p:spPr>
          <p:txBody>
            <a:bodyPr/>
            <a:lstStyle/>
            <a:p>
              <a:endParaRPr lang="en-US"/>
            </a:p>
          </p:txBody>
        </p:sp>
      </p:grpSp>
      <p:grpSp>
        <p:nvGrpSpPr>
          <p:cNvPr id="18" name="Group 18"/>
          <p:cNvGrpSpPr/>
          <p:nvPr/>
        </p:nvGrpSpPr>
        <p:grpSpPr>
          <a:xfrm>
            <a:off x="17262338" y="364607"/>
            <a:ext cx="819150" cy="819150"/>
            <a:chOff x="0" y="0"/>
            <a:chExt cx="1092200" cy="1092200"/>
          </a:xfrm>
        </p:grpSpPr>
        <p:sp>
          <p:nvSpPr>
            <p:cNvPr id="19" name="Freeform 19"/>
            <p:cNvSpPr/>
            <p:nvPr/>
          </p:nvSpPr>
          <p:spPr>
            <a:xfrm>
              <a:off x="0" y="0"/>
              <a:ext cx="1092200" cy="1092200"/>
            </a:xfrm>
            <a:custGeom>
              <a:avLst/>
              <a:gdLst/>
              <a:ahLst/>
              <a:cxnLst/>
              <a:rect l="l" t="t" r="r" b="b"/>
              <a:pathLst>
                <a:path w="1092200" h="1092200">
                  <a:moveTo>
                    <a:pt x="0" y="546100"/>
                  </a:moveTo>
                  <a:cubicBezTo>
                    <a:pt x="0" y="244475"/>
                    <a:pt x="244475" y="0"/>
                    <a:pt x="546100" y="0"/>
                  </a:cubicBezTo>
                  <a:cubicBezTo>
                    <a:pt x="847725" y="0"/>
                    <a:pt x="1092200" y="244475"/>
                    <a:pt x="1092200" y="546100"/>
                  </a:cubicBezTo>
                  <a:cubicBezTo>
                    <a:pt x="1092200" y="847725"/>
                    <a:pt x="847725" y="1092200"/>
                    <a:pt x="546100" y="1092200"/>
                  </a:cubicBezTo>
                  <a:cubicBezTo>
                    <a:pt x="244475" y="1092200"/>
                    <a:pt x="0" y="847725"/>
                    <a:pt x="0" y="546100"/>
                  </a:cubicBezTo>
                  <a:close/>
                </a:path>
              </a:pathLst>
            </a:custGeom>
            <a:gradFill rotWithShape="1">
              <a:gsLst>
                <a:gs pos="0">
                  <a:srgbClr val="38EF7D">
                    <a:alpha val="65098"/>
                  </a:srgbClr>
                </a:gs>
                <a:gs pos="100000">
                  <a:srgbClr val="11998E">
                    <a:alpha val="64705"/>
                  </a:srgbClr>
                </a:gs>
              </a:gsLst>
              <a:lin ang="2700000"/>
            </a:gradFill>
          </p:spPr>
          <p:txBody>
            <a:bodyPr/>
            <a:lstStyle/>
            <a:p>
              <a:endParaRPr lang="en-US"/>
            </a:p>
          </p:txBody>
        </p:sp>
      </p:grpSp>
      <p:grpSp>
        <p:nvGrpSpPr>
          <p:cNvPr id="20" name="Group 20"/>
          <p:cNvGrpSpPr/>
          <p:nvPr/>
        </p:nvGrpSpPr>
        <p:grpSpPr>
          <a:xfrm>
            <a:off x="17486462" y="588731"/>
            <a:ext cx="370999" cy="370999"/>
            <a:chOff x="0" y="0"/>
            <a:chExt cx="494665" cy="494665"/>
          </a:xfrm>
        </p:grpSpPr>
        <p:sp>
          <p:nvSpPr>
            <p:cNvPr id="21" name="Freeform 21"/>
            <p:cNvSpPr/>
            <p:nvPr/>
          </p:nvSpPr>
          <p:spPr>
            <a:xfrm>
              <a:off x="0" y="0"/>
              <a:ext cx="494665" cy="494665"/>
            </a:xfrm>
            <a:custGeom>
              <a:avLst/>
              <a:gdLst/>
              <a:ahLst/>
              <a:cxnLst/>
              <a:rect l="l" t="t" r="r" b="b"/>
              <a:pathLst>
                <a:path w="494665" h="494665">
                  <a:moveTo>
                    <a:pt x="0" y="247269"/>
                  </a:moveTo>
                  <a:cubicBezTo>
                    <a:pt x="0" y="110744"/>
                    <a:pt x="110744" y="0"/>
                    <a:pt x="247269" y="0"/>
                  </a:cubicBezTo>
                  <a:cubicBezTo>
                    <a:pt x="383794" y="0"/>
                    <a:pt x="494665" y="110744"/>
                    <a:pt x="494665" y="247269"/>
                  </a:cubicBezTo>
                  <a:cubicBezTo>
                    <a:pt x="494665" y="383794"/>
                    <a:pt x="383921" y="494665"/>
                    <a:pt x="247269" y="494665"/>
                  </a:cubicBezTo>
                  <a:cubicBezTo>
                    <a:pt x="110617" y="494665"/>
                    <a:pt x="0" y="383921"/>
                    <a:pt x="0" y="247269"/>
                  </a:cubicBezTo>
                  <a:close/>
                </a:path>
              </a:pathLst>
            </a:custGeom>
            <a:gradFill rotWithShape="1">
              <a:gsLst>
                <a:gs pos="0">
                  <a:srgbClr val="38EF7D">
                    <a:alpha val="65098"/>
                  </a:srgbClr>
                </a:gs>
                <a:gs pos="100000">
                  <a:srgbClr val="11998E">
                    <a:alpha val="64705"/>
                  </a:srgbClr>
                </a:gs>
              </a:gsLst>
              <a:lin ang="2700000"/>
            </a:gradFill>
          </p:spPr>
          <p:txBody>
            <a:bodyPr/>
            <a:lstStyle/>
            <a:p>
              <a:endParaRPr lang="en-US"/>
            </a:p>
          </p:txBody>
        </p:sp>
      </p:grpSp>
      <p:grpSp>
        <p:nvGrpSpPr>
          <p:cNvPr id="22" name="Group 22"/>
          <p:cNvGrpSpPr/>
          <p:nvPr/>
        </p:nvGrpSpPr>
        <p:grpSpPr>
          <a:xfrm>
            <a:off x="1705232" y="2175643"/>
            <a:ext cx="15316010" cy="6434518"/>
            <a:chOff x="0" y="0"/>
            <a:chExt cx="20421346" cy="8579358"/>
          </a:xfrm>
        </p:grpSpPr>
        <p:sp>
          <p:nvSpPr>
            <p:cNvPr id="23" name="Freeform 23"/>
            <p:cNvSpPr/>
            <p:nvPr/>
          </p:nvSpPr>
          <p:spPr>
            <a:xfrm>
              <a:off x="0" y="0"/>
              <a:ext cx="20421346" cy="8579358"/>
            </a:xfrm>
            <a:custGeom>
              <a:avLst/>
              <a:gdLst/>
              <a:ahLst/>
              <a:cxnLst/>
              <a:rect l="l" t="t" r="r" b="b"/>
              <a:pathLst>
                <a:path w="20421346" h="8579358">
                  <a:moveTo>
                    <a:pt x="0" y="231775"/>
                  </a:moveTo>
                  <a:cubicBezTo>
                    <a:pt x="0" y="103759"/>
                    <a:pt x="103759" y="0"/>
                    <a:pt x="231775" y="0"/>
                  </a:cubicBezTo>
                  <a:lnTo>
                    <a:pt x="20189571" y="0"/>
                  </a:lnTo>
                  <a:cubicBezTo>
                    <a:pt x="20317586" y="0"/>
                    <a:pt x="20421346" y="103759"/>
                    <a:pt x="20421346" y="231775"/>
                  </a:cubicBezTo>
                  <a:lnTo>
                    <a:pt x="20421346" y="8347583"/>
                  </a:lnTo>
                  <a:cubicBezTo>
                    <a:pt x="20421346" y="8475599"/>
                    <a:pt x="20317586" y="8579358"/>
                    <a:pt x="20189571" y="8579358"/>
                  </a:cubicBezTo>
                  <a:lnTo>
                    <a:pt x="231775" y="8579358"/>
                  </a:lnTo>
                  <a:cubicBezTo>
                    <a:pt x="103759" y="8579358"/>
                    <a:pt x="0" y="8475599"/>
                    <a:pt x="0" y="8347583"/>
                  </a:cubicBezTo>
                  <a:close/>
                </a:path>
              </a:pathLst>
            </a:custGeom>
            <a:blipFill>
              <a:blip r:embed="rId5"/>
              <a:stretch>
                <a:fillRect l="-194" r="-194"/>
              </a:stretch>
            </a:blipFill>
          </p:spPr>
          <p:txBody>
            <a:bodyPr/>
            <a:lstStyle/>
            <a:p>
              <a:endParaRPr lang="en-US"/>
            </a:p>
          </p:txBody>
        </p:sp>
      </p:grpSp>
      <p:grpSp>
        <p:nvGrpSpPr>
          <p:cNvPr id="24" name="Group 24"/>
          <p:cNvGrpSpPr/>
          <p:nvPr/>
        </p:nvGrpSpPr>
        <p:grpSpPr>
          <a:xfrm>
            <a:off x="1705232" y="2175643"/>
            <a:ext cx="15316010" cy="6434518"/>
            <a:chOff x="0" y="0"/>
            <a:chExt cx="20421346" cy="8579358"/>
          </a:xfrm>
        </p:grpSpPr>
        <p:sp>
          <p:nvSpPr>
            <p:cNvPr id="25" name="Freeform 25"/>
            <p:cNvSpPr/>
            <p:nvPr/>
          </p:nvSpPr>
          <p:spPr>
            <a:xfrm>
              <a:off x="0" y="0"/>
              <a:ext cx="20421346" cy="8579358"/>
            </a:xfrm>
            <a:custGeom>
              <a:avLst/>
              <a:gdLst/>
              <a:ahLst/>
              <a:cxnLst/>
              <a:rect l="l" t="t" r="r" b="b"/>
              <a:pathLst>
                <a:path w="20421346" h="8579358">
                  <a:moveTo>
                    <a:pt x="0" y="231775"/>
                  </a:moveTo>
                  <a:cubicBezTo>
                    <a:pt x="0" y="103759"/>
                    <a:pt x="103759" y="0"/>
                    <a:pt x="231775" y="0"/>
                  </a:cubicBezTo>
                  <a:lnTo>
                    <a:pt x="20189571" y="0"/>
                  </a:lnTo>
                  <a:cubicBezTo>
                    <a:pt x="20317586" y="0"/>
                    <a:pt x="20421346" y="103759"/>
                    <a:pt x="20421346" y="231775"/>
                  </a:cubicBezTo>
                  <a:lnTo>
                    <a:pt x="20421346" y="8347583"/>
                  </a:lnTo>
                  <a:cubicBezTo>
                    <a:pt x="20421346" y="8475599"/>
                    <a:pt x="20317586" y="8579358"/>
                    <a:pt x="20189571" y="8579358"/>
                  </a:cubicBezTo>
                  <a:lnTo>
                    <a:pt x="231775" y="8579358"/>
                  </a:lnTo>
                  <a:cubicBezTo>
                    <a:pt x="103759" y="8579358"/>
                    <a:pt x="0" y="8475599"/>
                    <a:pt x="0" y="8347583"/>
                  </a:cubicBezTo>
                  <a:close/>
                </a:path>
              </a:pathLst>
            </a:custGeom>
            <a:gradFill rotWithShape="1">
              <a:gsLst>
                <a:gs pos="0">
                  <a:srgbClr val="38EF7D">
                    <a:alpha val="40000"/>
                  </a:srgbClr>
                </a:gs>
                <a:gs pos="100000">
                  <a:srgbClr val="11998E">
                    <a:alpha val="40000"/>
                  </a:srgbClr>
                </a:gs>
              </a:gsLst>
              <a:lin ang="2700000"/>
            </a:gradFill>
          </p:spPr>
          <p:txBody>
            <a:bodyPr/>
            <a:lstStyle/>
            <a:p>
              <a:endParaRPr lang="en-US"/>
            </a:p>
          </p:txBody>
        </p:sp>
      </p:grpSp>
      <p:grpSp>
        <p:nvGrpSpPr>
          <p:cNvPr id="26" name="Group 26"/>
          <p:cNvGrpSpPr/>
          <p:nvPr/>
        </p:nvGrpSpPr>
        <p:grpSpPr>
          <a:xfrm>
            <a:off x="0" y="2124"/>
            <a:ext cx="18291715" cy="10295477"/>
            <a:chOff x="0" y="0"/>
            <a:chExt cx="24388953" cy="13727303"/>
          </a:xfrm>
        </p:grpSpPr>
        <p:sp>
          <p:nvSpPr>
            <p:cNvPr id="27" name="Freeform 27"/>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28" name="Group 28"/>
          <p:cNvGrpSpPr/>
          <p:nvPr/>
        </p:nvGrpSpPr>
        <p:grpSpPr>
          <a:xfrm>
            <a:off x="15614542" y="498424"/>
            <a:ext cx="4114800" cy="547688"/>
            <a:chOff x="0" y="0"/>
            <a:chExt cx="5486400" cy="730250"/>
          </a:xfrm>
        </p:grpSpPr>
        <p:sp>
          <p:nvSpPr>
            <p:cNvPr id="29" name="Freeform 29"/>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6">
                <a:alphaModFix amt="0"/>
              </a:blip>
              <a:stretch>
                <a:fillRect t="-96290" b="-96290"/>
              </a:stretch>
            </a:blipFill>
          </p:spPr>
          <p:txBody>
            <a:bodyPr/>
            <a:lstStyle/>
            <a:p>
              <a:endParaRPr lang="en-US"/>
            </a:p>
          </p:txBody>
        </p:sp>
      </p:grpSp>
      <p:grpSp>
        <p:nvGrpSpPr>
          <p:cNvPr id="30" name="Group 30"/>
          <p:cNvGrpSpPr/>
          <p:nvPr/>
        </p:nvGrpSpPr>
        <p:grpSpPr>
          <a:xfrm>
            <a:off x="15614542" y="484137"/>
            <a:ext cx="4114800" cy="561975"/>
            <a:chOff x="0" y="0"/>
            <a:chExt cx="5486400" cy="749300"/>
          </a:xfrm>
        </p:grpSpPr>
        <p:sp>
          <p:nvSpPr>
            <p:cNvPr id="31" name="Freeform 31"/>
            <p:cNvSpPr/>
            <p:nvPr/>
          </p:nvSpPr>
          <p:spPr>
            <a:xfrm>
              <a:off x="0" y="0"/>
              <a:ext cx="5486400" cy="749301"/>
            </a:xfrm>
            <a:custGeom>
              <a:avLst/>
              <a:gdLst/>
              <a:ahLst/>
              <a:cxnLst/>
              <a:rect l="l" t="t" r="r" b="b"/>
              <a:pathLst>
                <a:path w="5486400" h="749301">
                  <a:moveTo>
                    <a:pt x="0" y="0"/>
                  </a:moveTo>
                  <a:lnTo>
                    <a:pt x="5486400" y="0"/>
                  </a:lnTo>
                  <a:lnTo>
                    <a:pt x="5486400" y="749301"/>
                  </a:lnTo>
                  <a:lnTo>
                    <a:pt x="0" y="749301"/>
                  </a:lnTo>
                  <a:close/>
                </a:path>
              </a:pathLst>
            </a:custGeom>
            <a:blipFill>
              <a:blip r:embed="rId7">
                <a:alphaModFix amt="0"/>
              </a:blip>
              <a:stretch>
                <a:fillRect t="-92670" b="-92669"/>
              </a:stretch>
            </a:blipFill>
          </p:spPr>
          <p:txBody>
            <a:bodyPr/>
            <a:lstStyle/>
            <a:p>
              <a:endParaRPr lang="en-US"/>
            </a:p>
          </p:txBody>
        </p:sp>
        <p:sp>
          <p:nvSpPr>
            <p:cNvPr id="32" name="TextBox 32"/>
            <p:cNvSpPr txBox="1"/>
            <p:nvPr/>
          </p:nvSpPr>
          <p:spPr>
            <a:xfrm>
              <a:off x="0" y="-19050"/>
              <a:ext cx="5486400" cy="768350"/>
            </a:xfrm>
            <a:prstGeom prst="rect">
              <a:avLst/>
            </a:prstGeom>
          </p:spPr>
          <p:txBody>
            <a:bodyPr lIns="0" tIns="0" rIns="0" bIns="0" rtlCol="0" anchor="ctr"/>
            <a:lstStyle/>
            <a:p>
              <a:pPr algn="ctr">
                <a:lnSpc>
                  <a:spcPts val="2160"/>
                </a:lnSpc>
              </a:pPr>
              <a:r>
                <a:rPr lang="en-US" sz="1800">
                  <a:solidFill>
                    <a:srgbClr val="FFFFFF"/>
                  </a:solidFill>
                  <a:latin typeface="Arial"/>
                  <a:ea typeface="Arial"/>
                  <a:cs typeface="Arial"/>
                  <a:sym typeface="Arial"/>
                </a:rPr>
                <a:t>‹#›</a:t>
              </a:r>
            </a:p>
          </p:txBody>
        </p:sp>
      </p:grpSp>
      <p:grpSp>
        <p:nvGrpSpPr>
          <p:cNvPr id="33" name="Group 33"/>
          <p:cNvGrpSpPr/>
          <p:nvPr/>
        </p:nvGrpSpPr>
        <p:grpSpPr>
          <a:xfrm>
            <a:off x="2480043" y="3431010"/>
            <a:ext cx="13766397" cy="2259006"/>
            <a:chOff x="0" y="0"/>
            <a:chExt cx="18355196" cy="3012008"/>
          </a:xfrm>
        </p:grpSpPr>
        <p:sp>
          <p:nvSpPr>
            <p:cNvPr id="34" name="Freeform 34"/>
            <p:cNvSpPr/>
            <p:nvPr/>
          </p:nvSpPr>
          <p:spPr>
            <a:xfrm>
              <a:off x="0" y="0"/>
              <a:ext cx="18355183" cy="3012059"/>
            </a:xfrm>
            <a:custGeom>
              <a:avLst/>
              <a:gdLst/>
              <a:ahLst/>
              <a:cxnLst/>
              <a:rect l="l" t="t" r="r" b="b"/>
              <a:pathLst>
                <a:path w="18355183" h="3012059">
                  <a:moveTo>
                    <a:pt x="0" y="0"/>
                  </a:moveTo>
                  <a:lnTo>
                    <a:pt x="18355183" y="0"/>
                  </a:lnTo>
                  <a:lnTo>
                    <a:pt x="18355183" y="3012059"/>
                  </a:lnTo>
                  <a:lnTo>
                    <a:pt x="0" y="3012059"/>
                  </a:lnTo>
                  <a:close/>
                </a:path>
              </a:pathLst>
            </a:custGeom>
            <a:blipFill>
              <a:blip r:embed="rId6">
                <a:alphaModFix amt="0"/>
              </a:blip>
              <a:stretch>
                <a:fillRect t="-68658" b="-68656"/>
              </a:stretch>
            </a:blipFill>
          </p:spPr>
          <p:txBody>
            <a:bodyPr/>
            <a:lstStyle/>
            <a:p>
              <a:endParaRPr lang="en-US"/>
            </a:p>
          </p:txBody>
        </p:sp>
      </p:grpSp>
      <p:grpSp>
        <p:nvGrpSpPr>
          <p:cNvPr id="35" name="Group 35"/>
          <p:cNvGrpSpPr/>
          <p:nvPr/>
        </p:nvGrpSpPr>
        <p:grpSpPr>
          <a:xfrm>
            <a:off x="2480043" y="3473872"/>
            <a:ext cx="13766397" cy="2216138"/>
            <a:chOff x="0" y="0"/>
            <a:chExt cx="18355196" cy="2954850"/>
          </a:xfrm>
        </p:grpSpPr>
        <p:sp>
          <p:nvSpPr>
            <p:cNvPr id="36" name="Freeform 36"/>
            <p:cNvSpPr/>
            <p:nvPr/>
          </p:nvSpPr>
          <p:spPr>
            <a:xfrm>
              <a:off x="0" y="0"/>
              <a:ext cx="18355196" cy="2954855"/>
            </a:xfrm>
            <a:custGeom>
              <a:avLst/>
              <a:gdLst/>
              <a:ahLst/>
              <a:cxnLst/>
              <a:rect l="l" t="t" r="r" b="b"/>
              <a:pathLst>
                <a:path w="18355196" h="2954855">
                  <a:moveTo>
                    <a:pt x="0" y="0"/>
                  </a:moveTo>
                  <a:lnTo>
                    <a:pt x="18355196" y="0"/>
                  </a:lnTo>
                  <a:lnTo>
                    <a:pt x="18355196" y="2954855"/>
                  </a:lnTo>
                  <a:lnTo>
                    <a:pt x="0" y="2954855"/>
                  </a:lnTo>
                  <a:close/>
                </a:path>
              </a:pathLst>
            </a:custGeom>
            <a:blipFill>
              <a:blip r:embed="rId7">
                <a:alphaModFix amt="0"/>
              </a:blip>
              <a:stretch>
                <a:fillRect t="-71038" b="-71038"/>
              </a:stretch>
            </a:blipFill>
          </p:spPr>
          <p:txBody>
            <a:bodyPr/>
            <a:lstStyle/>
            <a:p>
              <a:endParaRPr lang="en-US"/>
            </a:p>
          </p:txBody>
        </p:sp>
        <p:sp>
          <p:nvSpPr>
            <p:cNvPr id="37" name="TextBox 37"/>
            <p:cNvSpPr txBox="1"/>
            <p:nvPr/>
          </p:nvSpPr>
          <p:spPr>
            <a:xfrm>
              <a:off x="0" y="57150"/>
              <a:ext cx="18355196" cy="2897700"/>
            </a:xfrm>
            <a:prstGeom prst="rect">
              <a:avLst/>
            </a:prstGeom>
          </p:spPr>
          <p:txBody>
            <a:bodyPr lIns="0" tIns="0" rIns="0" bIns="0" rtlCol="0" anchor="ctr"/>
            <a:lstStyle/>
            <a:p>
              <a:pPr algn="l">
                <a:lnSpc>
                  <a:spcPts val="8856"/>
                </a:lnSpc>
              </a:pPr>
              <a:r>
                <a:rPr lang="en-US" sz="8200" b="1">
                  <a:solidFill>
                    <a:srgbClr val="FFFFFF"/>
                  </a:solidFill>
                  <a:latin typeface="Times New Roman Bold"/>
                  <a:ea typeface="Times New Roman Bold"/>
                  <a:cs typeface="Times New Roman Bold"/>
                  <a:sym typeface="Times New Roman Bold"/>
                </a:rPr>
                <a:t>Tài liệu thiết kế </a:t>
              </a:r>
            </a:p>
          </p:txBody>
        </p:sp>
      </p:grpSp>
      <p:sp>
        <p:nvSpPr>
          <p:cNvPr id="38" name="TextBox 38"/>
          <p:cNvSpPr txBox="1"/>
          <p:nvPr/>
        </p:nvSpPr>
        <p:spPr>
          <a:xfrm>
            <a:off x="2548614" y="1142886"/>
            <a:ext cx="2429709" cy="2481453"/>
          </a:xfrm>
          <a:prstGeom prst="rect">
            <a:avLst/>
          </a:prstGeom>
        </p:spPr>
        <p:txBody>
          <a:bodyPr lIns="0" tIns="0" rIns="0" bIns="0" rtlCol="0" anchor="t">
            <a:spAutoFit/>
          </a:bodyPr>
          <a:lstStyle/>
          <a:p>
            <a:pPr algn="l">
              <a:lnSpc>
                <a:spcPts val="18576"/>
              </a:lnSpc>
            </a:pPr>
            <a:r>
              <a:rPr lang="en-US" sz="17200">
                <a:solidFill>
                  <a:srgbClr val="FFFFFF"/>
                </a:solidFill>
                <a:latin typeface="Arial"/>
                <a:ea typeface="Arial"/>
                <a:cs typeface="Arial"/>
                <a:sym typeface="Arial"/>
              </a:rPr>
              <a:t>08</a:t>
            </a:r>
          </a:p>
        </p:txBody>
      </p:sp>
      <p:sp>
        <p:nvSpPr>
          <p:cNvPr id="39" name="TextBox 39"/>
          <p:cNvSpPr txBox="1"/>
          <p:nvPr/>
        </p:nvSpPr>
        <p:spPr>
          <a:xfrm>
            <a:off x="17486462" y="9172575"/>
            <a:ext cx="536705" cy="1114425"/>
          </a:xfrm>
          <a:prstGeom prst="rect">
            <a:avLst/>
          </a:prstGeom>
        </p:spPr>
        <p:txBody>
          <a:bodyPr lIns="0" tIns="0" rIns="0" bIns="0" rtlCol="0" anchor="t">
            <a:spAutoFit/>
          </a:bodyPr>
          <a:lstStyle/>
          <a:p>
            <a:pPr algn="ctr">
              <a:lnSpc>
                <a:spcPts val="4320"/>
              </a:lnSpc>
            </a:pPr>
            <a:r>
              <a:rPr lang="en-US" sz="3600">
                <a:solidFill>
                  <a:srgbClr val="000000"/>
                </a:solidFill>
                <a:latin typeface="Arial"/>
                <a:ea typeface="Arial"/>
                <a:cs typeface="Arial"/>
                <a:sym typeface="Arial"/>
              </a:rPr>
              <a:t>33</a:t>
            </a:r>
          </a:p>
          <a:p>
            <a:pPr algn="ctr">
              <a:lnSpc>
                <a:spcPts val="4320"/>
              </a:lnSpc>
            </a:pPr>
            <a:endParaRPr lang="en-US" sz="3600">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124"/>
            <a:ext cx="18291715" cy="10295477"/>
            <a:chOff x="0" y="0"/>
            <a:chExt cx="24388953" cy="13727303"/>
          </a:xfrm>
        </p:grpSpPr>
        <p:sp>
          <p:nvSpPr>
            <p:cNvPr id="3" name="Freeform 3"/>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4" name="Group 4"/>
          <p:cNvGrpSpPr/>
          <p:nvPr/>
        </p:nvGrpSpPr>
        <p:grpSpPr>
          <a:xfrm rot="5400000">
            <a:off x="8668464" y="-8670055"/>
            <a:ext cx="947356" cy="18291715"/>
            <a:chOff x="0" y="0"/>
            <a:chExt cx="1263142" cy="24388953"/>
          </a:xfrm>
        </p:grpSpPr>
        <p:sp>
          <p:nvSpPr>
            <p:cNvPr id="5" name="Freeform 5"/>
            <p:cNvSpPr/>
            <p:nvPr/>
          </p:nvSpPr>
          <p:spPr>
            <a:xfrm>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gradFill rotWithShape="1">
              <a:gsLst>
                <a:gs pos="0">
                  <a:srgbClr val="10CC57">
                    <a:alpha val="100000"/>
                  </a:srgbClr>
                </a:gs>
                <a:gs pos="100000">
                  <a:srgbClr val="017058">
                    <a:alpha val="100000"/>
                  </a:srgbClr>
                </a:gs>
              </a:gsLst>
              <a:lin ang="0"/>
            </a:gradFill>
          </p:spPr>
          <p:txBody>
            <a:bodyPr/>
            <a:lstStyle/>
            <a:p>
              <a:endParaRPr lang="en-US"/>
            </a:p>
          </p:txBody>
        </p:sp>
      </p:grpSp>
      <p:grpSp>
        <p:nvGrpSpPr>
          <p:cNvPr id="6" name="Group 6"/>
          <p:cNvGrpSpPr/>
          <p:nvPr/>
        </p:nvGrpSpPr>
        <p:grpSpPr>
          <a:xfrm rot="-5400000">
            <a:off x="8670312" y="-8672208"/>
            <a:ext cx="947356" cy="18291715"/>
            <a:chOff x="0" y="0"/>
            <a:chExt cx="1263142" cy="24388953"/>
          </a:xfrm>
        </p:grpSpPr>
        <p:sp>
          <p:nvSpPr>
            <p:cNvPr id="7" name="Freeform 7"/>
            <p:cNvSpPr/>
            <p:nvPr/>
          </p:nvSpPr>
          <p:spPr>
            <a:xfrm flipH="1">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blipFill>
              <a:blip r:embed="rId2"/>
              <a:stretch>
                <a:fillRect l="-35092" r="-35091"/>
              </a:stretch>
            </a:blipFill>
          </p:spPr>
          <p:txBody>
            <a:bodyPr/>
            <a:lstStyle/>
            <a:p>
              <a:endParaRPr lang="en-US"/>
            </a:p>
          </p:txBody>
        </p:sp>
      </p:grpSp>
      <p:sp>
        <p:nvSpPr>
          <p:cNvPr id="8" name="TextBox 8"/>
          <p:cNvSpPr txBox="1"/>
          <p:nvPr/>
        </p:nvSpPr>
        <p:spPr>
          <a:xfrm>
            <a:off x="428996" y="227362"/>
            <a:ext cx="10993288" cy="456571"/>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9" name="Group 9"/>
          <p:cNvGrpSpPr/>
          <p:nvPr/>
        </p:nvGrpSpPr>
        <p:grpSpPr>
          <a:xfrm>
            <a:off x="6719983" y="457933"/>
            <a:ext cx="4848130" cy="958024"/>
            <a:chOff x="0" y="0"/>
            <a:chExt cx="6464173" cy="1277366"/>
          </a:xfrm>
        </p:grpSpPr>
        <p:sp>
          <p:nvSpPr>
            <p:cNvPr id="10" name="Freeform 10"/>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2700000"/>
            </a:gradFill>
          </p:spPr>
          <p:txBody>
            <a:bodyPr/>
            <a:lstStyle/>
            <a:p>
              <a:endParaRPr lang="en-US"/>
            </a:p>
          </p:txBody>
        </p:sp>
      </p:grpSp>
      <p:grpSp>
        <p:nvGrpSpPr>
          <p:cNvPr id="11" name="Group 11"/>
          <p:cNvGrpSpPr/>
          <p:nvPr/>
        </p:nvGrpSpPr>
        <p:grpSpPr>
          <a:xfrm>
            <a:off x="6807460" y="535972"/>
            <a:ext cx="4673060" cy="801815"/>
            <a:chOff x="0" y="0"/>
            <a:chExt cx="6230747" cy="1069086"/>
          </a:xfrm>
        </p:grpSpPr>
        <p:sp>
          <p:nvSpPr>
            <p:cNvPr id="12" name="Freeform 12"/>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en-US"/>
            </a:p>
          </p:txBody>
        </p:sp>
      </p:grpSp>
      <p:grpSp>
        <p:nvGrpSpPr>
          <p:cNvPr id="13" name="Group 13"/>
          <p:cNvGrpSpPr/>
          <p:nvPr/>
        </p:nvGrpSpPr>
        <p:grpSpPr>
          <a:xfrm>
            <a:off x="9436446" y="362541"/>
            <a:ext cx="1163288" cy="1152620"/>
            <a:chOff x="0" y="0"/>
            <a:chExt cx="1551051" cy="1536827"/>
          </a:xfrm>
        </p:grpSpPr>
        <p:sp>
          <p:nvSpPr>
            <p:cNvPr id="14" name="Freeform 14"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211" r="-210"/>
              </a:stretch>
            </a:blipFill>
          </p:spPr>
          <p:txBody>
            <a:bodyPr/>
            <a:lstStyle/>
            <a:p>
              <a:endParaRPr lang="en-US"/>
            </a:p>
          </p:txBody>
        </p:sp>
      </p:grpSp>
      <p:grpSp>
        <p:nvGrpSpPr>
          <p:cNvPr id="15" name="Group 15"/>
          <p:cNvGrpSpPr/>
          <p:nvPr/>
        </p:nvGrpSpPr>
        <p:grpSpPr>
          <a:xfrm>
            <a:off x="7688247" y="398078"/>
            <a:ext cx="1307497" cy="1081564"/>
            <a:chOff x="0" y="0"/>
            <a:chExt cx="1743329" cy="1442085"/>
          </a:xfrm>
        </p:grpSpPr>
        <p:sp>
          <p:nvSpPr>
            <p:cNvPr id="16" name="Freeform 16"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l="-38" r="-37"/>
              </a:stretch>
            </a:blipFill>
          </p:spPr>
          <p:txBody>
            <a:bodyPr/>
            <a:lstStyle/>
            <a:p>
              <a:endParaRPr lang="en-US"/>
            </a:p>
          </p:txBody>
        </p:sp>
      </p:grpSp>
      <p:grpSp>
        <p:nvGrpSpPr>
          <p:cNvPr id="17" name="Group 17"/>
          <p:cNvGrpSpPr/>
          <p:nvPr/>
        </p:nvGrpSpPr>
        <p:grpSpPr>
          <a:xfrm>
            <a:off x="908999" y="1555147"/>
            <a:ext cx="16470001" cy="1335996"/>
            <a:chOff x="0" y="0"/>
            <a:chExt cx="21960002" cy="1781327"/>
          </a:xfrm>
        </p:grpSpPr>
        <p:sp>
          <p:nvSpPr>
            <p:cNvPr id="18" name="Freeform 18"/>
            <p:cNvSpPr/>
            <p:nvPr/>
          </p:nvSpPr>
          <p:spPr>
            <a:xfrm>
              <a:off x="0" y="0"/>
              <a:ext cx="21959951" cy="1781302"/>
            </a:xfrm>
            <a:custGeom>
              <a:avLst/>
              <a:gdLst/>
              <a:ahLst/>
              <a:cxnLst/>
              <a:rect l="l" t="t" r="r" b="b"/>
              <a:pathLst>
                <a:path w="21959951" h="1781302">
                  <a:moveTo>
                    <a:pt x="0" y="0"/>
                  </a:moveTo>
                  <a:lnTo>
                    <a:pt x="21959951" y="0"/>
                  </a:lnTo>
                  <a:lnTo>
                    <a:pt x="21959951" y="1781302"/>
                  </a:lnTo>
                  <a:lnTo>
                    <a:pt x="0" y="1781302"/>
                  </a:lnTo>
                  <a:close/>
                </a:path>
              </a:pathLst>
            </a:custGeom>
            <a:blipFill>
              <a:blip r:embed="rId5">
                <a:alphaModFix amt="0"/>
              </a:blip>
              <a:stretch>
                <a:fillRect t="-190044" b="-190046"/>
              </a:stretch>
            </a:blipFill>
          </p:spPr>
          <p:txBody>
            <a:bodyPr/>
            <a:lstStyle/>
            <a:p>
              <a:endParaRPr lang="en-US"/>
            </a:p>
          </p:txBody>
        </p:sp>
      </p:grpSp>
      <p:grpSp>
        <p:nvGrpSpPr>
          <p:cNvPr id="19" name="Group 19"/>
          <p:cNvGrpSpPr/>
          <p:nvPr/>
        </p:nvGrpSpPr>
        <p:grpSpPr>
          <a:xfrm>
            <a:off x="908999" y="1576578"/>
            <a:ext cx="16470001" cy="1314563"/>
            <a:chOff x="0" y="0"/>
            <a:chExt cx="21960002" cy="1752750"/>
          </a:xfrm>
        </p:grpSpPr>
        <p:sp>
          <p:nvSpPr>
            <p:cNvPr id="20" name="Freeform 20"/>
            <p:cNvSpPr/>
            <p:nvPr/>
          </p:nvSpPr>
          <p:spPr>
            <a:xfrm>
              <a:off x="0" y="0"/>
              <a:ext cx="21960001" cy="1752748"/>
            </a:xfrm>
            <a:custGeom>
              <a:avLst/>
              <a:gdLst/>
              <a:ahLst/>
              <a:cxnLst/>
              <a:rect l="l" t="t" r="r" b="b"/>
              <a:pathLst>
                <a:path w="21960001" h="1752748">
                  <a:moveTo>
                    <a:pt x="0" y="0"/>
                  </a:moveTo>
                  <a:lnTo>
                    <a:pt x="21960001" y="0"/>
                  </a:lnTo>
                  <a:lnTo>
                    <a:pt x="21960001" y="1752748"/>
                  </a:lnTo>
                  <a:lnTo>
                    <a:pt x="0" y="1752748"/>
                  </a:lnTo>
                  <a:close/>
                </a:path>
              </a:pathLst>
            </a:custGeom>
            <a:blipFill>
              <a:blip r:embed="rId6">
                <a:alphaModFix amt="0"/>
              </a:blip>
              <a:stretch>
                <a:fillRect t="-194125" b="-194126"/>
              </a:stretch>
            </a:blipFill>
          </p:spPr>
          <p:txBody>
            <a:bodyPr/>
            <a:lstStyle/>
            <a:p>
              <a:endParaRPr lang="en-US"/>
            </a:p>
          </p:txBody>
        </p:sp>
        <p:sp>
          <p:nvSpPr>
            <p:cNvPr id="21" name="TextBox 21"/>
            <p:cNvSpPr txBox="1"/>
            <p:nvPr/>
          </p:nvSpPr>
          <p:spPr>
            <a:xfrm>
              <a:off x="0" y="28575"/>
              <a:ext cx="21960002" cy="1724175"/>
            </a:xfrm>
            <a:prstGeom prst="rect">
              <a:avLst/>
            </a:prstGeom>
          </p:spPr>
          <p:txBody>
            <a:bodyPr lIns="0" tIns="0" rIns="0" bIns="0" rtlCol="0" anchor="ctr"/>
            <a:lstStyle/>
            <a:p>
              <a:pPr algn="l">
                <a:lnSpc>
                  <a:spcPts val="6048"/>
                </a:lnSpc>
              </a:pPr>
              <a:r>
                <a:rPr lang="en-US" sz="5599" b="1">
                  <a:solidFill>
                    <a:srgbClr val="017058"/>
                  </a:solidFill>
                  <a:latin typeface="Times New Roman Bold"/>
                  <a:ea typeface="Times New Roman Bold"/>
                  <a:cs typeface="Times New Roman Bold"/>
                  <a:sym typeface="Times New Roman Bold"/>
                </a:rPr>
                <a:t>8. Tài liệu thiết kế </a:t>
              </a:r>
            </a:p>
          </p:txBody>
        </p:sp>
      </p:grpSp>
      <p:sp>
        <p:nvSpPr>
          <p:cNvPr id="22" name="TextBox 22"/>
          <p:cNvSpPr txBox="1"/>
          <p:nvPr/>
        </p:nvSpPr>
        <p:spPr>
          <a:xfrm>
            <a:off x="68570" y="-2318490"/>
            <a:ext cx="18150850" cy="569719"/>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sp>
        <p:nvSpPr>
          <p:cNvPr id="23" name="TextBox 23"/>
          <p:cNvSpPr txBox="1"/>
          <p:nvPr/>
        </p:nvSpPr>
        <p:spPr>
          <a:xfrm>
            <a:off x="17447714" y="9144000"/>
            <a:ext cx="508635" cy="1114425"/>
          </a:xfrm>
          <a:prstGeom prst="rect">
            <a:avLst/>
          </a:prstGeom>
        </p:spPr>
        <p:txBody>
          <a:bodyPr lIns="0" tIns="0" rIns="0" bIns="0" rtlCol="0" anchor="t">
            <a:spAutoFit/>
          </a:bodyPr>
          <a:lstStyle/>
          <a:p>
            <a:pPr algn="ctr">
              <a:lnSpc>
                <a:spcPts val="4320"/>
              </a:lnSpc>
            </a:pPr>
            <a:r>
              <a:rPr lang="en-US" sz="3600">
                <a:solidFill>
                  <a:srgbClr val="000000"/>
                </a:solidFill>
                <a:latin typeface="Arial"/>
                <a:ea typeface="Arial"/>
                <a:cs typeface="Arial"/>
                <a:sym typeface="Arial"/>
              </a:rPr>
              <a:t>34</a:t>
            </a:r>
          </a:p>
          <a:p>
            <a:pPr algn="ctr">
              <a:lnSpc>
                <a:spcPts val="4320"/>
              </a:lnSpc>
            </a:pPr>
            <a:endParaRPr lang="en-US" sz="3600">
              <a:solidFill>
                <a:srgbClr val="000000"/>
              </a:solidFill>
              <a:latin typeface="Arial"/>
              <a:ea typeface="Arial"/>
              <a:cs typeface="Arial"/>
              <a:sym typeface="Arial"/>
            </a:endParaRPr>
          </a:p>
        </p:txBody>
      </p:sp>
      <p:sp>
        <p:nvSpPr>
          <p:cNvPr id="24" name="TextBox 24"/>
          <p:cNvSpPr txBox="1"/>
          <p:nvPr/>
        </p:nvSpPr>
        <p:spPr>
          <a:xfrm>
            <a:off x="1360684" y="3110217"/>
            <a:ext cx="15732797" cy="5962650"/>
          </a:xfrm>
          <a:prstGeom prst="rect">
            <a:avLst/>
          </a:prstGeom>
        </p:spPr>
        <p:txBody>
          <a:bodyPr lIns="0" tIns="0" rIns="0" bIns="0" rtlCol="0" anchor="t">
            <a:spAutoFit/>
          </a:bodyPr>
          <a:lstStyle/>
          <a:p>
            <a:pPr algn="l">
              <a:lnSpc>
                <a:spcPts val="3600"/>
              </a:lnSpc>
            </a:pPr>
            <a:r>
              <a:rPr lang="en-US" sz="3000">
                <a:solidFill>
                  <a:srgbClr val="000000"/>
                </a:solidFill>
                <a:latin typeface="Arial"/>
                <a:ea typeface="Arial"/>
                <a:cs typeface="Arial"/>
                <a:sym typeface="Arial"/>
              </a:rPr>
              <a:t>[1] Các file source và hệ thống: https://github.com/HuyND2005/RSA</a:t>
            </a:r>
          </a:p>
          <a:p>
            <a:pPr algn="l">
              <a:lnSpc>
                <a:spcPts val="3600"/>
              </a:lnSpc>
            </a:pPr>
            <a:endParaRPr lang="en-US" sz="3000">
              <a:solidFill>
                <a:srgbClr val="000000"/>
              </a:solidFill>
              <a:latin typeface="Arial"/>
              <a:ea typeface="Arial"/>
              <a:cs typeface="Arial"/>
              <a:sym typeface="Arial"/>
            </a:endParaRPr>
          </a:p>
          <a:p>
            <a:pPr algn="l">
              <a:lnSpc>
                <a:spcPts val="3600"/>
              </a:lnSpc>
            </a:pPr>
            <a:r>
              <a:rPr lang="en-US" sz="3000">
                <a:solidFill>
                  <a:srgbClr val="000000"/>
                </a:solidFill>
                <a:latin typeface="Arial"/>
                <a:ea typeface="Arial"/>
                <a:cs typeface="Arial"/>
                <a:sym typeface="Arial"/>
              </a:rPr>
              <a:t>[2] Bài báo Tham khảo (Ari Shawkat Tahir): https://www.researchgate.net/profile/Ari-Tahir/publication/282249995_Design_and_Implementation_of_RSA_Algorithm_using_FPGA/links/5609570708ae4d86bb11cadb/Design-and-Implementation-of-RSA-Algorithm-using-FPGA.pdf</a:t>
            </a:r>
          </a:p>
          <a:p>
            <a:pPr algn="l">
              <a:lnSpc>
                <a:spcPts val="3600"/>
              </a:lnSpc>
            </a:pPr>
            <a:endParaRPr lang="en-US" sz="3000">
              <a:solidFill>
                <a:srgbClr val="000000"/>
              </a:solidFill>
              <a:latin typeface="Arial"/>
              <a:ea typeface="Arial"/>
              <a:cs typeface="Arial"/>
              <a:sym typeface="Arial"/>
            </a:endParaRPr>
          </a:p>
          <a:p>
            <a:pPr algn="l">
              <a:lnSpc>
                <a:spcPts val="3600"/>
              </a:lnSpc>
            </a:pPr>
            <a:r>
              <a:rPr lang="en-US" sz="3000">
                <a:solidFill>
                  <a:srgbClr val="000000"/>
                </a:solidFill>
                <a:latin typeface="Arial"/>
                <a:ea typeface="Arial"/>
                <a:cs typeface="Arial"/>
                <a:sym typeface="Arial"/>
              </a:rPr>
              <a:t>[3] Bài báo Tham khảo (M. I. Ibrahimy et al.): https://www.naun.org/main/NAUN/communications/c-18.pdf</a:t>
            </a:r>
          </a:p>
          <a:p>
            <a:pPr algn="l">
              <a:lnSpc>
                <a:spcPts val="3600"/>
              </a:lnSpc>
            </a:pPr>
            <a:endParaRPr lang="en-US" sz="3000">
              <a:solidFill>
                <a:srgbClr val="000000"/>
              </a:solidFill>
              <a:latin typeface="Arial"/>
              <a:ea typeface="Arial"/>
              <a:cs typeface="Arial"/>
              <a:sym typeface="Arial"/>
            </a:endParaRPr>
          </a:p>
          <a:p>
            <a:pPr algn="l">
              <a:lnSpc>
                <a:spcPts val="3600"/>
              </a:lnSpc>
            </a:pPr>
            <a:r>
              <a:rPr lang="en-US" sz="3000">
                <a:solidFill>
                  <a:srgbClr val="000000"/>
                </a:solidFill>
                <a:latin typeface="Arial"/>
                <a:ea typeface="Arial"/>
                <a:cs typeface="Arial"/>
                <a:sym typeface="Arial"/>
              </a:rPr>
              <a:t>[4] Thuật toán nhân Montgomery: </a:t>
            </a:r>
          </a:p>
          <a:p>
            <a:pPr algn="l">
              <a:lnSpc>
                <a:spcPts val="3600"/>
              </a:lnSpc>
            </a:pPr>
            <a:r>
              <a:rPr lang="en-US" sz="3000">
                <a:solidFill>
                  <a:srgbClr val="000000"/>
                </a:solidFill>
                <a:latin typeface="Arial"/>
                <a:ea typeface="Arial"/>
                <a:cs typeface="Arial"/>
                <a:sym typeface="Arial"/>
              </a:rPr>
              <a:t>https://deanqkhanhcoder.github.io/cp-algorithms-vi/algebra/montgomery-multiplication.html</a:t>
            </a:r>
          </a:p>
          <a:p>
            <a:pPr algn="l">
              <a:lnSpc>
                <a:spcPts val="3600"/>
              </a:lnSpc>
              <a:spcBef>
                <a:spcPct val="0"/>
              </a:spcBef>
            </a:pPr>
            <a:endParaRPr lang="en-US" sz="3000">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70" y="-2318490"/>
            <a:ext cx="18150850" cy="569719"/>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grpSp>
        <p:nvGrpSpPr>
          <p:cNvPr id="3" name="Group 3"/>
          <p:cNvGrpSpPr/>
          <p:nvPr/>
        </p:nvGrpSpPr>
        <p:grpSpPr>
          <a:xfrm>
            <a:off x="0" y="2124"/>
            <a:ext cx="18291715" cy="10295477"/>
            <a:chOff x="0" y="0"/>
            <a:chExt cx="24388953" cy="13727303"/>
          </a:xfrm>
        </p:grpSpPr>
        <p:sp>
          <p:nvSpPr>
            <p:cNvPr id="4" name="Freeform 4"/>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5" name="Group 5"/>
          <p:cNvGrpSpPr/>
          <p:nvPr/>
        </p:nvGrpSpPr>
        <p:grpSpPr>
          <a:xfrm>
            <a:off x="-36214" y="0"/>
            <a:ext cx="6084570" cy="10287000"/>
            <a:chOff x="0" y="0"/>
            <a:chExt cx="8112760" cy="13716000"/>
          </a:xfrm>
        </p:grpSpPr>
        <p:sp>
          <p:nvSpPr>
            <p:cNvPr id="6" name="Freeform 6"/>
            <p:cNvSpPr/>
            <p:nvPr/>
          </p:nvSpPr>
          <p:spPr>
            <a:xfrm>
              <a:off x="0" y="0"/>
              <a:ext cx="8112760" cy="13716000"/>
            </a:xfrm>
            <a:custGeom>
              <a:avLst/>
              <a:gdLst/>
              <a:ahLst/>
              <a:cxnLst/>
              <a:rect l="l" t="t" r="r" b="b"/>
              <a:pathLst>
                <a:path w="8112760" h="13716000">
                  <a:moveTo>
                    <a:pt x="0" y="0"/>
                  </a:moveTo>
                  <a:lnTo>
                    <a:pt x="8112760" y="0"/>
                  </a:lnTo>
                  <a:lnTo>
                    <a:pt x="8112760" y="13716000"/>
                  </a:lnTo>
                  <a:lnTo>
                    <a:pt x="0" y="13716000"/>
                  </a:lnTo>
                  <a:close/>
                </a:path>
              </a:pathLst>
            </a:custGeom>
            <a:gradFill rotWithShape="1">
              <a:gsLst>
                <a:gs pos="0">
                  <a:srgbClr val="38EF7D">
                    <a:alpha val="100000"/>
                  </a:srgbClr>
                </a:gs>
                <a:gs pos="100000">
                  <a:srgbClr val="11998E">
                    <a:alpha val="100000"/>
                  </a:srgbClr>
                </a:gs>
              </a:gsLst>
              <a:lin ang="5400000"/>
            </a:gradFill>
          </p:spPr>
          <p:txBody>
            <a:bodyPr/>
            <a:lstStyle/>
            <a:p>
              <a:endParaRPr lang="en-US"/>
            </a:p>
          </p:txBody>
        </p:sp>
      </p:grpSp>
      <p:grpSp>
        <p:nvGrpSpPr>
          <p:cNvPr id="7" name="Group 7"/>
          <p:cNvGrpSpPr/>
          <p:nvPr/>
        </p:nvGrpSpPr>
        <p:grpSpPr>
          <a:xfrm rot="-10800000">
            <a:off x="-46892" y="0"/>
            <a:ext cx="2707196" cy="10287000"/>
            <a:chOff x="0" y="0"/>
            <a:chExt cx="3609594" cy="13716000"/>
          </a:xfrm>
        </p:grpSpPr>
        <p:sp>
          <p:nvSpPr>
            <p:cNvPr id="8" name="Freeform 8"/>
            <p:cNvSpPr/>
            <p:nvPr/>
          </p:nvSpPr>
          <p:spPr>
            <a:xfrm flipH="1">
              <a:off x="0" y="0"/>
              <a:ext cx="3609594" cy="13716000"/>
            </a:xfrm>
            <a:custGeom>
              <a:avLst/>
              <a:gdLst/>
              <a:ahLst/>
              <a:cxnLst/>
              <a:rect l="l" t="t" r="r" b="b"/>
              <a:pathLst>
                <a:path w="3609594" h="13716000">
                  <a:moveTo>
                    <a:pt x="0" y="0"/>
                  </a:moveTo>
                  <a:lnTo>
                    <a:pt x="3609594" y="0"/>
                  </a:lnTo>
                  <a:lnTo>
                    <a:pt x="3609594" y="13716000"/>
                  </a:lnTo>
                  <a:lnTo>
                    <a:pt x="0" y="13716000"/>
                  </a:lnTo>
                  <a:close/>
                </a:path>
              </a:pathLst>
            </a:custGeom>
            <a:blipFill>
              <a:blip r:embed="rId2"/>
              <a:stretch>
                <a:fillRect l="-2907" r="-2907"/>
              </a:stretch>
            </a:blipFill>
          </p:spPr>
          <p:txBody>
            <a:bodyPr/>
            <a:lstStyle/>
            <a:p>
              <a:endParaRPr lang="en-US"/>
            </a:p>
          </p:txBody>
        </p:sp>
      </p:grpSp>
      <p:sp>
        <p:nvSpPr>
          <p:cNvPr id="9" name="TextBox 9"/>
          <p:cNvSpPr txBox="1"/>
          <p:nvPr/>
        </p:nvSpPr>
        <p:spPr>
          <a:xfrm rot="-5400000">
            <a:off x="-2642312" y="6723250"/>
            <a:ext cx="6122451" cy="458333"/>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10" name="Group 10"/>
          <p:cNvGrpSpPr/>
          <p:nvPr/>
        </p:nvGrpSpPr>
        <p:grpSpPr>
          <a:xfrm>
            <a:off x="6719983" y="293303"/>
            <a:ext cx="4848130" cy="958024"/>
            <a:chOff x="0" y="0"/>
            <a:chExt cx="6464173" cy="1277366"/>
          </a:xfrm>
        </p:grpSpPr>
        <p:sp>
          <p:nvSpPr>
            <p:cNvPr id="11" name="Freeform 11"/>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2700000"/>
            </a:gradFill>
          </p:spPr>
          <p:txBody>
            <a:bodyPr/>
            <a:lstStyle/>
            <a:p>
              <a:endParaRPr lang="en-US"/>
            </a:p>
          </p:txBody>
        </p:sp>
      </p:grpSp>
      <p:grpSp>
        <p:nvGrpSpPr>
          <p:cNvPr id="12" name="Group 12"/>
          <p:cNvGrpSpPr/>
          <p:nvPr/>
        </p:nvGrpSpPr>
        <p:grpSpPr>
          <a:xfrm>
            <a:off x="6807460" y="371332"/>
            <a:ext cx="4673060" cy="801815"/>
            <a:chOff x="0" y="0"/>
            <a:chExt cx="6230747" cy="1069086"/>
          </a:xfrm>
        </p:grpSpPr>
        <p:sp>
          <p:nvSpPr>
            <p:cNvPr id="13" name="Freeform 13"/>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en-US"/>
            </a:p>
          </p:txBody>
        </p:sp>
      </p:grpSp>
      <p:grpSp>
        <p:nvGrpSpPr>
          <p:cNvPr id="14" name="Group 14"/>
          <p:cNvGrpSpPr/>
          <p:nvPr/>
        </p:nvGrpSpPr>
        <p:grpSpPr>
          <a:xfrm>
            <a:off x="9436446" y="197910"/>
            <a:ext cx="1163288" cy="1152620"/>
            <a:chOff x="0" y="0"/>
            <a:chExt cx="1551051" cy="1536827"/>
          </a:xfrm>
        </p:grpSpPr>
        <p:sp>
          <p:nvSpPr>
            <p:cNvPr id="15" name="Freeform 15"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211" r="-210"/>
              </a:stretch>
            </a:blipFill>
          </p:spPr>
          <p:txBody>
            <a:bodyPr/>
            <a:lstStyle/>
            <a:p>
              <a:endParaRPr lang="en-US"/>
            </a:p>
          </p:txBody>
        </p:sp>
      </p:grpSp>
      <p:grpSp>
        <p:nvGrpSpPr>
          <p:cNvPr id="16" name="Group 16"/>
          <p:cNvGrpSpPr/>
          <p:nvPr/>
        </p:nvGrpSpPr>
        <p:grpSpPr>
          <a:xfrm>
            <a:off x="7688247" y="233439"/>
            <a:ext cx="1307497" cy="1081564"/>
            <a:chOff x="0" y="0"/>
            <a:chExt cx="1743329" cy="1442085"/>
          </a:xfrm>
        </p:grpSpPr>
        <p:sp>
          <p:nvSpPr>
            <p:cNvPr id="17" name="Freeform 17"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l="-38" r="-37"/>
              </a:stretch>
            </a:blipFill>
          </p:spPr>
          <p:txBody>
            <a:bodyPr/>
            <a:lstStyle/>
            <a:p>
              <a:endParaRPr lang="en-US"/>
            </a:p>
          </p:txBody>
        </p:sp>
      </p:grpSp>
      <p:grpSp>
        <p:nvGrpSpPr>
          <p:cNvPr id="18" name="Group 18"/>
          <p:cNvGrpSpPr/>
          <p:nvPr/>
        </p:nvGrpSpPr>
        <p:grpSpPr>
          <a:xfrm>
            <a:off x="17262338" y="364607"/>
            <a:ext cx="819150" cy="819150"/>
            <a:chOff x="0" y="0"/>
            <a:chExt cx="1092200" cy="1092200"/>
          </a:xfrm>
        </p:grpSpPr>
        <p:sp>
          <p:nvSpPr>
            <p:cNvPr id="19" name="Freeform 19"/>
            <p:cNvSpPr/>
            <p:nvPr/>
          </p:nvSpPr>
          <p:spPr>
            <a:xfrm>
              <a:off x="0" y="0"/>
              <a:ext cx="1092200" cy="1092200"/>
            </a:xfrm>
            <a:custGeom>
              <a:avLst/>
              <a:gdLst/>
              <a:ahLst/>
              <a:cxnLst/>
              <a:rect l="l" t="t" r="r" b="b"/>
              <a:pathLst>
                <a:path w="1092200" h="1092200">
                  <a:moveTo>
                    <a:pt x="0" y="546100"/>
                  </a:moveTo>
                  <a:cubicBezTo>
                    <a:pt x="0" y="244475"/>
                    <a:pt x="244475" y="0"/>
                    <a:pt x="546100" y="0"/>
                  </a:cubicBezTo>
                  <a:cubicBezTo>
                    <a:pt x="847725" y="0"/>
                    <a:pt x="1092200" y="244475"/>
                    <a:pt x="1092200" y="546100"/>
                  </a:cubicBezTo>
                  <a:cubicBezTo>
                    <a:pt x="1092200" y="847725"/>
                    <a:pt x="847725" y="1092200"/>
                    <a:pt x="546100" y="1092200"/>
                  </a:cubicBezTo>
                  <a:cubicBezTo>
                    <a:pt x="244475" y="1092200"/>
                    <a:pt x="0" y="847725"/>
                    <a:pt x="0" y="546100"/>
                  </a:cubicBezTo>
                  <a:close/>
                </a:path>
              </a:pathLst>
            </a:custGeom>
            <a:gradFill rotWithShape="1">
              <a:gsLst>
                <a:gs pos="0">
                  <a:srgbClr val="38EF7D">
                    <a:alpha val="65098"/>
                  </a:srgbClr>
                </a:gs>
                <a:gs pos="100000">
                  <a:srgbClr val="11998E">
                    <a:alpha val="64705"/>
                  </a:srgbClr>
                </a:gs>
              </a:gsLst>
              <a:lin ang="2700000"/>
            </a:gradFill>
          </p:spPr>
          <p:txBody>
            <a:bodyPr/>
            <a:lstStyle/>
            <a:p>
              <a:endParaRPr lang="en-US"/>
            </a:p>
          </p:txBody>
        </p:sp>
      </p:grpSp>
      <p:grpSp>
        <p:nvGrpSpPr>
          <p:cNvPr id="20" name="Group 20"/>
          <p:cNvGrpSpPr/>
          <p:nvPr/>
        </p:nvGrpSpPr>
        <p:grpSpPr>
          <a:xfrm>
            <a:off x="17486462" y="588731"/>
            <a:ext cx="370999" cy="370999"/>
            <a:chOff x="0" y="0"/>
            <a:chExt cx="494665" cy="494665"/>
          </a:xfrm>
        </p:grpSpPr>
        <p:sp>
          <p:nvSpPr>
            <p:cNvPr id="21" name="Freeform 21"/>
            <p:cNvSpPr/>
            <p:nvPr/>
          </p:nvSpPr>
          <p:spPr>
            <a:xfrm>
              <a:off x="0" y="0"/>
              <a:ext cx="494665" cy="494665"/>
            </a:xfrm>
            <a:custGeom>
              <a:avLst/>
              <a:gdLst/>
              <a:ahLst/>
              <a:cxnLst/>
              <a:rect l="l" t="t" r="r" b="b"/>
              <a:pathLst>
                <a:path w="494665" h="494665">
                  <a:moveTo>
                    <a:pt x="0" y="247269"/>
                  </a:moveTo>
                  <a:cubicBezTo>
                    <a:pt x="0" y="110744"/>
                    <a:pt x="110744" y="0"/>
                    <a:pt x="247269" y="0"/>
                  </a:cubicBezTo>
                  <a:cubicBezTo>
                    <a:pt x="383794" y="0"/>
                    <a:pt x="494665" y="110744"/>
                    <a:pt x="494665" y="247269"/>
                  </a:cubicBezTo>
                  <a:cubicBezTo>
                    <a:pt x="494665" y="383794"/>
                    <a:pt x="383921" y="494665"/>
                    <a:pt x="247269" y="494665"/>
                  </a:cubicBezTo>
                  <a:cubicBezTo>
                    <a:pt x="110617" y="494665"/>
                    <a:pt x="0" y="383921"/>
                    <a:pt x="0" y="247269"/>
                  </a:cubicBezTo>
                  <a:close/>
                </a:path>
              </a:pathLst>
            </a:custGeom>
            <a:gradFill rotWithShape="1">
              <a:gsLst>
                <a:gs pos="0">
                  <a:srgbClr val="38EF7D">
                    <a:alpha val="65098"/>
                  </a:srgbClr>
                </a:gs>
                <a:gs pos="100000">
                  <a:srgbClr val="11998E">
                    <a:alpha val="64705"/>
                  </a:srgbClr>
                </a:gs>
              </a:gsLst>
              <a:lin ang="2700000"/>
            </a:gradFill>
          </p:spPr>
          <p:txBody>
            <a:bodyPr/>
            <a:lstStyle/>
            <a:p>
              <a:endParaRPr lang="en-US"/>
            </a:p>
          </p:txBody>
        </p:sp>
      </p:grpSp>
      <p:grpSp>
        <p:nvGrpSpPr>
          <p:cNvPr id="22" name="Group 22"/>
          <p:cNvGrpSpPr/>
          <p:nvPr/>
        </p:nvGrpSpPr>
        <p:grpSpPr>
          <a:xfrm>
            <a:off x="1705232" y="2175643"/>
            <a:ext cx="15316010" cy="6434518"/>
            <a:chOff x="0" y="0"/>
            <a:chExt cx="20421346" cy="8579358"/>
          </a:xfrm>
        </p:grpSpPr>
        <p:sp>
          <p:nvSpPr>
            <p:cNvPr id="23" name="Freeform 23"/>
            <p:cNvSpPr/>
            <p:nvPr/>
          </p:nvSpPr>
          <p:spPr>
            <a:xfrm>
              <a:off x="0" y="0"/>
              <a:ext cx="20421346" cy="8579358"/>
            </a:xfrm>
            <a:custGeom>
              <a:avLst/>
              <a:gdLst/>
              <a:ahLst/>
              <a:cxnLst/>
              <a:rect l="l" t="t" r="r" b="b"/>
              <a:pathLst>
                <a:path w="20421346" h="8579358">
                  <a:moveTo>
                    <a:pt x="0" y="231775"/>
                  </a:moveTo>
                  <a:cubicBezTo>
                    <a:pt x="0" y="103759"/>
                    <a:pt x="103759" y="0"/>
                    <a:pt x="231775" y="0"/>
                  </a:cubicBezTo>
                  <a:lnTo>
                    <a:pt x="20189571" y="0"/>
                  </a:lnTo>
                  <a:cubicBezTo>
                    <a:pt x="20317586" y="0"/>
                    <a:pt x="20421346" y="103759"/>
                    <a:pt x="20421346" y="231775"/>
                  </a:cubicBezTo>
                  <a:lnTo>
                    <a:pt x="20421346" y="8347583"/>
                  </a:lnTo>
                  <a:cubicBezTo>
                    <a:pt x="20421346" y="8475599"/>
                    <a:pt x="20317586" y="8579358"/>
                    <a:pt x="20189571" y="8579358"/>
                  </a:cubicBezTo>
                  <a:lnTo>
                    <a:pt x="231775" y="8579358"/>
                  </a:lnTo>
                  <a:cubicBezTo>
                    <a:pt x="103759" y="8579358"/>
                    <a:pt x="0" y="8475599"/>
                    <a:pt x="0" y="8347583"/>
                  </a:cubicBezTo>
                  <a:close/>
                </a:path>
              </a:pathLst>
            </a:custGeom>
            <a:blipFill>
              <a:blip r:embed="rId5"/>
              <a:stretch>
                <a:fillRect l="-194" r="-194"/>
              </a:stretch>
            </a:blipFill>
          </p:spPr>
          <p:txBody>
            <a:bodyPr/>
            <a:lstStyle/>
            <a:p>
              <a:endParaRPr lang="en-US"/>
            </a:p>
          </p:txBody>
        </p:sp>
      </p:grpSp>
      <p:grpSp>
        <p:nvGrpSpPr>
          <p:cNvPr id="24" name="Group 24"/>
          <p:cNvGrpSpPr/>
          <p:nvPr/>
        </p:nvGrpSpPr>
        <p:grpSpPr>
          <a:xfrm>
            <a:off x="1705232" y="2175643"/>
            <a:ext cx="15316010" cy="6434518"/>
            <a:chOff x="0" y="0"/>
            <a:chExt cx="20421346" cy="8579358"/>
          </a:xfrm>
        </p:grpSpPr>
        <p:sp>
          <p:nvSpPr>
            <p:cNvPr id="25" name="Freeform 25"/>
            <p:cNvSpPr/>
            <p:nvPr/>
          </p:nvSpPr>
          <p:spPr>
            <a:xfrm>
              <a:off x="0" y="0"/>
              <a:ext cx="20421346" cy="8579358"/>
            </a:xfrm>
            <a:custGeom>
              <a:avLst/>
              <a:gdLst/>
              <a:ahLst/>
              <a:cxnLst/>
              <a:rect l="l" t="t" r="r" b="b"/>
              <a:pathLst>
                <a:path w="20421346" h="8579358">
                  <a:moveTo>
                    <a:pt x="0" y="231775"/>
                  </a:moveTo>
                  <a:cubicBezTo>
                    <a:pt x="0" y="103759"/>
                    <a:pt x="103759" y="0"/>
                    <a:pt x="231775" y="0"/>
                  </a:cubicBezTo>
                  <a:lnTo>
                    <a:pt x="20189571" y="0"/>
                  </a:lnTo>
                  <a:cubicBezTo>
                    <a:pt x="20317586" y="0"/>
                    <a:pt x="20421346" y="103759"/>
                    <a:pt x="20421346" y="231775"/>
                  </a:cubicBezTo>
                  <a:lnTo>
                    <a:pt x="20421346" y="8347583"/>
                  </a:lnTo>
                  <a:cubicBezTo>
                    <a:pt x="20421346" y="8475599"/>
                    <a:pt x="20317586" y="8579358"/>
                    <a:pt x="20189571" y="8579358"/>
                  </a:cubicBezTo>
                  <a:lnTo>
                    <a:pt x="231775" y="8579358"/>
                  </a:lnTo>
                  <a:cubicBezTo>
                    <a:pt x="103759" y="8579358"/>
                    <a:pt x="0" y="8475599"/>
                    <a:pt x="0" y="8347583"/>
                  </a:cubicBezTo>
                  <a:close/>
                </a:path>
              </a:pathLst>
            </a:custGeom>
            <a:gradFill rotWithShape="1">
              <a:gsLst>
                <a:gs pos="0">
                  <a:srgbClr val="38EF7D">
                    <a:alpha val="40000"/>
                  </a:srgbClr>
                </a:gs>
                <a:gs pos="100000">
                  <a:srgbClr val="11998E">
                    <a:alpha val="40000"/>
                  </a:srgbClr>
                </a:gs>
              </a:gsLst>
              <a:lin ang="2700000"/>
            </a:gradFill>
          </p:spPr>
          <p:txBody>
            <a:bodyPr/>
            <a:lstStyle/>
            <a:p>
              <a:endParaRPr lang="en-US"/>
            </a:p>
          </p:txBody>
        </p:sp>
      </p:grpSp>
      <p:grpSp>
        <p:nvGrpSpPr>
          <p:cNvPr id="26" name="Group 26"/>
          <p:cNvGrpSpPr/>
          <p:nvPr/>
        </p:nvGrpSpPr>
        <p:grpSpPr>
          <a:xfrm>
            <a:off x="0" y="2124"/>
            <a:ext cx="18291715" cy="10295477"/>
            <a:chOff x="0" y="0"/>
            <a:chExt cx="24388953" cy="13727303"/>
          </a:xfrm>
        </p:grpSpPr>
        <p:sp>
          <p:nvSpPr>
            <p:cNvPr id="27" name="Freeform 27"/>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en-US"/>
            </a:p>
          </p:txBody>
        </p:sp>
      </p:grpSp>
      <p:grpSp>
        <p:nvGrpSpPr>
          <p:cNvPr id="28" name="Group 28"/>
          <p:cNvGrpSpPr/>
          <p:nvPr/>
        </p:nvGrpSpPr>
        <p:grpSpPr>
          <a:xfrm>
            <a:off x="15614542" y="498424"/>
            <a:ext cx="4114800" cy="547688"/>
            <a:chOff x="0" y="0"/>
            <a:chExt cx="5486400" cy="730250"/>
          </a:xfrm>
        </p:grpSpPr>
        <p:sp>
          <p:nvSpPr>
            <p:cNvPr id="29" name="Freeform 29"/>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6">
                <a:alphaModFix amt="0"/>
              </a:blip>
              <a:stretch>
                <a:fillRect t="-96290" b="-96290"/>
              </a:stretch>
            </a:blipFill>
          </p:spPr>
          <p:txBody>
            <a:bodyPr/>
            <a:lstStyle/>
            <a:p>
              <a:endParaRPr lang="en-US"/>
            </a:p>
          </p:txBody>
        </p:sp>
      </p:grpSp>
      <p:grpSp>
        <p:nvGrpSpPr>
          <p:cNvPr id="30" name="Group 30"/>
          <p:cNvGrpSpPr/>
          <p:nvPr/>
        </p:nvGrpSpPr>
        <p:grpSpPr>
          <a:xfrm>
            <a:off x="15614542" y="484137"/>
            <a:ext cx="4114800" cy="561975"/>
            <a:chOff x="0" y="0"/>
            <a:chExt cx="5486400" cy="749300"/>
          </a:xfrm>
        </p:grpSpPr>
        <p:sp>
          <p:nvSpPr>
            <p:cNvPr id="31" name="Freeform 31"/>
            <p:cNvSpPr/>
            <p:nvPr/>
          </p:nvSpPr>
          <p:spPr>
            <a:xfrm>
              <a:off x="0" y="0"/>
              <a:ext cx="5486400" cy="749301"/>
            </a:xfrm>
            <a:custGeom>
              <a:avLst/>
              <a:gdLst/>
              <a:ahLst/>
              <a:cxnLst/>
              <a:rect l="l" t="t" r="r" b="b"/>
              <a:pathLst>
                <a:path w="5486400" h="749301">
                  <a:moveTo>
                    <a:pt x="0" y="0"/>
                  </a:moveTo>
                  <a:lnTo>
                    <a:pt x="5486400" y="0"/>
                  </a:lnTo>
                  <a:lnTo>
                    <a:pt x="5486400" y="749301"/>
                  </a:lnTo>
                  <a:lnTo>
                    <a:pt x="0" y="749301"/>
                  </a:lnTo>
                  <a:close/>
                </a:path>
              </a:pathLst>
            </a:custGeom>
            <a:blipFill>
              <a:blip r:embed="rId7">
                <a:alphaModFix amt="0"/>
              </a:blip>
              <a:stretch>
                <a:fillRect t="-92670" b="-92669"/>
              </a:stretch>
            </a:blipFill>
          </p:spPr>
          <p:txBody>
            <a:bodyPr/>
            <a:lstStyle/>
            <a:p>
              <a:endParaRPr lang="en-US"/>
            </a:p>
          </p:txBody>
        </p:sp>
        <p:sp>
          <p:nvSpPr>
            <p:cNvPr id="32" name="TextBox 32"/>
            <p:cNvSpPr txBox="1"/>
            <p:nvPr/>
          </p:nvSpPr>
          <p:spPr>
            <a:xfrm>
              <a:off x="0" y="-19050"/>
              <a:ext cx="5486400" cy="768350"/>
            </a:xfrm>
            <a:prstGeom prst="rect">
              <a:avLst/>
            </a:prstGeom>
          </p:spPr>
          <p:txBody>
            <a:bodyPr lIns="0" tIns="0" rIns="0" bIns="0" rtlCol="0" anchor="ctr"/>
            <a:lstStyle/>
            <a:p>
              <a:pPr algn="ctr">
                <a:lnSpc>
                  <a:spcPts val="2160"/>
                </a:lnSpc>
              </a:pPr>
              <a:r>
                <a:rPr lang="en-US" sz="1800">
                  <a:solidFill>
                    <a:srgbClr val="FFFFFF"/>
                  </a:solidFill>
                  <a:latin typeface="Arial"/>
                  <a:ea typeface="Arial"/>
                  <a:cs typeface="Arial"/>
                  <a:sym typeface="Arial"/>
                </a:rPr>
                <a:t>‹#›</a:t>
              </a:r>
            </a:p>
          </p:txBody>
        </p:sp>
      </p:grpSp>
      <p:grpSp>
        <p:nvGrpSpPr>
          <p:cNvPr id="33" name="Group 33"/>
          <p:cNvGrpSpPr/>
          <p:nvPr/>
        </p:nvGrpSpPr>
        <p:grpSpPr>
          <a:xfrm>
            <a:off x="2480043" y="3431010"/>
            <a:ext cx="13766397" cy="2259006"/>
            <a:chOff x="0" y="0"/>
            <a:chExt cx="18355196" cy="3012008"/>
          </a:xfrm>
        </p:grpSpPr>
        <p:sp>
          <p:nvSpPr>
            <p:cNvPr id="34" name="Freeform 34"/>
            <p:cNvSpPr/>
            <p:nvPr/>
          </p:nvSpPr>
          <p:spPr>
            <a:xfrm>
              <a:off x="0" y="0"/>
              <a:ext cx="18355183" cy="3012059"/>
            </a:xfrm>
            <a:custGeom>
              <a:avLst/>
              <a:gdLst/>
              <a:ahLst/>
              <a:cxnLst/>
              <a:rect l="l" t="t" r="r" b="b"/>
              <a:pathLst>
                <a:path w="18355183" h="3012059">
                  <a:moveTo>
                    <a:pt x="0" y="0"/>
                  </a:moveTo>
                  <a:lnTo>
                    <a:pt x="18355183" y="0"/>
                  </a:lnTo>
                  <a:lnTo>
                    <a:pt x="18355183" y="3012059"/>
                  </a:lnTo>
                  <a:lnTo>
                    <a:pt x="0" y="3012059"/>
                  </a:lnTo>
                  <a:close/>
                </a:path>
              </a:pathLst>
            </a:custGeom>
            <a:blipFill>
              <a:blip r:embed="rId7">
                <a:alphaModFix amt="0"/>
              </a:blip>
              <a:stretch>
                <a:fillRect t="-68740" b="-68739"/>
              </a:stretch>
            </a:blipFill>
          </p:spPr>
          <p:txBody>
            <a:bodyPr/>
            <a:lstStyle/>
            <a:p>
              <a:endParaRPr lang="en-US"/>
            </a:p>
          </p:txBody>
        </p:sp>
      </p:grpSp>
      <p:sp>
        <p:nvSpPr>
          <p:cNvPr id="35" name="TextBox 35"/>
          <p:cNvSpPr txBox="1"/>
          <p:nvPr/>
        </p:nvSpPr>
        <p:spPr>
          <a:xfrm>
            <a:off x="17486462" y="9172575"/>
            <a:ext cx="536705" cy="1114425"/>
          </a:xfrm>
          <a:prstGeom prst="rect">
            <a:avLst/>
          </a:prstGeom>
        </p:spPr>
        <p:txBody>
          <a:bodyPr lIns="0" tIns="0" rIns="0" bIns="0" rtlCol="0" anchor="t">
            <a:spAutoFit/>
          </a:bodyPr>
          <a:lstStyle/>
          <a:p>
            <a:pPr algn="ctr">
              <a:lnSpc>
                <a:spcPts val="4320"/>
              </a:lnSpc>
            </a:pPr>
            <a:r>
              <a:rPr lang="en-US" sz="3600">
                <a:solidFill>
                  <a:srgbClr val="000000"/>
                </a:solidFill>
                <a:latin typeface="Arial"/>
                <a:ea typeface="Arial"/>
                <a:cs typeface="Arial"/>
                <a:sym typeface="Arial"/>
              </a:rPr>
              <a:t>35</a:t>
            </a:r>
          </a:p>
          <a:p>
            <a:pPr algn="ctr">
              <a:lnSpc>
                <a:spcPts val="4320"/>
              </a:lnSpc>
            </a:pPr>
            <a:endParaRPr lang="en-US" sz="3600">
              <a:solidFill>
                <a:srgbClr val="000000"/>
              </a:solidFill>
              <a:latin typeface="Arial"/>
              <a:ea typeface="Arial"/>
              <a:cs typeface="Arial"/>
              <a:sym typeface="Arial"/>
            </a:endParaRPr>
          </a:p>
        </p:txBody>
      </p:sp>
      <p:grpSp>
        <p:nvGrpSpPr>
          <p:cNvPr id="36" name="Group 36"/>
          <p:cNvGrpSpPr/>
          <p:nvPr/>
        </p:nvGrpSpPr>
        <p:grpSpPr>
          <a:xfrm>
            <a:off x="4338061" y="1552150"/>
            <a:ext cx="9315365" cy="6303521"/>
            <a:chOff x="0" y="0"/>
            <a:chExt cx="12420486" cy="8404694"/>
          </a:xfrm>
        </p:grpSpPr>
        <p:sp>
          <p:nvSpPr>
            <p:cNvPr id="37" name="TextBox 37"/>
            <p:cNvSpPr txBox="1"/>
            <p:nvPr/>
          </p:nvSpPr>
          <p:spPr>
            <a:xfrm rot="-592460">
              <a:off x="280359" y="1335975"/>
              <a:ext cx="11729678" cy="3559073"/>
            </a:xfrm>
            <a:prstGeom prst="rect">
              <a:avLst/>
            </a:prstGeom>
          </p:spPr>
          <p:txBody>
            <a:bodyPr lIns="0" tIns="0" rIns="0" bIns="0" rtlCol="0" anchor="t">
              <a:spAutoFit/>
            </a:bodyPr>
            <a:lstStyle/>
            <a:p>
              <a:pPr algn="ctr">
                <a:lnSpc>
                  <a:spcPts val="19318"/>
                </a:lnSpc>
                <a:spcBef>
                  <a:spcPct val="0"/>
                </a:spcBef>
              </a:pPr>
              <a:r>
                <a:rPr lang="en-US" sz="19318">
                  <a:solidFill>
                    <a:srgbClr val="F6F3E4"/>
                  </a:solidFill>
                  <a:latin typeface="Bukhari Script"/>
                  <a:ea typeface="Bukhari Script"/>
                  <a:cs typeface="Bukhari Script"/>
                  <a:sym typeface="Bukhari Script"/>
                </a:rPr>
                <a:t>Thank</a:t>
              </a:r>
            </a:p>
          </p:txBody>
        </p:sp>
        <p:sp>
          <p:nvSpPr>
            <p:cNvPr id="38" name="TextBox 38"/>
            <p:cNvSpPr txBox="1"/>
            <p:nvPr/>
          </p:nvSpPr>
          <p:spPr>
            <a:xfrm rot="-515361">
              <a:off x="1543951" y="4419856"/>
              <a:ext cx="10697265" cy="3203978"/>
            </a:xfrm>
            <a:prstGeom prst="rect">
              <a:avLst/>
            </a:prstGeom>
          </p:spPr>
          <p:txBody>
            <a:bodyPr lIns="0" tIns="0" rIns="0" bIns="0" rtlCol="0" anchor="t">
              <a:spAutoFit/>
            </a:bodyPr>
            <a:lstStyle/>
            <a:p>
              <a:pPr algn="ctr">
                <a:lnSpc>
                  <a:spcPts val="17386"/>
                </a:lnSpc>
                <a:spcBef>
                  <a:spcPct val="0"/>
                </a:spcBef>
              </a:pPr>
              <a:r>
                <a:rPr lang="en-US" sz="17386">
                  <a:solidFill>
                    <a:srgbClr val="F6F3E4"/>
                  </a:solidFill>
                  <a:latin typeface="Bukhari Script"/>
                  <a:ea typeface="Bukhari Script"/>
                  <a:cs typeface="Bukhari Script"/>
                  <a:sym typeface="Bukhari Script"/>
                </a:rPr>
                <a:t>you!</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TotalTime>
  <Words>3255</Words>
  <Application>Microsoft Office PowerPoint</Application>
  <PresentationFormat>Custom</PresentationFormat>
  <Paragraphs>364</Paragraphs>
  <Slides>35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Arial</vt:lpstr>
      <vt:lpstr>Times New Roman</vt:lpstr>
      <vt:lpstr>Arial Bold</vt:lpstr>
      <vt:lpstr>Calibri</vt:lpstr>
      <vt:lpstr>Times New Roman Bold</vt:lpstr>
      <vt:lpstr>Bukhari Script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SOC_RSA_BaoCao_DoAn</dc:title>
  <cp:lastModifiedBy>Đình Huy Nguyễn</cp:lastModifiedBy>
  <cp:revision>2</cp:revision>
  <dcterms:created xsi:type="dcterms:W3CDTF">2006-08-16T00:00:00Z</dcterms:created>
  <dcterms:modified xsi:type="dcterms:W3CDTF">2026-05-10T08:58:08Z</dcterms:modified>
  <dc:identifier>DAHJMZQU8ug</dc:identifier>
</cp:coreProperties>
</file>